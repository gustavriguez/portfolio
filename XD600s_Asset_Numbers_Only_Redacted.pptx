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Lst>
  <p:notesMasterIdLst>
    <p:notesMasterId r:id="rId19"/>
  </p:notesMasterIdLst>
  <p:sldIdLst>
    <p:sldId id="256" r:id="rId2"/>
    <p:sldId id="257" r:id="rId3"/>
    <p:sldId id="258" r:id="rId4"/>
    <p:sldId id="259" r:id="rId5"/>
    <p:sldId id="274" r:id="rId6"/>
    <p:sldId id="260" r:id="rId7"/>
    <p:sldId id="261" r:id="rId8"/>
    <p:sldId id="262" r:id="rId9"/>
    <p:sldId id="263" r:id="rId10"/>
    <p:sldId id="264" r:id="rId11"/>
    <p:sldId id="265" r:id="rId12"/>
    <p:sldId id="266" r:id="rId13"/>
    <p:sldId id="267" r:id="rId14"/>
    <p:sldId id="268" r:id="rId15"/>
    <p:sldId id="272" r:id="rId16"/>
    <p:sldId id="269" r:id="rId17"/>
    <p:sldId id="271" r:id="rId18"/>
  </p:sldIdLst>
  <p:sldSz cx="12192000" cy="6858000"/>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82333"/>
    <a:srgbClr val="1769E0"/>
    <a:srgbClr val="FFFFFF"/>
    <a:srgbClr val="C9484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38" autoAdjust="0"/>
    <p:restoredTop sz="94610"/>
  </p:normalViewPr>
  <p:slideViewPr>
    <p:cSldViewPr snapToGrid="0" snapToObjects="1">
      <p:cViewPr varScale="1">
        <p:scale>
          <a:sx n="111" d="100"/>
          <a:sy n="111" d="100"/>
        </p:scale>
        <p:origin x="5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33102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75990567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231148408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226027028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9/16/2026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248292461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9/16/2026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155627439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9/16/2026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94984227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9/16/2026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798599158"/>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9/16/2026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74112710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9/16/2026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328918256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324296432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371542266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27000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MASTER">
    <p:bg>
      <p:bgPr>
        <a:solidFill>
          <a:srgbClr val="F6F4EF"/>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19088"/>
            <a:ext cx="457200" cy="201168"/>
          </a:xfrm>
          <a:prstGeom prst="rect">
            <a:avLst/>
          </a:prstGeom>
          <a:extLst>
            <a:ext uri="{C572A759-6A51-4108-AA02-DFA0A04FC94B}">
              <ma14:wrappingTextBoxFlag xmlns="" xmlns:ma14="http://schemas.microsoft.com/office/mac/drawingml/2011/main" val="0"/>
            </a:ext>
          </a:extLst>
        </p:spPr>
        <p:txBody>
          <a:bodyPr lIns="0" tIns="0" rIns="0" bIns="0"/>
          <a:lstStyle>
            <a:lvl1pPr>
              <a:defRPr sz="700">
                <a:solidFill>
                  <a:srgbClr val="89929D"/>
                </a:solidFill>
                <a:latin typeface="Inter"/>
                <a:ea typeface="Inter"/>
                <a:cs typeface="Inter"/>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37255103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9/16/2026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688542581"/>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5.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6.gi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7.gif"/></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64592" y="0"/>
            <a:ext cx="12191695" cy="6858000"/>
          </a:xfrm>
          <a:prstGeom prst="rect">
            <a:avLst/>
          </a:prstGeom>
          <a:solidFill>
            <a:srgbClr val="FFFFFF"/>
          </a:solidFill>
          <a:ln w="12700">
            <a:solidFill>
              <a:srgbClr val="FFFFFF"/>
            </a:solidFill>
            <a:prstDash val="solid"/>
          </a:ln>
        </p:spPr>
        <p:txBody>
          <a:bodyPr/>
          <a:lstStyle/>
          <a:p>
            <a:endParaRPr dirty="0"/>
          </a:p>
        </p:txBody>
      </p:sp>
      <p:sp>
        <p:nvSpPr>
          <p:cNvPr id="3" name="Shape 1"/>
          <p:cNvSpPr/>
          <p:nvPr/>
        </p:nvSpPr>
        <p:spPr>
          <a:xfrm>
            <a:off x="0" y="0"/>
            <a:ext cx="164592" cy="6858000"/>
          </a:xfrm>
          <a:prstGeom prst="rect">
            <a:avLst/>
          </a:prstGeom>
          <a:solidFill>
            <a:srgbClr val="1769E0"/>
          </a:solidFill>
          <a:ln w="12700">
            <a:solidFill>
              <a:srgbClr val="1769E0"/>
            </a:solidFill>
            <a:prstDash val="solid"/>
          </a:ln>
        </p:spPr>
        <p:txBody>
          <a:bodyPr/>
          <a:lstStyle/>
          <a:p>
            <a:endParaRPr/>
          </a:p>
        </p:txBody>
      </p:sp>
      <p:sp>
        <p:nvSpPr>
          <p:cNvPr id="4" name="Text 2"/>
          <p:cNvSpPr/>
          <p:nvPr/>
        </p:nvSpPr>
        <p:spPr>
          <a:xfrm>
            <a:off x="713232" y="658368"/>
            <a:ext cx="5212080" cy="228600"/>
          </a:xfrm>
          <a:prstGeom prst="rect">
            <a:avLst/>
          </a:prstGeom>
          <a:noFill/>
          <a:ln/>
        </p:spPr>
        <p:txBody>
          <a:bodyPr wrap="square" lIns="0" tIns="0" rIns="0" bIns="0" rtlCol="0" anchor="ctr"/>
          <a:lstStyle/>
          <a:p>
            <a:pPr marL="0" indent="0">
              <a:buNone/>
            </a:pPr>
            <a:r>
              <a:rPr lang="en-US" sz="900" b="1" kern="0" spc="170" dirty="0">
                <a:solidFill>
                  <a:srgbClr val="1769E0"/>
                </a:solidFill>
                <a:latin typeface="Inter" pitchFamily="34" charset="0"/>
                <a:ea typeface="Inter" pitchFamily="34" charset="-122"/>
                <a:cs typeface="Inter" pitchFamily="34" charset="-120"/>
              </a:rPr>
              <a:t>RELIABILITY ENGINEERING  /  INVESTIGATION REVIEW</a:t>
            </a:r>
            <a:endParaRPr lang="en-US" sz="900" dirty="0"/>
          </a:p>
        </p:txBody>
      </p:sp>
      <p:sp>
        <p:nvSpPr>
          <p:cNvPr id="5" name="Text 3"/>
          <p:cNvSpPr/>
          <p:nvPr/>
        </p:nvSpPr>
        <p:spPr>
          <a:xfrm>
            <a:off x="713231" y="1188720"/>
            <a:ext cx="6489826" cy="2176272"/>
          </a:xfrm>
          <a:prstGeom prst="rect">
            <a:avLst/>
          </a:prstGeom>
          <a:noFill/>
          <a:ln/>
        </p:spPr>
        <p:txBody>
          <a:bodyPr wrap="square" lIns="0" tIns="0" rIns="0" bIns="0" rtlCol="0" anchor="ctr">
            <a:normAutofit/>
          </a:bodyPr>
          <a:lstStyle/>
          <a:p>
            <a:pPr marL="0" indent="0">
              <a:buNone/>
            </a:pPr>
            <a:r>
              <a:rPr lang="en-US" sz="3050" b="1" dirty="0" err="1">
                <a:solidFill>
                  <a:srgbClr val="0C1B2A"/>
                </a:solidFill>
                <a:latin typeface="Inter Display" pitchFamily="34" charset="0"/>
                <a:ea typeface="Inter Display" pitchFamily="34" charset="-122"/>
                <a:cs typeface="Inter Display" pitchFamily="34" charset="-120"/>
              </a:rPr>
              <a:t>Xcelodose</a:t>
            </a:r>
            <a:r>
              <a:rPr lang="en-US" sz="3050" b="1" dirty="0">
                <a:solidFill>
                  <a:srgbClr val="0C1B2A"/>
                </a:solidFill>
                <a:latin typeface="Inter Display" pitchFamily="34" charset="0"/>
                <a:ea typeface="Inter Display" pitchFamily="34" charset="-122"/>
                <a:cs typeface="Inter Display" pitchFamily="34" charset="-120"/>
              </a:rPr>
              <a:t> 600S</a:t>
            </a:r>
            <a:r>
              <a:rPr lang="en-US" sz="3050" dirty="0"/>
              <a:t>-</a:t>
            </a:r>
          </a:p>
          <a:p>
            <a:pPr marL="0" indent="0">
              <a:buNone/>
            </a:pPr>
            <a:r>
              <a:rPr lang="en-US" sz="3050" b="1" i="1" dirty="0"/>
              <a:t>ME-5</a:t>
            </a:r>
            <a:r>
              <a:rPr lang="en-US" sz="3050" dirty="0"/>
              <a:t> </a:t>
            </a:r>
            <a:r>
              <a:rPr lang="en-US" sz="3050" b="1" dirty="0">
                <a:solidFill>
                  <a:srgbClr val="0C1B2A"/>
                </a:solidFill>
                <a:latin typeface="Inter Display" pitchFamily="34" charset="0"/>
                <a:ea typeface="Inter Display" pitchFamily="34" charset="-122"/>
                <a:cs typeface="Inter Display" pitchFamily="34" charset="-120"/>
              </a:rPr>
              <a:t>Microbalance</a:t>
            </a:r>
            <a:endParaRPr lang="en-US" sz="3050" dirty="0"/>
          </a:p>
          <a:p>
            <a:pPr marL="0" indent="0">
              <a:buNone/>
            </a:pPr>
            <a:r>
              <a:rPr lang="en-US" sz="3050" b="1" dirty="0">
                <a:solidFill>
                  <a:srgbClr val="0C1B2A"/>
                </a:solidFill>
                <a:latin typeface="Inter Display" pitchFamily="34" charset="0"/>
                <a:ea typeface="Inter Display" pitchFamily="34" charset="-122"/>
                <a:cs typeface="Inter Display" pitchFamily="34" charset="-120"/>
              </a:rPr>
              <a:t>Failure Investigation</a:t>
            </a:r>
            <a:endParaRPr lang="en-US" sz="3050" dirty="0"/>
          </a:p>
        </p:txBody>
      </p:sp>
      <p:sp>
        <p:nvSpPr>
          <p:cNvPr id="6" name="Text 4"/>
          <p:cNvSpPr/>
          <p:nvPr/>
        </p:nvSpPr>
        <p:spPr>
          <a:xfrm>
            <a:off x="749808" y="3639312"/>
            <a:ext cx="4709160" cy="658368"/>
          </a:xfrm>
          <a:prstGeom prst="rect">
            <a:avLst/>
          </a:prstGeom>
          <a:noFill/>
          <a:ln/>
        </p:spPr>
        <p:txBody>
          <a:bodyPr wrap="square" lIns="0" tIns="0" rIns="0" bIns="0" rtlCol="0" anchor="ctr">
            <a:normAutofit/>
          </a:bodyPr>
          <a:lstStyle/>
          <a:p>
            <a:pPr marL="0" indent="0">
              <a:buNone/>
            </a:pPr>
            <a:r>
              <a:rPr lang="en-US" sz="1400" dirty="0">
                <a:solidFill>
                  <a:srgbClr val="244365"/>
                </a:solidFill>
                <a:latin typeface="Inter" pitchFamily="34" charset="0"/>
                <a:ea typeface="Inter" pitchFamily="34" charset="-122"/>
                <a:cs typeface="Inter" pitchFamily="34" charset="-120"/>
              </a:rPr>
              <a:t>Mechanical failure pathway, observed handling practices, and corrective-action direction</a:t>
            </a:r>
            <a:endParaRPr lang="en-US" sz="1400" dirty="0"/>
          </a:p>
        </p:txBody>
      </p:sp>
      <p:sp>
        <p:nvSpPr>
          <p:cNvPr id="7" name="Shape 5"/>
          <p:cNvSpPr/>
          <p:nvPr/>
        </p:nvSpPr>
        <p:spPr>
          <a:xfrm>
            <a:off x="749808" y="4617720"/>
            <a:ext cx="1298448" cy="329184"/>
          </a:xfrm>
          <a:prstGeom prst="roundRect">
            <a:avLst>
              <a:gd name="adj" fmla="val 16667"/>
            </a:avLst>
          </a:prstGeom>
          <a:solidFill>
            <a:srgbClr val="0C1B2A"/>
          </a:solidFill>
          <a:ln w="12700">
            <a:solidFill>
              <a:srgbClr val="0C1B2A"/>
            </a:solidFill>
            <a:prstDash val="solid"/>
          </a:ln>
        </p:spPr>
        <p:txBody>
          <a:bodyPr/>
          <a:lstStyle/>
          <a:p>
            <a:endParaRPr sz="2800"/>
          </a:p>
        </p:txBody>
      </p:sp>
      <p:sp>
        <p:nvSpPr>
          <p:cNvPr id="8" name="Text 6"/>
          <p:cNvSpPr/>
          <p:nvPr/>
        </p:nvSpPr>
        <p:spPr>
          <a:xfrm>
            <a:off x="795528" y="4617720"/>
            <a:ext cx="1207008" cy="329184"/>
          </a:xfrm>
          <a:prstGeom prst="rect">
            <a:avLst/>
          </a:prstGeom>
          <a:noFill/>
          <a:ln/>
        </p:spPr>
        <p:txBody>
          <a:bodyPr wrap="square" lIns="0" tIns="0" rIns="0" bIns="0" rtlCol="0" anchor="ctr">
            <a:normAutofit/>
          </a:bodyPr>
          <a:lstStyle/>
          <a:p>
            <a:pPr marL="0" indent="0" algn="ctr">
              <a:buNone/>
            </a:pPr>
            <a:r>
              <a:rPr lang="en-US" sz="1000" b="1" kern="0" spc="90" dirty="0">
                <a:solidFill>
                  <a:srgbClr val="FFFFFF"/>
                </a:solidFill>
                <a:latin typeface="Inter" pitchFamily="34" charset="0"/>
                <a:ea typeface="Inter" pitchFamily="34" charset="-122"/>
                <a:cs typeface="Inter" pitchFamily="34" charset="-120"/>
              </a:rPr>
              <a:t>RCA</a:t>
            </a:r>
            <a:endParaRPr lang="en-US" sz="1000" dirty="0"/>
          </a:p>
        </p:txBody>
      </p:sp>
      <p:sp>
        <p:nvSpPr>
          <p:cNvPr id="9" name="Shape 7"/>
          <p:cNvSpPr/>
          <p:nvPr/>
        </p:nvSpPr>
        <p:spPr>
          <a:xfrm>
            <a:off x="2176272" y="4636008"/>
            <a:ext cx="1417320" cy="292608"/>
          </a:xfrm>
          <a:prstGeom prst="roundRect">
            <a:avLst>
              <a:gd name="adj" fmla="val 25000"/>
            </a:avLst>
          </a:prstGeom>
          <a:solidFill>
            <a:srgbClr val="DFEBFA"/>
          </a:solidFill>
          <a:ln w="12700">
            <a:solidFill>
              <a:srgbClr val="DFEBFA">
                <a:alpha val="0"/>
              </a:srgbClr>
            </a:solidFill>
            <a:prstDash val="solid"/>
          </a:ln>
        </p:spPr>
        <p:txBody>
          <a:bodyPr/>
          <a:lstStyle/>
          <a:p>
            <a:endParaRPr sz="2800"/>
          </a:p>
        </p:txBody>
      </p:sp>
      <p:sp>
        <p:nvSpPr>
          <p:cNvPr id="10" name="Text 8"/>
          <p:cNvSpPr/>
          <p:nvPr/>
        </p:nvSpPr>
        <p:spPr>
          <a:xfrm>
            <a:off x="2221992" y="4636008"/>
            <a:ext cx="1325880" cy="292608"/>
          </a:xfrm>
          <a:prstGeom prst="rect">
            <a:avLst/>
          </a:prstGeom>
          <a:noFill/>
          <a:ln/>
        </p:spPr>
        <p:txBody>
          <a:bodyPr wrap="square" lIns="0" tIns="0" rIns="0" bIns="0" rtlCol="0" anchor="ctr">
            <a:normAutofit/>
          </a:bodyPr>
          <a:lstStyle/>
          <a:p>
            <a:pPr marL="0" indent="0" algn="ctr">
              <a:buNone/>
            </a:pPr>
            <a:r>
              <a:rPr lang="en-US" sz="1000" b="1" dirty="0">
                <a:solidFill>
                  <a:srgbClr val="0D4C9D"/>
                </a:solidFill>
                <a:latin typeface="Inter" pitchFamily="34" charset="0"/>
                <a:ea typeface="Inter" pitchFamily="34" charset="-122"/>
                <a:cs typeface="Inter" pitchFamily="34" charset="-120"/>
              </a:rPr>
              <a:t>AUG–SEP 2026</a:t>
            </a:r>
            <a:endParaRPr lang="en-US" sz="1000" dirty="0"/>
          </a:p>
        </p:txBody>
      </p:sp>
      <p:pic>
        <p:nvPicPr>
          <p:cNvPr id="15" name="Picture 14">
            <a:extLst>
              <a:ext uri="{FF2B5EF4-FFF2-40B4-BE49-F238E27FC236}">
                <a16:creationId xmlns:a16="http://schemas.microsoft.com/office/drawing/2014/main" id="{77A8F208-0148-E2E1-2E6C-D1A8B5DD990D}"/>
              </a:ext>
            </a:extLst>
          </p:cNvPr>
          <p:cNvPicPr>
            <a:picLocks noChangeAspect="1"/>
          </p:cNvPicPr>
          <p:nvPr/>
        </p:nvPicPr>
        <p:blipFill>
          <a:blip r:embed="rId3"/>
          <a:stretch>
            <a:fillRect/>
          </a:stretch>
        </p:blipFill>
        <p:spPr>
          <a:xfrm>
            <a:off x="6551926" y="886969"/>
            <a:ext cx="4618841" cy="4787444"/>
          </a:xfrm>
          <a:prstGeom prst="roundRect">
            <a:avLst>
              <a:gd name="adj" fmla="val 10177"/>
            </a:avLst>
          </a:prstGeom>
          <a:ln w="190500" cap="rnd">
            <a:solidFill>
              <a:srgbClr val="C8C6BD"/>
            </a:solidFill>
            <a:prstDash val="solid"/>
          </a:ln>
          <a:effectLst>
            <a:outerShdw blurRad="101600" dist="50800" dir="7200000" algn="tl" rotWithShape="0">
              <a:srgbClr val="000000">
                <a:alpha val="45000"/>
              </a:srgbClr>
            </a:outerShdw>
          </a:effectLst>
          <a:scene3d>
            <a:camera prst="perspectiveFront" fov="5400000"/>
            <a:lightRig rig="threePt" dir="t">
              <a:rot lat="0" lon="0" rev="19200000"/>
            </a:lightRig>
          </a:scene3d>
          <a:sp3d extrusionH="25400">
            <a:bevelT w="304800" h="152400" prst="hardEdge"/>
            <a:extrusionClr>
              <a:srgbClr val="FFFFFF"/>
            </a:extrusionClr>
          </a:sp3d>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566928" y="850392"/>
            <a:ext cx="10972800" cy="566928"/>
          </a:xfrm>
          <a:prstGeom prst="rect">
            <a:avLst/>
          </a:prstGeom>
          <a:noFill/>
          <a:ln/>
        </p:spPr>
        <p:txBody>
          <a:bodyPr wrap="square" lIns="0" tIns="0" rIns="0" bIns="0" rtlCol="0" anchor="ctr">
            <a:normAutofit/>
          </a:bodyPr>
          <a:lstStyle/>
          <a:p>
            <a:pPr marL="0" indent="0">
              <a:buNone/>
            </a:pPr>
            <a:r>
              <a:rPr lang="en-US" sz="2750" b="1" spc="-150" dirty="0">
                <a:solidFill>
                  <a:srgbClr val="0C1B2A"/>
                </a:solidFill>
                <a:latin typeface="Inter Display" pitchFamily="34" charset="0"/>
                <a:ea typeface="Inter Display" pitchFamily="34" charset="-122"/>
                <a:cs typeface="Inter Display" pitchFamily="34" charset="-120"/>
              </a:rPr>
              <a:t>The failure population separates into two distinct patterns</a:t>
            </a:r>
            <a:endParaRPr lang="en-US" sz="2750" spc="-150" dirty="0"/>
          </a:p>
        </p:txBody>
      </p:sp>
      <p:sp>
        <p:nvSpPr>
          <p:cNvPr id="6" name="Text 4"/>
          <p:cNvSpPr/>
          <p:nvPr/>
        </p:nvSpPr>
        <p:spPr>
          <a:xfrm>
            <a:off x="585216" y="1435608"/>
            <a:ext cx="10789920" cy="329184"/>
          </a:xfrm>
          <a:prstGeom prst="rect">
            <a:avLst/>
          </a:prstGeom>
          <a:noFill/>
          <a:ln/>
        </p:spPr>
        <p:txBody>
          <a:bodyPr wrap="square" lIns="0" tIns="0" rIns="0" bIns="0" rtlCol="0" anchor="ctr">
            <a:normAutofit/>
          </a:bodyPr>
          <a:lstStyle/>
          <a:p>
            <a:pPr marL="0" indent="0">
              <a:buNone/>
            </a:pPr>
            <a:r>
              <a:rPr lang="en-US" sz="1180" dirty="0">
                <a:solidFill>
                  <a:srgbClr val="1554A9"/>
                </a:solidFill>
                <a:latin typeface="Inter" pitchFamily="34" charset="0"/>
                <a:ea typeface="Inter" pitchFamily="34" charset="-122"/>
                <a:cs typeface="Inter" pitchFamily="34" charset="-120"/>
              </a:rPr>
              <a:t>The mechanical pathway is concentrated in the units with visible deformation and corner-load failure.</a:t>
            </a:r>
            <a:endParaRPr lang="en-US" sz="1180" dirty="0"/>
          </a:p>
        </p:txBody>
      </p:sp>
      <p:sp>
        <p:nvSpPr>
          <p:cNvPr id="7" name="Shape 5"/>
          <p:cNvSpPr/>
          <p:nvPr/>
        </p:nvSpPr>
        <p:spPr>
          <a:xfrm>
            <a:off x="566928" y="1847088"/>
            <a:ext cx="11045952" cy="0"/>
          </a:xfrm>
          <a:prstGeom prst="line">
            <a:avLst/>
          </a:prstGeom>
          <a:noFill/>
          <a:ln w="10160">
            <a:solidFill>
              <a:srgbClr val="D7DAD8"/>
            </a:solidFill>
            <a:prstDash val="solid"/>
          </a:ln>
        </p:spPr>
        <p:txBody>
          <a:bodyPr/>
          <a:lstStyle/>
          <a:p>
            <a:endParaRPr/>
          </a:p>
        </p:txBody>
      </p:sp>
      <p:sp>
        <p:nvSpPr>
          <p:cNvPr id="8" name="Shape 6"/>
          <p:cNvSpPr/>
          <p:nvPr/>
        </p:nvSpPr>
        <p:spPr>
          <a:xfrm>
            <a:off x="621792" y="2176272"/>
            <a:ext cx="2651760" cy="2029968"/>
          </a:xfrm>
          <a:prstGeom prst="roundRect">
            <a:avLst>
              <a:gd name="adj" fmla="val 3604"/>
            </a:avLst>
          </a:prstGeom>
          <a:solidFill>
            <a:srgbClr val="FFFFFF"/>
          </a:solidFill>
          <a:ln w="10160">
            <a:solidFill>
              <a:srgbClr val="E5E7E7"/>
            </a:solidFill>
            <a:prstDash val="solid"/>
          </a:ln>
          <a:effectLst>
            <a:outerShdw blurRad="15240" dist="50800" dir="2700000" algn="bl" rotWithShape="0">
              <a:srgbClr val="73808C">
                <a:alpha val="12000"/>
              </a:srgbClr>
            </a:outerShdw>
          </a:effectLst>
        </p:spPr>
        <p:txBody>
          <a:bodyPr/>
          <a:lstStyle/>
          <a:p>
            <a:endParaRPr/>
          </a:p>
        </p:txBody>
      </p:sp>
      <p:sp>
        <p:nvSpPr>
          <p:cNvPr id="9" name="Shape 7"/>
          <p:cNvSpPr/>
          <p:nvPr/>
        </p:nvSpPr>
        <p:spPr>
          <a:xfrm>
            <a:off x="621792" y="2176272"/>
            <a:ext cx="73152" cy="2029968"/>
          </a:xfrm>
          <a:prstGeom prst="rect">
            <a:avLst/>
          </a:prstGeom>
          <a:solidFill>
            <a:srgbClr val="1769E0"/>
          </a:solidFill>
          <a:ln w="12700">
            <a:solidFill>
              <a:srgbClr val="1769E0"/>
            </a:solidFill>
            <a:prstDash val="solid"/>
          </a:ln>
        </p:spPr>
        <p:txBody>
          <a:bodyPr/>
          <a:lstStyle/>
          <a:p>
            <a:endParaRPr/>
          </a:p>
        </p:txBody>
      </p:sp>
      <p:sp>
        <p:nvSpPr>
          <p:cNvPr id="10" name="Text 8"/>
          <p:cNvSpPr/>
          <p:nvPr/>
        </p:nvSpPr>
        <p:spPr>
          <a:xfrm>
            <a:off x="850392" y="2432304"/>
            <a:ext cx="1920240" cy="566928"/>
          </a:xfrm>
          <a:prstGeom prst="rect">
            <a:avLst/>
          </a:prstGeom>
          <a:noFill/>
          <a:ln/>
        </p:spPr>
        <p:txBody>
          <a:bodyPr wrap="square" lIns="0" tIns="0" rIns="0" bIns="0" rtlCol="0" anchor="ctr">
            <a:normAutofit/>
          </a:bodyPr>
          <a:lstStyle/>
          <a:p>
            <a:pPr marL="0" indent="0">
              <a:buNone/>
            </a:pPr>
            <a:r>
              <a:rPr lang="en-US" sz="3400" b="1" dirty="0">
                <a:solidFill>
                  <a:srgbClr val="0C1B2A"/>
                </a:solidFill>
                <a:latin typeface="Inter Display" pitchFamily="34" charset="0"/>
                <a:ea typeface="Inter Display" pitchFamily="34" charset="-122"/>
                <a:cs typeface="Inter Display" pitchFamily="34" charset="-120"/>
              </a:rPr>
              <a:t>4</a:t>
            </a:r>
            <a:endParaRPr lang="en-US" sz="3400" dirty="0"/>
          </a:p>
        </p:txBody>
      </p:sp>
      <p:sp>
        <p:nvSpPr>
          <p:cNvPr id="11" name="Text 9"/>
          <p:cNvSpPr/>
          <p:nvPr/>
        </p:nvSpPr>
        <p:spPr>
          <a:xfrm>
            <a:off x="850392" y="3145536"/>
            <a:ext cx="2057400" cy="475488"/>
          </a:xfrm>
          <a:prstGeom prst="rect">
            <a:avLst/>
          </a:prstGeom>
          <a:noFill/>
          <a:ln/>
        </p:spPr>
        <p:txBody>
          <a:bodyPr wrap="square" lIns="0" tIns="0" rIns="0" bIns="0" rtlCol="0" anchor="ctr">
            <a:normAutofit/>
          </a:bodyPr>
          <a:lstStyle/>
          <a:p>
            <a:pPr marL="0" indent="0">
              <a:buNone/>
            </a:pPr>
            <a:r>
              <a:rPr lang="en-US" sz="1240" b="1" dirty="0">
                <a:solidFill>
                  <a:srgbClr val="0C1B2A"/>
                </a:solidFill>
                <a:latin typeface="Inter" pitchFamily="34" charset="0"/>
                <a:ea typeface="Inter" pitchFamily="34" charset="-122"/>
                <a:cs typeface="Inter" pitchFamily="34" charset="-120"/>
              </a:rPr>
              <a:t>microbalances reviewed</a:t>
            </a:r>
            <a:endParaRPr lang="en-US" sz="1240" dirty="0"/>
          </a:p>
        </p:txBody>
      </p:sp>
      <p:sp>
        <p:nvSpPr>
          <p:cNvPr id="12" name="Text 10"/>
          <p:cNvSpPr/>
          <p:nvPr/>
        </p:nvSpPr>
        <p:spPr>
          <a:xfrm>
            <a:off x="850392" y="3703320"/>
            <a:ext cx="2057400" cy="274320"/>
          </a:xfrm>
          <a:prstGeom prst="rect">
            <a:avLst/>
          </a:prstGeom>
          <a:noFill/>
          <a:ln/>
        </p:spPr>
        <p:txBody>
          <a:bodyPr wrap="square" lIns="0" tIns="0" rIns="0" bIns="0" rtlCol="0" anchor="ctr">
            <a:normAutofit/>
          </a:bodyPr>
          <a:lstStyle/>
          <a:p>
            <a:pPr marL="0" indent="0">
              <a:buNone/>
            </a:pPr>
            <a:r>
              <a:rPr lang="en-US" sz="840" dirty="0">
                <a:solidFill>
                  <a:srgbClr val="1554A9"/>
                </a:solidFill>
                <a:latin typeface="Inter" pitchFamily="34" charset="0"/>
                <a:ea typeface="Inter" pitchFamily="34" charset="-122"/>
                <a:cs typeface="Inter" pitchFamily="34" charset="-120"/>
              </a:rPr>
              <a:t>Unavailable between 2023–2026</a:t>
            </a:r>
            <a:endParaRPr lang="en-US" sz="840" dirty="0"/>
          </a:p>
        </p:txBody>
      </p:sp>
      <p:sp>
        <p:nvSpPr>
          <p:cNvPr id="13" name="Shape 11"/>
          <p:cNvSpPr/>
          <p:nvPr/>
        </p:nvSpPr>
        <p:spPr>
          <a:xfrm>
            <a:off x="3401568" y="2176272"/>
            <a:ext cx="2651760" cy="2029968"/>
          </a:xfrm>
          <a:prstGeom prst="roundRect">
            <a:avLst>
              <a:gd name="adj" fmla="val 3604"/>
            </a:avLst>
          </a:prstGeom>
          <a:solidFill>
            <a:srgbClr val="FFFFFF"/>
          </a:solidFill>
          <a:ln w="10160">
            <a:solidFill>
              <a:srgbClr val="E5E7E7"/>
            </a:solidFill>
            <a:prstDash val="solid"/>
          </a:ln>
          <a:effectLst>
            <a:outerShdw blurRad="193548000" dist="645160000" algn="bl" rotWithShape="0">
              <a:srgbClr val="73808C">
                <a:alpha val="0"/>
              </a:srgbClr>
            </a:outerShdw>
          </a:effectLst>
        </p:spPr>
        <p:txBody>
          <a:bodyPr/>
          <a:lstStyle/>
          <a:p>
            <a:endParaRPr/>
          </a:p>
        </p:txBody>
      </p:sp>
      <p:sp>
        <p:nvSpPr>
          <p:cNvPr id="14" name="Shape 12"/>
          <p:cNvSpPr/>
          <p:nvPr/>
        </p:nvSpPr>
        <p:spPr>
          <a:xfrm>
            <a:off x="3401568" y="2176272"/>
            <a:ext cx="73152" cy="2029968"/>
          </a:xfrm>
          <a:prstGeom prst="rect">
            <a:avLst/>
          </a:prstGeom>
          <a:solidFill>
            <a:srgbClr val="C94848"/>
          </a:solidFill>
          <a:ln w="12700">
            <a:solidFill>
              <a:srgbClr val="C94848"/>
            </a:solidFill>
            <a:prstDash val="solid"/>
          </a:ln>
        </p:spPr>
        <p:txBody>
          <a:bodyPr/>
          <a:lstStyle/>
          <a:p>
            <a:endParaRPr/>
          </a:p>
        </p:txBody>
      </p:sp>
      <p:sp>
        <p:nvSpPr>
          <p:cNvPr id="15" name="Text 13"/>
          <p:cNvSpPr/>
          <p:nvPr/>
        </p:nvSpPr>
        <p:spPr>
          <a:xfrm>
            <a:off x="3630168" y="2432304"/>
            <a:ext cx="1920240" cy="566928"/>
          </a:xfrm>
          <a:prstGeom prst="rect">
            <a:avLst/>
          </a:prstGeom>
          <a:noFill/>
          <a:ln/>
        </p:spPr>
        <p:txBody>
          <a:bodyPr wrap="square" lIns="0" tIns="0" rIns="0" bIns="0" rtlCol="0" anchor="ctr">
            <a:normAutofit/>
          </a:bodyPr>
          <a:lstStyle/>
          <a:p>
            <a:pPr marL="0" indent="0">
              <a:buNone/>
            </a:pPr>
            <a:r>
              <a:rPr lang="en-US" sz="3400" b="1" dirty="0">
                <a:solidFill>
                  <a:srgbClr val="0C1B2A"/>
                </a:solidFill>
                <a:latin typeface="Inter Display" pitchFamily="34" charset="0"/>
                <a:ea typeface="Inter Display" pitchFamily="34" charset="-122"/>
                <a:cs typeface="Inter Display" pitchFamily="34" charset="-120"/>
              </a:rPr>
              <a:t>2</a:t>
            </a:r>
            <a:endParaRPr lang="en-US" sz="3400" dirty="0"/>
          </a:p>
        </p:txBody>
      </p:sp>
      <p:sp>
        <p:nvSpPr>
          <p:cNvPr id="16" name="Text 14"/>
          <p:cNvSpPr/>
          <p:nvPr/>
        </p:nvSpPr>
        <p:spPr>
          <a:xfrm>
            <a:off x="3630168" y="3145536"/>
            <a:ext cx="2057400" cy="475488"/>
          </a:xfrm>
          <a:prstGeom prst="rect">
            <a:avLst/>
          </a:prstGeom>
          <a:noFill/>
          <a:ln/>
        </p:spPr>
        <p:txBody>
          <a:bodyPr wrap="square" lIns="0" tIns="0" rIns="0" bIns="0" rtlCol="0" anchor="ctr">
            <a:normAutofit fontScale="92500" lnSpcReduction="10000"/>
          </a:bodyPr>
          <a:lstStyle/>
          <a:p>
            <a:pPr marL="0" indent="0">
              <a:buNone/>
            </a:pPr>
            <a:r>
              <a:rPr lang="en-US" sz="1240" b="1" dirty="0">
                <a:solidFill>
                  <a:srgbClr val="0C1B2A"/>
                </a:solidFill>
                <a:latin typeface="Inter" pitchFamily="34" charset="0"/>
                <a:ea typeface="Inter" pitchFamily="34" charset="-122"/>
                <a:cs typeface="Inter" pitchFamily="34" charset="-120"/>
              </a:rPr>
              <a:t>have visible mechanical abnormalities and out-of-service</a:t>
            </a:r>
            <a:endParaRPr lang="en-US" sz="1240" dirty="0"/>
          </a:p>
        </p:txBody>
      </p:sp>
      <p:sp>
        <p:nvSpPr>
          <p:cNvPr id="17" name="Text 15"/>
          <p:cNvSpPr/>
          <p:nvPr/>
        </p:nvSpPr>
        <p:spPr>
          <a:xfrm>
            <a:off x="3630168" y="3703320"/>
            <a:ext cx="2057400" cy="274320"/>
          </a:xfrm>
          <a:prstGeom prst="rect">
            <a:avLst/>
          </a:prstGeom>
          <a:noFill/>
          <a:ln/>
        </p:spPr>
        <p:txBody>
          <a:bodyPr wrap="square" lIns="0" tIns="0" rIns="0" bIns="0" rtlCol="0" anchor="ctr">
            <a:normAutofit/>
          </a:bodyPr>
          <a:lstStyle/>
          <a:p>
            <a:pPr marL="0" indent="0">
              <a:buNone/>
            </a:pPr>
            <a:r>
              <a:rPr lang="en-US" sz="840" dirty="0">
                <a:solidFill>
                  <a:srgbClr val="1554A9"/>
                </a:solidFill>
                <a:latin typeface="Inter" pitchFamily="34" charset="0"/>
                <a:ea typeface="Inter" pitchFamily="34" charset="-122"/>
                <a:cs typeface="Inter" pitchFamily="34" charset="-120"/>
              </a:rPr>
              <a:t>██████ + ██████</a:t>
            </a:r>
            <a:endParaRPr lang="en-US" sz="840" dirty="0"/>
          </a:p>
        </p:txBody>
      </p:sp>
      <p:sp>
        <p:nvSpPr>
          <p:cNvPr id="18" name="Shape 16"/>
          <p:cNvSpPr/>
          <p:nvPr/>
        </p:nvSpPr>
        <p:spPr>
          <a:xfrm>
            <a:off x="6181344" y="2176272"/>
            <a:ext cx="2651760" cy="2029968"/>
          </a:xfrm>
          <a:prstGeom prst="roundRect">
            <a:avLst>
              <a:gd name="adj" fmla="val 3604"/>
            </a:avLst>
          </a:prstGeom>
          <a:solidFill>
            <a:srgbClr val="FFFFFF"/>
          </a:solidFill>
          <a:ln w="10160">
            <a:solidFill>
              <a:srgbClr val="E5E7E7"/>
            </a:solidFill>
            <a:prstDash val="solid"/>
          </a:ln>
          <a:effectLst>
            <a:outerShdw algn="bl" rotWithShape="0">
              <a:srgbClr val="73808C">
                <a:alpha val="0"/>
              </a:srgbClr>
            </a:outerShdw>
          </a:effectLst>
        </p:spPr>
        <p:txBody>
          <a:bodyPr/>
          <a:lstStyle/>
          <a:p>
            <a:endParaRPr/>
          </a:p>
        </p:txBody>
      </p:sp>
      <p:sp>
        <p:nvSpPr>
          <p:cNvPr id="19" name="Shape 17"/>
          <p:cNvSpPr/>
          <p:nvPr/>
        </p:nvSpPr>
        <p:spPr>
          <a:xfrm>
            <a:off x="6181344" y="2176272"/>
            <a:ext cx="73152" cy="2029968"/>
          </a:xfrm>
          <a:prstGeom prst="rect">
            <a:avLst/>
          </a:prstGeom>
          <a:solidFill>
            <a:srgbClr val="C94848"/>
          </a:solidFill>
          <a:ln w="12700">
            <a:solidFill>
              <a:srgbClr val="C94848"/>
            </a:solidFill>
            <a:prstDash val="solid"/>
          </a:ln>
        </p:spPr>
        <p:txBody>
          <a:bodyPr/>
          <a:lstStyle/>
          <a:p>
            <a:endParaRPr/>
          </a:p>
        </p:txBody>
      </p:sp>
      <p:sp>
        <p:nvSpPr>
          <p:cNvPr id="20" name="Text 18"/>
          <p:cNvSpPr/>
          <p:nvPr/>
        </p:nvSpPr>
        <p:spPr>
          <a:xfrm>
            <a:off x="6409944" y="2432304"/>
            <a:ext cx="1920240" cy="566928"/>
          </a:xfrm>
          <a:prstGeom prst="rect">
            <a:avLst/>
          </a:prstGeom>
          <a:noFill/>
          <a:ln/>
        </p:spPr>
        <p:txBody>
          <a:bodyPr wrap="square" lIns="0" tIns="0" rIns="0" bIns="0" rtlCol="0" anchor="ctr">
            <a:normAutofit/>
          </a:bodyPr>
          <a:lstStyle/>
          <a:p>
            <a:pPr marL="0" indent="0">
              <a:buNone/>
            </a:pPr>
            <a:r>
              <a:rPr lang="en-US" sz="3400" b="1" dirty="0">
                <a:solidFill>
                  <a:srgbClr val="0C1B2A"/>
                </a:solidFill>
                <a:latin typeface="Inter Display" pitchFamily="34" charset="0"/>
                <a:ea typeface="Inter Display" pitchFamily="34" charset="-122"/>
                <a:cs typeface="Inter Display" pitchFamily="34" charset="-120"/>
              </a:rPr>
              <a:t>2</a:t>
            </a:r>
            <a:endParaRPr lang="en-US" sz="3400" dirty="0"/>
          </a:p>
        </p:txBody>
      </p:sp>
      <p:sp>
        <p:nvSpPr>
          <p:cNvPr id="21" name="Text 19"/>
          <p:cNvSpPr/>
          <p:nvPr/>
        </p:nvSpPr>
        <p:spPr>
          <a:xfrm>
            <a:off x="6409944" y="3145536"/>
            <a:ext cx="2057400" cy="475488"/>
          </a:xfrm>
          <a:prstGeom prst="rect">
            <a:avLst/>
          </a:prstGeom>
          <a:noFill/>
          <a:ln/>
        </p:spPr>
        <p:txBody>
          <a:bodyPr wrap="square" lIns="0" tIns="0" rIns="0" bIns="0" rtlCol="0" anchor="ctr">
            <a:normAutofit/>
          </a:bodyPr>
          <a:lstStyle/>
          <a:p>
            <a:pPr marL="0" indent="0">
              <a:buNone/>
            </a:pPr>
            <a:r>
              <a:rPr lang="en-US" sz="1240" b="1" dirty="0">
                <a:solidFill>
                  <a:srgbClr val="0C1B2A"/>
                </a:solidFill>
                <a:latin typeface="Inter" pitchFamily="34" charset="0"/>
                <a:ea typeface="Inter" pitchFamily="34" charset="-122"/>
                <a:cs typeface="Inter" pitchFamily="34" charset="-120"/>
              </a:rPr>
              <a:t>current direct-load observations</a:t>
            </a:r>
            <a:endParaRPr lang="en-US" sz="1240" dirty="0"/>
          </a:p>
        </p:txBody>
      </p:sp>
      <p:sp>
        <p:nvSpPr>
          <p:cNvPr id="22" name="Text 20"/>
          <p:cNvSpPr/>
          <p:nvPr/>
        </p:nvSpPr>
        <p:spPr>
          <a:xfrm>
            <a:off x="6409944" y="3703320"/>
            <a:ext cx="2057400" cy="274320"/>
          </a:xfrm>
          <a:prstGeom prst="rect">
            <a:avLst/>
          </a:prstGeom>
          <a:noFill/>
          <a:ln/>
        </p:spPr>
        <p:txBody>
          <a:bodyPr wrap="square" lIns="0" tIns="0" rIns="0" bIns="0" rtlCol="0" anchor="ctr">
            <a:normAutofit/>
          </a:bodyPr>
          <a:lstStyle/>
          <a:p>
            <a:pPr marL="0" indent="0">
              <a:buNone/>
            </a:pPr>
            <a:r>
              <a:rPr lang="en-US" sz="840" dirty="0">
                <a:solidFill>
                  <a:srgbClr val="1554A9"/>
                </a:solidFill>
                <a:latin typeface="Inter" pitchFamily="34" charset="0"/>
                <a:ea typeface="Inter" pitchFamily="34" charset="-122"/>
                <a:cs typeface="Inter" pitchFamily="34" charset="-120"/>
              </a:rPr>
              <a:t>17-AUG + 20-AUG</a:t>
            </a:r>
            <a:endParaRPr lang="en-US" sz="840" dirty="0"/>
          </a:p>
        </p:txBody>
      </p:sp>
      <p:sp>
        <p:nvSpPr>
          <p:cNvPr id="23" name="Shape 21"/>
          <p:cNvSpPr/>
          <p:nvPr/>
        </p:nvSpPr>
        <p:spPr>
          <a:xfrm>
            <a:off x="8961120" y="2176272"/>
            <a:ext cx="2651760" cy="2029968"/>
          </a:xfrm>
          <a:prstGeom prst="roundRect">
            <a:avLst>
              <a:gd name="adj" fmla="val 3604"/>
            </a:avLst>
          </a:prstGeom>
          <a:solidFill>
            <a:srgbClr val="FFFFFF"/>
          </a:solidFill>
          <a:ln w="10160">
            <a:solidFill>
              <a:srgbClr val="E5E7E7"/>
            </a:solidFill>
            <a:prstDash val="solid"/>
          </a:ln>
          <a:effectLst>
            <a:outerShdw algn="bl" rotWithShape="0">
              <a:srgbClr val="73808C">
                <a:alpha val="0"/>
              </a:srgbClr>
            </a:outerShdw>
          </a:effectLst>
        </p:spPr>
        <p:txBody>
          <a:bodyPr/>
          <a:lstStyle/>
          <a:p>
            <a:endParaRPr/>
          </a:p>
        </p:txBody>
      </p:sp>
      <p:sp>
        <p:nvSpPr>
          <p:cNvPr id="24" name="Shape 22"/>
          <p:cNvSpPr/>
          <p:nvPr/>
        </p:nvSpPr>
        <p:spPr>
          <a:xfrm>
            <a:off x="8961120" y="2176272"/>
            <a:ext cx="73152" cy="2029968"/>
          </a:xfrm>
          <a:prstGeom prst="rect">
            <a:avLst/>
          </a:prstGeom>
          <a:solidFill>
            <a:srgbClr val="1769E0"/>
          </a:solidFill>
          <a:ln w="12700">
            <a:solidFill>
              <a:srgbClr val="1769E0"/>
            </a:solidFill>
            <a:prstDash val="solid"/>
          </a:ln>
        </p:spPr>
        <p:txBody>
          <a:bodyPr/>
          <a:lstStyle/>
          <a:p>
            <a:endParaRPr/>
          </a:p>
        </p:txBody>
      </p:sp>
      <p:sp>
        <p:nvSpPr>
          <p:cNvPr id="25" name="Text 23"/>
          <p:cNvSpPr/>
          <p:nvPr/>
        </p:nvSpPr>
        <p:spPr>
          <a:xfrm>
            <a:off x="9189720" y="2432304"/>
            <a:ext cx="1920240" cy="566928"/>
          </a:xfrm>
          <a:prstGeom prst="rect">
            <a:avLst/>
          </a:prstGeom>
          <a:noFill/>
          <a:ln/>
        </p:spPr>
        <p:txBody>
          <a:bodyPr wrap="square" lIns="0" tIns="0" rIns="0" bIns="0" rtlCol="0" anchor="ctr">
            <a:normAutofit/>
          </a:bodyPr>
          <a:lstStyle/>
          <a:p>
            <a:pPr marL="0" indent="0">
              <a:buNone/>
            </a:pPr>
            <a:r>
              <a:rPr lang="en-US" sz="3400" b="1" dirty="0">
                <a:solidFill>
                  <a:srgbClr val="0C1B2A"/>
                </a:solidFill>
                <a:latin typeface="Inter Display" pitchFamily="34" charset="0"/>
                <a:ea typeface="Inter Display" pitchFamily="34" charset="-122"/>
                <a:cs typeface="Inter Display" pitchFamily="34" charset="-120"/>
              </a:rPr>
              <a:t>1</a:t>
            </a:r>
            <a:endParaRPr lang="en-US" sz="3400" dirty="0"/>
          </a:p>
        </p:txBody>
      </p:sp>
      <p:sp>
        <p:nvSpPr>
          <p:cNvPr id="26" name="Text 24"/>
          <p:cNvSpPr/>
          <p:nvPr/>
        </p:nvSpPr>
        <p:spPr>
          <a:xfrm>
            <a:off x="9189720" y="3145536"/>
            <a:ext cx="2057400" cy="475488"/>
          </a:xfrm>
          <a:prstGeom prst="rect">
            <a:avLst/>
          </a:prstGeom>
          <a:noFill/>
          <a:ln/>
        </p:spPr>
        <p:txBody>
          <a:bodyPr wrap="square" lIns="0" tIns="0" rIns="0" bIns="0" rtlCol="0" anchor="ctr">
            <a:normAutofit/>
          </a:bodyPr>
          <a:lstStyle/>
          <a:p>
            <a:pPr marL="0" indent="0">
              <a:buNone/>
            </a:pPr>
            <a:r>
              <a:rPr lang="en-US" sz="1240" b="1" dirty="0">
                <a:solidFill>
                  <a:srgbClr val="0C1B2A"/>
                </a:solidFill>
                <a:latin typeface="Inter" pitchFamily="34" charset="0"/>
                <a:ea typeface="Inter" pitchFamily="34" charset="-122"/>
                <a:cs typeface="Inter" pitchFamily="34" charset="-120"/>
              </a:rPr>
              <a:t>most probable mechanical root cause</a:t>
            </a:r>
            <a:endParaRPr lang="en-US" sz="1240" dirty="0"/>
          </a:p>
        </p:txBody>
      </p:sp>
      <p:sp>
        <p:nvSpPr>
          <p:cNvPr id="27" name="Text 25"/>
          <p:cNvSpPr/>
          <p:nvPr/>
        </p:nvSpPr>
        <p:spPr>
          <a:xfrm>
            <a:off x="9189720" y="3703320"/>
            <a:ext cx="2057400" cy="274320"/>
          </a:xfrm>
          <a:prstGeom prst="rect">
            <a:avLst/>
          </a:prstGeom>
          <a:noFill/>
          <a:ln/>
        </p:spPr>
        <p:txBody>
          <a:bodyPr wrap="square" lIns="0" tIns="0" rIns="0" bIns="0" rtlCol="0" anchor="ctr">
            <a:normAutofit/>
          </a:bodyPr>
          <a:lstStyle/>
          <a:p>
            <a:pPr marL="0" indent="0">
              <a:buNone/>
            </a:pPr>
            <a:r>
              <a:rPr lang="en-US" sz="840" dirty="0">
                <a:solidFill>
                  <a:srgbClr val="1554A9"/>
                </a:solidFill>
                <a:latin typeface="Inter" pitchFamily="34" charset="0"/>
                <a:ea typeface="Inter" pitchFamily="34" charset="-122"/>
                <a:cs typeface="Inter" pitchFamily="34" charset="-120"/>
              </a:rPr>
              <a:t>Handling control during cleaning</a:t>
            </a:r>
            <a:endParaRPr lang="en-US" sz="840" dirty="0"/>
          </a:p>
        </p:txBody>
      </p:sp>
      <p:sp>
        <p:nvSpPr>
          <p:cNvPr id="28" name="Shape 26"/>
          <p:cNvSpPr/>
          <p:nvPr/>
        </p:nvSpPr>
        <p:spPr>
          <a:xfrm>
            <a:off x="621792" y="4617720"/>
            <a:ext cx="10991088" cy="1225296"/>
          </a:xfrm>
          <a:prstGeom prst="roundRect">
            <a:avLst>
              <a:gd name="adj" fmla="val 5970"/>
            </a:avLst>
          </a:prstGeom>
          <a:solidFill>
            <a:srgbClr val="0E2136"/>
          </a:solidFill>
          <a:ln w="10160">
            <a:solidFill>
              <a:srgbClr val="0E2136"/>
            </a:solidFill>
            <a:prstDash val="solid"/>
          </a:ln>
        </p:spPr>
        <p:txBody>
          <a:bodyPr/>
          <a:lstStyle/>
          <a:p>
            <a:r>
              <a:rPr lang="en-US" sz="2000" b="1" i="1" dirty="0">
                <a:solidFill>
                  <a:schemeClr val="bg1"/>
                </a:solidFill>
                <a:latin typeface="72" panose="020B0503030000000003" pitchFamily="34" charset="0"/>
                <a:cs typeface="72" panose="020B0503030000000003" pitchFamily="34" charset="0"/>
              </a:rPr>
              <a:t>  Takeaway</a:t>
            </a:r>
            <a:endParaRPr sz="2000" b="1" i="1" dirty="0">
              <a:solidFill>
                <a:schemeClr val="bg1"/>
              </a:solidFill>
              <a:latin typeface="72" panose="020B0503030000000003" pitchFamily="34" charset="0"/>
              <a:cs typeface="72" panose="020B0503030000000003" pitchFamily="34" charset="0"/>
            </a:endParaRPr>
          </a:p>
        </p:txBody>
      </p:sp>
      <p:sp>
        <p:nvSpPr>
          <p:cNvPr id="30" name="Text 28"/>
          <p:cNvSpPr/>
          <p:nvPr/>
        </p:nvSpPr>
        <p:spPr>
          <a:xfrm>
            <a:off x="896112" y="5010912"/>
            <a:ext cx="9966960" cy="640080"/>
          </a:xfrm>
          <a:prstGeom prst="rect">
            <a:avLst/>
          </a:prstGeom>
          <a:noFill/>
          <a:ln/>
        </p:spPr>
        <p:txBody>
          <a:bodyPr wrap="square" lIns="0" tIns="0" rIns="0" bIns="0" rtlCol="0" anchor="ctr">
            <a:normAutofit/>
          </a:bodyPr>
          <a:lstStyle/>
          <a:p>
            <a:pPr marL="0" indent="0" algn="l">
              <a:buNone/>
            </a:pPr>
            <a:r>
              <a:rPr sz="1600" b="1">
                <a:solidFill>
                  <a:srgbClr val="FFFFFF"/>
                </a:solidFill>
                <a:latin typeface="Aptos Display"/>
              </a:rPr>
              <a:t>Repeated direct force on the fragile weigh pan is the strongest supported mechanical pathway; alignment and powder conditions remain contributing pathways that should be controlled and monitored.</a:t>
            </a:r>
            <a:endParaRPr lang="en-US" sz="1650" dirty="0"/>
          </a:p>
        </p:txBody>
      </p:sp>
      <p:sp>
        <p:nvSpPr>
          <p:cNvPr id="2" name="Slide Number Placeholder 0"/>
          <p:cNvSpPr>
            <a:spLocks noGrp="1"/>
          </p:cNvSpPr>
          <p:nvPr>
            <p:ph type="sldNum" sz="quarter" idx="4294967295"/>
          </p:nvPr>
        </p:nvSpPr>
        <p:spPr>
          <a:xfrm>
            <a:off x="11247120" y="6419088"/>
            <a:ext cx="457200" cy="201168"/>
          </a:xfrm>
          <a:prstGeom prst="rect">
            <a:avLst/>
          </a:prstGeom>
          <a:extLst>
            <a:ext uri="{C572A759-6A51-4108-AA02-DFA0A04FC94B}">
              <ma14:wrappingTextBoxFlag xmlns="" xmlns:ma14="http://schemas.microsoft.com/office/mac/drawingml/2011/main" val="0"/>
            </a:ext>
          </a:extLst>
        </p:spPr>
        <p:txBody>
          <a:bodyPr lIns="0" tIns="0" rIns="0" bIns="0"/>
          <a:lstStyle>
            <a:lvl1pPr>
              <a:defRPr sz="700">
                <a:solidFill>
                  <a:srgbClr val="89929D"/>
                </a:solidFill>
                <a:latin typeface="Inter"/>
                <a:ea typeface="Inter"/>
                <a:cs typeface="Inter"/>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560224" y="752094"/>
            <a:ext cx="10972800" cy="566928"/>
          </a:xfrm>
          <a:prstGeom prst="rect">
            <a:avLst/>
          </a:prstGeom>
          <a:noFill/>
          <a:ln/>
        </p:spPr>
        <p:txBody>
          <a:bodyPr wrap="square" lIns="0" tIns="0" rIns="0" bIns="0" rtlCol="0" anchor="ctr">
            <a:normAutofit/>
          </a:bodyPr>
          <a:lstStyle/>
          <a:p>
            <a:pPr marL="0" indent="0">
              <a:buNone/>
            </a:pPr>
            <a:r>
              <a:rPr lang="en-US" sz="2750" b="1" spc="-150" dirty="0">
                <a:solidFill>
                  <a:srgbClr val="0C1B2A"/>
                </a:solidFill>
                <a:latin typeface="Inter Display" pitchFamily="34" charset="0"/>
                <a:ea typeface="Inter Display" pitchFamily="34" charset="-122"/>
                <a:cs typeface="Inter Display" pitchFamily="34" charset="-120"/>
              </a:rPr>
              <a:t>Four failed / unavailable units</a:t>
            </a:r>
            <a:endParaRPr lang="en-US" sz="2750" spc="-150" dirty="0"/>
          </a:p>
        </p:txBody>
      </p:sp>
      <p:sp>
        <p:nvSpPr>
          <p:cNvPr id="7" name="Text 5"/>
          <p:cNvSpPr/>
          <p:nvPr/>
        </p:nvSpPr>
        <p:spPr>
          <a:xfrm>
            <a:off x="381791" y="1815084"/>
            <a:ext cx="11597640" cy="365760"/>
          </a:xfrm>
          <a:prstGeom prst="rect">
            <a:avLst/>
          </a:prstGeom>
          <a:noFill/>
          <a:ln/>
        </p:spPr>
        <p:txBody>
          <a:bodyPr wrap="square" lIns="0" tIns="0" rIns="0" bIns="0" rtlCol="0" anchor="ctr">
            <a:noAutofit/>
          </a:bodyPr>
          <a:lstStyle/>
          <a:p>
            <a:pPr marL="0" indent="0" algn="ctr">
              <a:buNone/>
            </a:pPr>
            <a:r>
              <a:rPr lang="en-US" sz="1600" dirty="0"/>
              <a:t>Mechanical Failure RCA basis upon historical evidence and observation.</a:t>
            </a:r>
          </a:p>
          <a:p>
            <a:pPr marL="0" indent="0" algn="ctr">
              <a:buNone/>
            </a:pPr>
            <a:r>
              <a:rPr lang="en-US" sz="1600" dirty="0"/>
              <a:t>Software Failure will be alleviated in the next phase of the Replacement and Reliability Plan.</a:t>
            </a:r>
          </a:p>
        </p:txBody>
      </p:sp>
      <p:sp>
        <p:nvSpPr>
          <p:cNvPr id="8" name="Shape 6"/>
          <p:cNvSpPr/>
          <p:nvPr/>
        </p:nvSpPr>
        <p:spPr>
          <a:xfrm>
            <a:off x="1960841" y="2478024"/>
            <a:ext cx="2898277" cy="2606040"/>
          </a:xfrm>
          <a:prstGeom prst="roundRect">
            <a:avLst>
              <a:gd name="adj" fmla="val 2837"/>
            </a:avLst>
          </a:prstGeom>
          <a:solidFill>
            <a:srgbClr val="FFFFFF"/>
          </a:solidFill>
          <a:ln w="10160">
            <a:solidFill>
              <a:srgbClr val="E0E3E5"/>
            </a:solidFill>
            <a:prstDash val="solid"/>
          </a:ln>
          <a:effectLst>
            <a:outerShdw algn="bl" rotWithShape="0">
              <a:srgbClr val="73808C">
                <a:alpha val="0"/>
              </a:srgbClr>
            </a:outerShdw>
          </a:effectLst>
        </p:spPr>
        <p:txBody>
          <a:bodyPr/>
          <a:lstStyle/>
          <a:p>
            <a:endParaRPr sz="2400"/>
          </a:p>
        </p:txBody>
      </p:sp>
      <p:sp>
        <p:nvSpPr>
          <p:cNvPr id="9" name="Text 7"/>
          <p:cNvSpPr/>
          <p:nvPr/>
        </p:nvSpPr>
        <p:spPr>
          <a:xfrm>
            <a:off x="2125433" y="2679192"/>
            <a:ext cx="1387473" cy="438912"/>
          </a:xfrm>
          <a:prstGeom prst="rect">
            <a:avLst/>
          </a:prstGeom>
          <a:noFill/>
          <a:ln/>
        </p:spPr>
        <p:txBody>
          <a:bodyPr wrap="square" lIns="0" tIns="0" rIns="0" bIns="0" rtlCol="0" anchor="ctr"/>
          <a:lstStyle/>
          <a:p>
            <a:pPr marL="0" indent="0">
              <a:buNone/>
            </a:pPr>
            <a:r>
              <a:rPr lang="en-US" sz="2800" b="1" dirty="0">
                <a:solidFill>
                  <a:srgbClr val="0C1B2A"/>
                </a:solidFill>
                <a:latin typeface="Inter Display" pitchFamily="34" charset="0"/>
                <a:ea typeface="Inter Display" pitchFamily="34" charset="-122"/>
                <a:cs typeface="Inter Display" pitchFamily="34" charset="-120"/>
              </a:rPr>
              <a:t>██████</a:t>
            </a:r>
            <a:endParaRPr lang="en-US" sz="2800" dirty="0"/>
          </a:p>
        </p:txBody>
      </p:sp>
      <p:sp>
        <p:nvSpPr>
          <p:cNvPr id="10" name="Text 8"/>
          <p:cNvSpPr/>
          <p:nvPr/>
        </p:nvSpPr>
        <p:spPr>
          <a:xfrm>
            <a:off x="3314153" y="2743200"/>
            <a:ext cx="1151089" cy="182880"/>
          </a:xfrm>
          <a:prstGeom prst="rect">
            <a:avLst/>
          </a:prstGeom>
          <a:noFill/>
          <a:ln/>
        </p:spPr>
        <p:txBody>
          <a:bodyPr wrap="square" lIns="0" tIns="0" rIns="0" bIns="0" rtlCol="0" anchor="ctr"/>
          <a:lstStyle/>
          <a:p>
            <a:pPr marL="0" indent="0" algn="r">
              <a:buNone/>
            </a:pPr>
            <a:r>
              <a:rPr lang="en-US" sz="900" dirty="0">
                <a:solidFill>
                  <a:srgbClr val="1554A9"/>
                </a:solidFill>
                <a:latin typeface="Inter" pitchFamily="34" charset="0"/>
                <a:ea typeface="Inter" pitchFamily="34" charset="-122"/>
                <a:cs typeface="Inter" pitchFamily="34" charset="-120"/>
              </a:rPr>
              <a:t>30-JUL-2026</a:t>
            </a:r>
            <a:endParaRPr lang="en-US" sz="900" dirty="0"/>
          </a:p>
        </p:txBody>
      </p:sp>
      <p:sp>
        <p:nvSpPr>
          <p:cNvPr id="11" name="Shape 9"/>
          <p:cNvSpPr/>
          <p:nvPr/>
        </p:nvSpPr>
        <p:spPr>
          <a:xfrm>
            <a:off x="2125433" y="3264408"/>
            <a:ext cx="2312455" cy="292608"/>
          </a:xfrm>
          <a:prstGeom prst="roundRect">
            <a:avLst>
              <a:gd name="adj" fmla="val 25000"/>
            </a:avLst>
          </a:prstGeom>
          <a:solidFill>
            <a:srgbClr val="F7E7E5"/>
          </a:solidFill>
          <a:ln w="12700">
            <a:solidFill>
              <a:srgbClr val="F7E7E5">
                <a:alpha val="0"/>
              </a:srgbClr>
            </a:solidFill>
            <a:prstDash val="solid"/>
          </a:ln>
        </p:spPr>
        <p:txBody>
          <a:bodyPr/>
          <a:lstStyle/>
          <a:p>
            <a:endParaRPr sz="2400"/>
          </a:p>
        </p:txBody>
      </p:sp>
      <p:sp>
        <p:nvSpPr>
          <p:cNvPr id="12" name="Text 10"/>
          <p:cNvSpPr/>
          <p:nvPr/>
        </p:nvSpPr>
        <p:spPr>
          <a:xfrm>
            <a:off x="2171153" y="3264408"/>
            <a:ext cx="2209679" cy="292608"/>
          </a:xfrm>
          <a:prstGeom prst="rect">
            <a:avLst/>
          </a:prstGeom>
          <a:noFill/>
          <a:ln/>
        </p:spPr>
        <p:txBody>
          <a:bodyPr wrap="square" lIns="0" tIns="0" rIns="0" bIns="0" rtlCol="0" anchor="ctr">
            <a:normAutofit/>
          </a:bodyPr>
          <a:lstStyle/>
          <a:p>
            <a:pPr marL="0" indent="0" algn="ctr">
              <a:buNone/>
            </a:pPr>
            <a:r>
              <a:rPr lang="en-US" sz="900" b="1" dirty="0">
                <a:solidFill>
                  <a:srgbClr val="C94848"/>
                </a:solidFill>
                <a:latin typeface="Inter" pitchFamily="34" charset="0"/>
                <a:ea typeface="Inter" pitchFamily="34" charset="-122"/>
                <a:cs typeface="Inter" pitchFamily="34" charset="-120"/>
              </a:rPr>
              <a:t>MECHANICAL</a:t>
            </a:r>
            <a:endParaRPr lang="en-US" sz="900" dirty="0"/>
          </a:p>
        </p:txBody>
      </p:sp>
      <p:sp>
        <p:nvSpPr>
          <p:cNvPr id="13" name="Text 11"/>
          <p:cNvSpPr/>
          <p:nvPr/>
        </p:nvSpPr>
        <p:spPr>
          <a:xfrm>
            <a:off x="2125434" y="3721608"/>
            <a:ext cx="2446064" cy="566928"/>
          </a:xfrm>
          <a:prstGeom prst="rect">
            <a:avLst/>
          </a:prstGeom>
          <a:noFill/>
          <a:ln/>
        </p:spPr>
        <p:txBody>
          <a:bodyPr wrap="square" lIns="0" tIns="0" rIns="0" bIns="0" rtlCol="0" anchor="ctr">
            <a:normAutofit/>
          </a:bodyPr>
          <a:lstStyle/>
          <a:p>
            <a:pPr marL="0" indent="0">
              <a:buNone/>
            </a:pPr>
            <a:r>
              <a:rPr lang="en-US" sz="1100" b="1" dirty="0">
                <a:solidFill>
                  <a:srgbClr val="0C1B2A"/>
                </a:solidFill>
                <a:latin typeface="Inter" pitchFamily="34" charset="0"/>
                <a:ea typeface="Inter" pitchFamily="34" charset="-122"/>
                <a:cs typeface="Inter" pitchFamily="34" charset="-120"/>
              </a:rPr>
              <a:t>Corner-load + linearity could not be adjusted</a:t>
            </a:r>
            <a:endParaRPr lang="en-US" sz="1100" dirty="0"/>
          </a:p>
        </p:txBody>
      </p:sp>
      <p:sp>
        <p:nvSpPr>
          <p:cNvPr id="14" name="Text 12"/>
          <p:cNvSpPr/>
          <p:nvPr/>
        </p:nvSpPr>
        <p:spPr>
          <a:xfrm>
            <a:off x="2125434" y="4416552"/>
            <a:ext cx="2446064" cy="475488"/>
          </a:xfrm>
          <a:prstGeom prst="rect">
            <a:avLst/>
          </a:prstGeom>
          <a:noFill/>
          <a:ln/>
        </p:spPr>
        <p:txBody>
          <a:bodyPr wrap="square" lIns="0" tIns="0" rIns="0" bIns="0" rtlCol="0" anchor="ctr">
            <a:normAutofit/>
          </a:bodyPr>
          <a:lstStyle/>
          <a:p>
            <a:pPr marL="0" indent="0">
              <a:buNone/>
            </a:pPr>
            <a:r>
              <a:rPr lang="en-US" sz="1050" dirty="0">
                <a:solidFill>
                  <a:srgbClr val="244365"/>
                </a:solidFill>
                <a:latin typeface="Inter" pitchFamily="34" charset="0"/>
                <a:ea typeface="Inter" pitchFamily="34" charset="-122"/>
                <a:cs typeface="Inter" pitchFamily="34" charset="-120"/>
              </a:rPr>
              <a:t>Pan tilted left; multiple scuffs</a:t>
            </a:r>
            <a:endParaRPr lang="en-US" sz="1050" dirty="0"/>
          </a:p>
        </p:txBody>
      </p:sp>
      <p:sp>
        <p:nvSpPr>
          <p:cNvPr id="15" name="Shape 13"/>
          <p:cNvSpPr/>
          <p:nvPr/>
        </p:nvSpPr>
        <p:spPr>
          <a:xfrm>
            <a:off x="4731473" y="2478024"/>
            <a:ext cx="2898277" cy="2606040"/>
          </a:xfrm>
          <a:prstGeom prst="roundRect">
            <a:avLst>
              <a:gd name="adj" fmla="val 2837"/>
            </a:avLst>
          </a:prstGeom>
          <a:solidFill>
            <a:srgbClr val="FFFFFF"/>
          </a:solidFill>
          <a:ln w="10160">
            <a:solidFill>
              <a:srgbClr val="E0E3E5"/>
            </a:solidFill>
            <a:prstDash val="solid"/>
          </a:ln>
          <a:effectLst>
            <a:outerShdw algn="bl" rotWithShape="0">
              <a:srgbClr val="73808C">
                <a:alpha val="0"/>
              </a:srgbClr>
            </a:outerShdw>
          </a:effectLst>
        </p:spPr>
        <p:txBody>
          <a:bodyPr/>
          <a:lstStyle/>
          <a:p>
            <a:endParaRPr sz="2400"/>
          </a:p>
        </p:txBody>
      </p:sp>
      <p:sp>
        <p:nvSpPr>
          <p:cNvPr id="16" name="Text 14"/>
          <p:cNvSpPr/>
          <p:nvPr/>
        </p:nvSpPr>
        <p:spPr>
          <a:xfrm>
            <a:off x="4896065" y="2679192"/>
            <a:ext cx="1387473" cy="438912"/>
          </a:xfrm>
          <a:prstGeom prst="rect">
            <a:avLst/>
          </a:prstGeom>
          <a:noFill/>
          <a:ln/>
        </p:spPr>
        <p:txBody>
          <a:bodyPr wrap="square" lIns="0" tIns="0" rIns="0" bIns="0" rtlCol="0" anchor="ctr"/>
          <a:lstStyle/>
          <a:p>
            <a:pPr marL="0" indent="0">
              <a:buNone/>
            </a:pPr>
            <a:r>
              <a:rPr lang="en-US" sz="2800" b="1" dirty="0">
                <a:solidFill>
                  <a:srgbClr val="0C1B2A"/>
                </a:solidFill>
                <a:latin typeface="Inter Display" pitchFamily="34" charset="0"/>
                <a:ea typeface="Inter Display" pitchFamily="34" charset="-122"/>
                <a:cs typeface="Inter Display" pitchFamily="34" charset="-120"/>
              </a:rPr>
              <a:t>██████</a:t>
            </a:r>
            <a:endParaRPr lang="en-US" sz="2800" dirty="0"/>
          </a:p>
        </p:txBody>
      </p:sp>
      <p:sp>
        <p:nvSpPr>
          <p:cNvPr id="17" name="Text 15"/>
          <p:cNvSpPr/>
          <p:nvPr/>
        </p:nvSpPr>
        <p:spPr>
          <a:xfrm>
            <a:off x="6084785" y="2743200"/>
            <a:ext cx="1151089" cy="182880"/>
          </a:xfrm>
          <a:prstGeom prst="rect">
            <a:avLst/>
          </a:prstGeom>
          <a:noFill/>
          <a:ln/>
        </p:spPr>
        <p:txBody>
          <a:bodyPr wrap="square" lIns="0" tIns="0" rIns="0" bIns="0" rtlCol="0" anchor="ctr"/>
          <a:lstStyle/>
          <a:p>
            <a:pPr marL="0" indent="0" algn="r">
              <a:buNone/>
            </a:pPr>
            <a:r>
              <a:rPr lang="en-US" sz="900" dirty="0">
                <a:solidFill>
                  <a:srgbClr val="1554A9"/>
                </a:solidFill>
                <a:latin typeface="Inter" pitchFamily="34" charset="0"/>
                <a:ea typeface="Inter" pitchFamily="34" charset="-122"/>
                <a:cs typeface="Inter" pitchFamily="34" charset="-120"/>
              </a:rPr>
              <a:t>24-AUG-2023</a:t>
            </a:r>
            <a:endParaRPr lang="en-US" sz="900" dirty="0"/>
          </a:p>
        </p:txBody>
      </p:sp>
      <p:sp>
        <p:nvSpPr>
          <p:cNvPr id="18" name="Shape 16"/>
          <p:cNvSpPr/>
          <p:nvPr/>
        </p:nvSpPr>
        <p:spPr>
          <a:xfrm>
            <a:off x="4896065" y="3264408"/>
            <a:ext cx="2312455" cy="292608"/>
          </a:xfrm>
          <a:prstGeom prst="roundRect">
            <a:avLst>
              <a:gd name="adj" fmla="val 25000"/>
            </a:avLst>
          </a:prstGeom>
          <a:solidFill>
            <a:srgbClr val="F7E7E5"/>
          </a:solidFill>
          <a:ln w="12700">
            <a:solidFill>
              <a:srgbClr val="F7E7E5">
                <a:alpha val="0"/>
              </a:srgbClr>
            </a:solidFill>
            <a:prstDash val="solid"/>
          </a:ln>
        </p:spPr>
        <p:txBody>
          <a:bodyPr/>
          <a:lstStyle/>
          <a:p>
            <a:endParaRPr sz="2400"/>
          </a:p>
        </p:txBody>
      </p:sp>
      <p:sp>
        <p:nvSpPr>
          <p:cNvPr id="19" name="Text 17"/>
          <p:cNvSpPr/>
          <p:nvPr/>
        </p:nvSpPr>
        <p:spPr>
          <a:xfrm>
            <a:off x="4941785" y="3264408"/>
            <a:ext cx="2209679" cy="292608"/>
          </a:xfrm>
          <a:prstGeom prst="rect">
            <a:avLst/>
          </a:prstGeom>
          <a:noFill/>
          <a:ln/>
        </p:spPr>
        <p:txBody>
          <a:bodyPr wrap="square" lIns="0" tIns="0" rIns="0" bIns="0" rtlCol="0" anchor="ctr">
            <a:normAutofit/>
          </a:bodyPr>
          <a:lstStyle/>
          <a:p>
            <a:pPr marL="0" indent="0" algn="ctr">
              <a:buNone/>
            </a:pPr>
            <a:r>
              <a:rPr lang="en-US" sz="900" b="1" dirty="0">
                <a:solidFill>
                  <a:srgbClr val="C94848"/>
                </a:solidFill>
                <a:latin typeface="Inter" pitchFamily="34" charset="0"/>
                <a:ea typeface="Inter" pitchFamily="34" charset="-122"/>
                <a:cs typeface="Inter" pitchFamily="34" charset="-120"/>
              </a:rPr>
              <a:t>MECHANICAL</a:t>
            </a:r>
            <a:endParaRPr lang="en-US" sz="900" dirty="0"/>
          </a:p>
        </p:txBody>
      </p:sp>
      <p:sp>
        <p:nvSpPr>
          <p:cNvPr id="20" name="Text 18"/>
          <p:cNvSpPr/>
          <p:nvPr/>
        </p:nvSpPr>
        <p:spPr>
          <a:xfrm>
            <a:off x="4933014" y="3781044"/>
            <a:ext cx="2446064" cy="694944"/>
          </a:xfrm>
          <a:prstGeom prst="rect">
            <a:avLst/>
          </a:prstGeom>
          <a:noFill/>
          <a:ln/>
        </p:spPr>
        <p:txBody>
          <a:bodyPr wrap="square" lIns="0" tIns="0" rIns="0" bIns="0" rtlCol="0" anchor="ctr">
            <a:normAutofit/>
          </a:bodyPr>
          <a:lstStyle/>
          <a:p>
            <a:pPr marL="0" indent="0">
              <a:buNone/>
            </a:pPr>
            <a:r>
              <a:rPr lang="en-US" sz="1100" b="1" dirty="0">
                <a:solidFill>
                  <a:srgbClr val="0C1B2A"/>
                </a:solidFill>
                <a:latin typeface="Inter" pitchFamily="34" charset="0"/>
                <a:ea typeface="Inter" pitchFamily="34" charset="-122"/>
                <a:cs typeface="Inter" pitchFamily="34" charset="-120"/>
              </a:rPr>
              <a:t>Failed corner load; could not be repaired</a:t>
            </a:r>
          </a:p>
          <a:p>
            <a:pPr marL="0" indent="0">
              <a:buNone/>
            </a:pPr>
            <a:endParaRPr lang="en-US" sz="1100" b="1" dirty="0">
              <a:solidFill>
                <a:srgbClr val="0C1B2A"/>
              </a:solidFill>
              <a:latin typeface="Inter" pitchFamily="34" charset="0"/>
              <a:ea typeface="Inter" pitchFamily="34" charset="-122"/>
            </a:endParaRPr>
          </a:p>
          <a:p>
            <a:pPr marL="0" indent="0">
              <a:buNone/>
            </a:pPr>
            <a:r>
              <a:rPr lang="en-US" sz="1100" b="1" dirty="0">
                <a:solidFill>
                  <a:srgbClr val="0C1B2A"/>
                </a:solidFill>
                <a:latin typeface="Inter" pitchFamily="34" charset="0"/>
                <a:ea typeface="Inter" pitchFamily="34" charset="-122"/>
              </a:rPr>
              <a:t>TW#151494 05-SEP-2023</a:t>
            </a:r>
            <a:endParaRPr lang="en-US" sz="1100" dirty="0"/>
          </a:p>
        </p:txBody>
      </p:sp>
      <p:sp>
        <p:nvSpPr>
          <p:cNvPr id="21" name="Text 19"/>
          <p:cNvSpPr/>
          <p:nvPr/>
        </p:nvSpPr>
        <p:spPr>
          <a:xfrm>
            <a:off x="4896066" y="4416552"/>
            <a:ext cx="2446064" cy="475488"/>
          </a:xfrm>
          <a:prstGeom prst="rect">
            <a:avLst/>
          </a:prstGeom>
          <a:noFill/>
          <a:ln/>
        </p:spPr>
        <p:txBody>
          <a:bodyPr wrap="square" lIns="0" tIns="0" rIns="0" bIns="0" rtlCol="0" anchor="ctr">
            <a:normAutofit/>
          </a:bodyPr>
          <a:lstStyle/>
          <a:p>
            <a:pPr marL="0" indent="0">
              <a:buNone/>
            </a:pPr>
            <a:r>
              <a:rPr lang="en-US" sz="1050" dirty="0">
                <a:solidFill>
                  <a:srgbClr val="244365"/>
                </a:solidFill>
                <a:latin typeface="Inter" pitchFamily="34" charset="0"/>
                <a:ea typeface="Inter" pitchFamily="34" charset="-122"/>
                <a:cs typeface="Inter" pitchFamily="34" charset="-120"/>
              </a:rPr>
              <a:t>Front springs visibly asymmetric</a:t>
            </a:r>
            <a:endParaRPr lang="en-US" sz="1050" dirty="0"/>
          </a:p>
        </p:txBody>
      </p:sp>
      <p:sp>
        <p:nvSpPr>
          <p:cNvPr id="22" name="Shape 20"/>
          <p:cNvSpPr/>
          <p:nvPr/>
        </p:nvSpPr>
        <p:spPr>
          <a:xfrm>
            <a:off x="7502105" y="2478024"/>
            <a:ext cx="2898277" cy="2606040"/>
          </a:xfrm>
          <a:prstGeom prst="roundRect">
            <a:avLst>
              <a:gd name="adj" fmla="val 2837"/>
            </a:avLst>
          </a:prstGeom>
          <a:solidFill>
            <a:srgbClr val="FFFFFF"/>
          </a:solidFill>
          <a:ln w="10160">
            <a:solidFill>
              <a:srgbClr val="E0E3E5"/>
            </a:solidFill>
            <a:prstDash val="solid"/>
          </a:ln>
          <a:effectLst>
            <a:outerShdw algn="bl" rotWithShape="0">
              <a:srgbClr val="73808C">
                <a:alpha val="0"/>
              </a:srgbClr>
            </a:outerShdw>
          </a:effectLst>
        </p:spPr>
        <p:txBody>
          <a:bodyPr/>
          <a:lstStyle/>
          <a:p>
            <a:endParaRPr sz="2400"/>
          </a:p>
        </p:txBody>
      </p:sp>
      <p:sp>
        <p:nvSpPr>
          <p:cNvPr id="23" name="Text 21"/>
          <p:cNvSpPr/>
          <p:nvPr/>
        </p:nvSpPr>
        <p:spPr>
          <a:xfrm>
            <a:off x="7666697" y="2679192"/>
            <a:ext cx="1387473" cy="438912"/>
          </a:xfrm>
          <a:prstGeom prst="rect">
            <a:avLst/>
          </a:prstGeom>
          <a:noFill/>
          <a:ln/>
        </p:spPr>
        <p:txBody>
          <a:bodyPr wrap="square" lIns="0" tIns="0" rIns="0" bIns="0" rtlCol="0" anchor="ctr"/>
          <a:lstStyle/>
          <a:p>
            <a:pPr marL="0" indent="0">
              <a:buNone/>
            </a:pPr>
            <a:r>
              <a:rPr lang="en-US" sz="2800" b="1" dirty="0">
                <a:solidFill>
                  <a:srgbClr val="0C1B2A"/>
                </a:solidFill>
                <a:latin typeface="Inter Display" pitchFamily="34" charset="0"/>
                <a:ea typeface="Inter Display" pitchFamily="34" charset="-122"/>
                <a:cs typeface="Inter Display" pitchFamily="34" charset="-120"/>
              </a:rPr>
              <a:t>██████</a:t>
            </a:r>
            <a:endParaRPr lang="en-US" sz="2800" dirty="0"/>
          </a:p>
        </p:txBody>
      </p:sp>
      <p:sp>
        <p:nvSpPr>
          <p:cNvPr id="24" name="Text 22"/>
          <p:cNvSpPr/>
          <p:nvPr/>
        </p:nvSpPr>
        <p:spPr>
          <a:xfrm>
            <a:off x="8855417" y="2743200"/>
            <a:ext cx="1151089" cy="182880"/>
          </a:xfrm>
          <a:prstGeom prst="rect">
            <a:avLst/>
          </a:prstGeom>
          <a:noFill/>
          <a:ln/>
        </p:spPr>
        <p:txBody>
          <a:bodyPr wrap="square" lIns="0" tIns="0" rIns="0" bIns="0" rtlCol="0" anchor="ctr"/>
          <a:lstStyle/>
          <a:p>
            <a:pPr marL="0" indent="0" algn="r">
              <a:buNone/>
            </a:pPr>
            <a:r>
              <a:rPr lang="en-US" sz="900" dirty="0">
                <a:solidFill>
                  <a:srgbClr val="1554A9"/>
                </a:solidFill>
                <a:latin typeface="Inter" pitchFamily="34" charset="0"/>
                <a:ea typeface="Inter" pitchFamily="34" charset="-122"/>
                <a:cs typeface="Inter" pitchFamily="34" charset="-120"/>
              </a:rPr>
              <a:t>21-JUL-2026</a:t>
            </a:r>
            <a:endParaRPr lang="en-US" sz="900" dirty="0"/>
          </a:p>
        </p:txBody>
      </p:sp>
      <p:sp>
        <p:nvSpPr>
          <p:cNvPr id="25" name="Shape 23"/>
          <p:cNvSpPr/>
          <p:nvPr/>
        </p:nvSpPr>
        <p:spPr>
          <a:xfrm>
            <a:off x="7666697" y="3264408"/>
            <a:ext cx="2312455" cy="292608"/>
          </a:xfrm>
          <a:prstGeom prst="roundRect">
            <a:avLst>
              <a:gd name="adj" fmla="val 25000"/>
            </a:avLst>
          </a:prstGeom>
          <a:solidFill>
            <a:srgbClr val="DFEBFA"/>
          </a:solidFill>
          <a:ln w="12700">
            <a:solidFill>
              <a:srgbClr val="DFEBFA">
                <a:alpha val="0"/>
              </a:srgbClr>
            </a:solidFill>
            <a:prstDash val="solid"/>
          </a:ln>
        </p:spPr>
        <p:txBody>
          <a:bodyPr/>
          <a:lstStyle/>
          <a:p>
            <a:endParaRPr sz="2400"/>
          </a:p>
        </p:txBody>
      </p:sp>
      <p:sp>
        <p:nvSpPr>
          <p:cNvPr id="26" name="Text 24"/>
          <p:cNvSpPr/>
          <p:nvPr/>
        </p:nvSpPr>
        <p:spPr>
          <a:xfrm>
            <a:off x="7712417" y="3264408"/>
            <a:ext cx="2209679" cy="292608"/>
          </a:xfrm>
          <a:prstGeom prst="rect">
            <a:avLst/>
          </a:prstGeom>
          <a:noFill/>
          <a:ln/>
        </p:spPr>
        <p:txBody>
          <a:bodyPr wrap="square" lIns="0" tIns="0" rIns="0" bIns="0" rtlCol="0" anchor="ctr">
            <a:normAutofit/>
          </a:bodyPr>
          <a:lstStyle/>
          <a:p>
            <a:pPr marL="0" indent="0" algn="ctr">
              <a:buNone/>
            </a:pPr>
            <a:r>
              <a:rPr lang="en-US" sz="900" b="1" dirty="0">
                <a:solidFill>
                  <a:srgbClr val="0D4C9D"/>
                </a:solidFill>
                <a:latin typeface="Inter" pitchFamily="34" charset="0"/>
                <a:ea typeface="Inter" pitchFamily="34" charset="-122"/>
                <a:cs typeface="Inter" pitchFamily="34" charset="-120"/>
              </a:rPr>
              <a:t>INTERFACE / ELECTRONIC</a:t>
            </a:r>
            <a:endParaRPr lang="en-US" sz="900" dirty="0"/>
          </a:p>
        </p:txBody>
      </p:sp>
      <p:sp>
        <p:nvSpPr>
          <p:cNvPr id="27" name="Text 25"/>
          <p:cNvSpPr/>
          <p:nvPr/>
        </p:nvSpPr>
        <p:spPr>
          <a:xfrm>
            <a:off x="7666698" y="3721608"/>
            <a:ext cx="2446064" cy="566928"/>
          </a:xfrm>
          <a:prstGeom prst="rect">
            <a:avLst/>
          </a:prstGeom>
          <a:noFill/>
          <a:ln/>
        </p:spPr>
        <p:txBody>
          <a:bodyPr wrap="square" lIns="0" tIns="0" rIns="0" bIns="0" rtlCol="0" anchor="ctr">
            <a:normAutofit/>
          </a:bodyPr>
          <a:lstStyle/>
          <a:p>
            <a:pPr marL="0" indent="0">
              <a:buNone/>
            </a:pPr>
            <a:r>
              <a:rPr lang="en-US" sz="1100" b="1" dirty="0">
                <a:solidFill>
                  <a:srgbClr val="0C1B2A"/>
                </a:solidFill>
                <a:latin typeface="Inter" pitchFamily="34" charset="0"/>
                <a:ea typeface="Inter" pitchFamily="34" charset="-122"/>
                <a:cs typeface="Inter" pitchFamily="34" charset="-120"/>
              </a:rPr>
              <a:t>Calibration software connection failure</a:t>
            </a:r>
            <a:endParaRPr lang="en-US" sz="1100" dirty="0"/>
          </a:p>
        </p:txBody>
      </p:sp>
      <p:sp>
        <p:nvSpPr>
          <p:cNvPr id="28" name="Text 26"/>
          <p:cNvSpPr/>
          <p:nvPr/>
        </p:nvSpPr>
        <p:spPr>
          <a:xfrm>
            <a:off x="7666698" y="4416552"/>
            <a:ext cx="2446064" cy="475488"/>
          </a:xfrm>
          <a:prstGeom prst="rect">
            <a:avLst/>
          </a:prstGeom>
          <a:noFill/>
          <a:ln/>
        </p:spPr>
        <p:txBody>
          <a:bodyPr wrap="square" lIns="0" tIns="0" rIns="0" bIns="0" rtlCol="0" anchor="ctr">
            <a:normAutofit/>
          </a:bodyPr>
          <a:lstStyle/>
          <a:p>
            <a:pPr marL="0" indent="0">
              <a:buNone/>
            </a:pPr>
            <a:r>
              <a:rPr lang="en-US" sz="1050" dirty="0">
                <a:solidFill>
                  <a:srgbClr val="244365"/>
                </a:solidFill>
                <a:latin typeface="Inter" pitchFamily="34" charset="0"/>
                <a:ea typeface="Inter" pitchFamily="34" charset="-122"/>
                <a:cs typeface="Inter" pitchFamily="34" charset="-120"/>
              </a:rPr>
              <a:t>No visible tilt, scuffs, or external damage</a:t>
            </a:r>
            <a:endParaRPr lang="en-US" sz="1050" dirty="0"/>
          </a:p>
        </p:txBody>
      </p:sp>
      <p:sp>
        <p:nvSpPr>
          <p:cNvPr id="36" name="Shape 34"/>
          <p:cNvSpPr/>
          <p:nvPr/>
        </p:nvSpPr>
        <p:spPr>
          <a:xfrm>
            <a:off x="621792" y="5449824"/>
            <a:ext cx="10991088" cy="658368"/>
          </a:xfrm>
          <a:prstGeom prst="roundRect">
            <a:avLst>
              <a:gd name="adj" fmla="val 11111"/>
            </a:avLst>
          </a:prstGeom>
          <a:solidFill>
            <a:srgbClr val="DFEBFA"/>
          </a:solidFill>
          <a:ln w="10160">
            <a:solidFill>
              <a:srgbClr val="DFEBFA"/>
            </a:solidFill>
            <a:prstDash val="solid"/>
          </a:ln>
        </p:spPr>
        <p:txBody>
          <a:bodyPr/>
          <a:lstStyle/>
          <a:p>
            <a:endParaRPr spc="-40"/>
          </a:p>
        </p:txBody>
      </p:sp>
      <p:sp>
        <p:nvSpPr>
          <p:cNvPr id="37" name="Text 35"/>
          <p:cNvSpPr/>
          <p:nvPr/>
        </p:nvSpPr>
        <p:spPr>
          <a:xfrm>
            <a:off x="777296" y="5550408"/>
            <a:ext cx="1097280" cy="374904"/>
          </a:xfrm>
          <a:prstGeom prst="rect">
            <a:avLst/>
          </a:prstGeom>
          <a:noFill/>
          <a:ln/>
        </p:spPr>
        <p:txBody>
          <a:bodyPr wrap="square" lIns="0" tIns="0" rIns="0" bIns="0" rtlCol="0" anchor="ctr"/>
          <a:lstStyle/>
          <a:p>
            <a:pPr marL="0" indent="0">
              <a:buNone/>
            </a:pPr>
            <a:r>
              <a:rPr lang="en-US" sz="1050" b="1" kern="0" spc="-40" dirty="0">
                <a:solidFill>
                  <a:srgbClr val="0D4C9D"/>
                </a:solidFill>
                <a:latin typeface="Inter" pitchFamily="34" charset="0"/>
                <a:ea typeface="Inter" pitchFamily="34" charset="-122"/>
                <a:cs typeface="Inter" pitchFamily="34" charset="-120"/>
              </a:rPr>
              <a:t>RCA boundary</a:t>
            </a:r>
            <a:endParaRPr lang="en-US" sz="1050" b="1" spc="-40" dirty="0"/>
          </a:p>
        </p:txBody>
      </p:sp>
      <p:sp>
        <p:nvSpPr>
          <p:cNvPr id="38" name="Text 36"/>
          <p:cNvSpPr/>
          <p:nvPr/>
        </p:nvSpPr>
        <p:spPr>
          <a:xfrm>
            <a:off x="1938528" y="5596128"/>
            <a:ext cx="9052560" cy="283464"/>
          </a:xfrm>
          <a:prstGeom prst="rect">
            <a:avLst/>
          </a:prstGeom>
          <a:noFill/>
          <a:ln/>
        </p:spPr>
        <p:txBody>
          <a:bodyPr wrap="square" lIns="0" tIns="0" rIns="0" bIns="0" rtlCol="0" anchor="ctr">
            <a:normAutofit/>
          </a:bodyPr>
          <a:lstStyle/>
          <a:p>
            <a:pPr marL="0" indent="0">
              <a:buNone/>
            </a:pPr>
            <a:r>
              <a:rPr lang="en-US" sz="1050" b="1" spc="-40" dirty="0">
                <a:solidFill>
                  <a:srgbClr val="0C1B2A"/>
                </a:solidFill>
                <a:latin typeface="Inter" pitchFamily="34" charset="0"/>
                <a:ea typeface="Inter" pitchFamily="34" charset="-122"/>
                <a:cs typeface="Inter" pitchFamily="34" charset="-120"/>
              </a:rPr>
              <a:t>Mechanical root-cause analysis: ██████ + ██████.  ██████ and ██████ remain separate failure modes requiring their own follow-up.</a:t>
            </a:r>
            <a:endParaRPr lang="en-US" sz="1050" spc="-40" dirty="0"/>
          </a:p>
        </p:txBody>
      </p:sp>
      <p:sp>
        <p:nvSpPr>
          <p:cNvPr id="2" name="Slide Number Placeholder 0"/>
          <p:cNvSpPr>
            <a:spLocks noGrp="1"/>
          </p:cNvSpPr>
          <p:nvPr>
            <p:ph type="sldNum" sz="quarter" idx="4294967295"/>
          </p:nvPr>
        </p:nvSpPr>
        <p:spPr>
          <a:xfrm>
            <a:off x="11247120" y="6419088"/>
            <a:ext cx="457200" cy="201168"/>
          </a:xfrm>
          <a:prstGeom prst="rect">
            <a:avLst/>
          </a:prstGeom>
          <a:extLst>
            <a:ext uri="{C572A759-6A51-4108-AA02-DFA0A04FC94B}">
              <ma14:wrappingTextBoxFlag xmlns="" xmlns:ma14="http://schemas.microsoft.com/office/mac/drawingml/2011/main" val="0"/>
            </a:ext>
          </a:extLst>
        </p:spPr>
        <p:txBody>
          <a:bodyPr lIns="0" tIns="0" rIns="0" bIns="0"/>
          <a:lstStyle>
            <a:lvl1pPr>
              <a:defRPr sz="700">
                <a:solidFill>
                  <a:srgbClr val="89929D"/>
                </a:solidFill>
                <a:latin typeface="Inter"/>
                <a:ea typeface="Inter"/>
                <a:cs typeface="Inter"/>
              </a:defRPr>
            </a:lvl1pPr>
          </a:lstStyle>
          <a:p>
            <a:pPr algn="r"/>
            <a:fld id="{F7021451-1387-4CA6-816F-3879F97B5CBC}" type="slidenum">
              <a:rPr lang="en-US" b="0" spc="-40"/>
              <a:t>3</a:t>
            </a:fld>
            <a:endParaRPr lang="en-US" spc="-4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504181" y="539866"/>
            <a:ext cx="10972800" cy="566928"/>
          </a:xfrm>
          <a:prstGeom prst="rect">
            <a:avLst/>
          </a:prstGeom>
          <a:noFill/>
          <a:ln/>
        </p:spPr>
        <p:txBody>
          <a:bodyPr wrap="square" lIns="0" tIns="0" rIns="0" bIns="0" rtlCol="0" anchor="ctr">
            <a:normAutofit/>
          </a:bodyPr>
          <a:lstStyle/>
          <a:p>
            <a:pPr marL="0" indent="0">
              <a:buNone/>
            </a:pPr>
            <a:r>
              <a:rPr lang="en-US" sz="2750" b="1" spc="-150" dirty="0">
                <a:solidFill>
                  <a:srgbClr val="0C1B2A"/>
                </a:solidFill>
                <a:latin typeface="Inter Display" pitchFamily="34" charset="0"/>
                <a:ea typeface="Inter Display" pitchFamily="34" charset="-122"/>
                <a:cs typeface="Inter Display" pitchFamily="34" charset="-120"/>
              </a:rPr>
              <a:t>Mechanical abnormalities are visible on both corner-load failures</a:t>
            </a:r>
            <a:endParaRPr lang="en-US" sz="2750" spc="-150" dirty="0"/>
          </a:p>
        </p:txBody>
      </p:sp>
      <p:sp>
        <p:nvSpPr>
          <p:cNvPr id="7" name="Shape 5"/>
          <p:cNvSpPr/>
          <p:nvPr/>
        </p:nvSpPr>
        <p:spPr>
          <a:xfrm>
            <a:off x="574980" y="1954628"/>
            <a:ext cx="3841860" cy="3695674"/>
          </a:xfrm>
          <a:prstGeom prst="roundRect">
            <a:avLst>
              <a:gd name="adj" fmla="val 2062"/>
            </a:avLst>
          </a:prstGeom>
          <a:solidFill>
            <a:srgbClr val="FFFFFF"/>
          </a:solidFill>
          <a:ln w="10160">
            <a:solidFill>
              <a:srgbClr val="E0E3E5"/>
            </a:solidFill>
            <a:prstDash val="solid"/>
          </a:ln>
          <a:effectLst>
            <a:outerShdw algn="bl" rotWithShape="0">
              <a:srgbClr val="73808C">
                <a:alpha val="0"/>
              </a:srgbClr>
            </a:outerShdw>
          </a:effectLst>
        </p:spPr>
        <p:txBody>
          <a:bodyPr/>
          <a:lstStyle/>
          <a:p>
            <a:endParaRPr/>
          </a:p>
        </p:txBody>
      </p:sp>
      <p:sp>
        <p:nvSpPr>
          <p:cNvPr id="8" name="Shape 6"/>
          <p:cNvSpPr/>
          <p:nvPr/>
        </p:nvSpPr>
        <p:spPr>
          <a:xfrm>
            <a:off x="846192" y="2023443"/>
            <a:ext cx="962050" cy="392016"/>
          </a:xfrm>
          <a:prstGeom prst="roundRect">
            <a:avLst>
              <a:gd name="adj" fmla="val 25000"/>
            </a:avLst>
          </a:prstGeom>
          <a:solidFill>
            <a:srgbClr val="F7E7E5"/>
          </a:solidFill>
          <a:ln w="12700">
            <a:solidFill>
              <a:srgbClr val="F7E7E5">
                <a:alpha val="0"/>
              </a:srgbClr>
            </a:solidFill>
            <a:prstDash val="solid"/>
          </a:ln>
        </p:spPr>
        <p:txBody>
          <a:bodyPr/>
          <a:lstStyle/>
          <a:p>
            <a:endParaRPr/>
          </a:p>
        </p:txBody>
      </p:sp>
      <p:sp>
        <p:nvSpPr>
          <p:cNvPr id="9" name="Text 7"/>
          <p:cNvSpPr/>
          <p:nvPr/>
        </p:nvSpPr>
        <p:spPr>
          <a:xfrm>
            <a:off x="891911" y="2023443"/>
            <a:ext cx="861837" cy="392016"/>
          </a:xfrm>
          <a:prstGeom prst="rect">
            <a:avLst/>
          </a:prstGeom>
          <a:noFill/>
          <a:ln/>
        </p:spPr>
        <p:txBody>
          <a:bodyPr wrap="square" lIns="0" tIns="0" rIns="0" bIns="0" rtlCol="0" anchor="ctr">
            <a:normAutofit/>
          </a:bodyPr>
          <a:lstStyle/>
          <a:p>
            <a:pPr marL="0" indent="0" algn="ctr">
              <a:buNone/>
            </a:pPr>
            <a:r>
              <a:rPr lang="en-US" sz="1400" b="1" dirty="0">
                <a:solidFill>
                  <a:srgbClr val="C94848"/>
                </a:solidFill>
                <a:latin typeface="Inter" pitchFamily="34" charset="0"/>
                <a:ea typeface="Inter" pitchFamily="34" charset="-122"/>
                <a:cs typeface="Inter" pitchFamily="34" charset="-120"/>
              </a:rPr>
              <a:t>██████</a:t>
            </a:r>
            <a:endParaRPr lang="en-US" sz="1400" dirty="0"/>
          </a:p>
        </p:txBody>
      </p:sp>
      <p:sp>
        <p:nvSpPr>
          <p:cNvPr id="10" name="Text 8"/>
          <p:cNvSpPr/>
          <p:nvPr/>
        </p:nvSpPr>
        <p:spPr>
          <a:xfrm>
            <a:off x="873799" y="2603852"/>
            <a:ext cx="3103094" cy="347472"/>
          </a:xfrm>
          <a:prstGeom prst="rect">
            <a:avLst/>
          </a:prstGeom>
          <a:noFill/>
          <a:ln/>
        </p:spPr>
        <p:txBody>
          <a:bodyPr wrap="square" lIns="0" tIns="0" rIns="0" bIns="0" rtlCol="0" anchor="ctr"/>
          <a:lstStyle/>
          <a:p>
            <a:pPr marL="0" indent="0">
              <a:buNone/>
            </a:pPr>
            <a:r>
              <a:rPr lang="en-US" sz="1650" b="1" dirty="0">
                <a:solidFill>
                  <a:srgbClr val="0C1B2A"/>
                </a:solidFill>
                <a:latin typeface="Inter Display" pitchFamily="34" charset="0"/>
                <a:ea typeface="Inter Display" pitchFamily="34" charset="-122"/>
                <a:cs typeface="Inter Display" pitchFamily="34" charset="-120"/>
              </a:rPr>
              <a:t>Tilted weigh pan + scuff marks</a:t>
            </a:r>
            <a:endParaRPr lang="en-US" sz="1650" dirty="0"/>
          </a:p>
        </p:txBody>
      </p:sp>
      <p:sp>
        <p:nvSpPr>
          <p:cNvPr id="11" name="Text 9"/>
          <p:cNvSpPr/>
          <p:nvPr/>
        </p:nvSpPr>
        <p:spPr>
          <a:xfrm>
            <a:off x="873798" y="3015332"/>
            <a:ext cx="3448151" cy="502920"/>
          </a:xfrm>
          <a:prstGeom prst="rect">
            <a:avLst/>
          </a:prstGeom>
          <a:noFill/>
          <a:ln/>
        </p:spPr>
        <p:txBody>
          <a:bodyPr wrap="square" lIns="0" tIns="0" rIns="0" bIns="0" rtlCol="0" anchor="ctr">
            <a:normAutofit/>
          </a:bodyPr>
          <a:lstStyle/>
          <a:p>
            <a:pPr marL="0" indent="0">
              <a:buNone/>
            </a:pPr>
            <a:r>
              <a:rPr lang="en-US" sz="1030" dirty="0">
                <a:solidFill>
                  <a:srgbClr val="244365"/>
                </a:solidFill>
                <a:latin typeface="Inter" pitchFamily="34" charset="0"/>
                <a:ea typeface="Inter" pitchFamily="34" charset="-122"/>
                <a:cs typeface="Inter" pitchFamily="34" charset="-120"/>
              </a:rPr>
              <a:t>Failed manufacturer specification; corner load and linearity could not be adjusted.</a:t>
            </a:r>
            <a:endParaRPr lang="en-US" sz="1030" dirty="0"/>
          </a:p>
        </p:txBody>
      </p:sp>
      <p:sp>
        <p:nvSpPr>
          <p:cNvPr id="20" name="Text 18"/>
          <p:cNvSpPr/>
          <p:nvPr/>
        </p:nvSpPr>
        <p:spPr>
          <a:xfrm>
            <a:off x="1038390" y="3759572"/>
            <a:ext cx="3378450" cy="585216"/>
          </a:xfrm>
          <a:prstGeom prst="rect">
            <a:avLst/>
          </a:prstGeom>
          <a:noFill/>
          <a:ln/>
        </p:spPr>
        <p:txBody>
          <a:bodyPr wrap="square" lIns="0" tIns="0" rIns="0" bIns="0" rtlCol="0" anchor="ctr">
            <a:normAutofit/>
          </a:bodyPr>
          <a:lstStyle/>
          <a:p>
            <a:pPr marL="0" indent="0">
              <a:buNone/>
            </a:pPr>
            <a:r>
              <a:rPr lang="en-US" sz="1100" dirty="0">
                <a:solidFill>
                  <a:srgbClr val="244365"/>
                </a:solidFill>
                <a:latin typeface="Inter" pitchFamily="34" charset="0"/>
                <a:ea typeface="Inter" pitchFamily="34" charset="-122"/>
                <a:cs typeface="Inter" pitchFamily="34" charset="-120"/>
              </a:rPr>
              <a:t>Visible geometry is consistent with deformation / misalignment.</a:t>
            </a:r>
            <a:endParaRPr lang="en-US" sz="1100" dirty="0"/>
          </a:p>
        </p:txBody>
      </p:sp>
      <p:sp>
        <p:nvSpPr>
          <p:cNvPr id="22" name="Text 20"/>
          <p:cNvSpPr/>
          <p:nvPr/>
        </p:nvSpPr>
        <p:spPr>
          <a:xfrm>
            <a:off x="1038389" y="4398460"/>
            <a:ext cx="3378449" cy="585216"/>
          </a:xfrm>
          <a:prstGeom prst="rect">
            <a:avLst/>
          </a:prstGeom>
          <a:noFill/>
          <a:ln/>
        </p:spPr>
        <p:txBody>
          <a:bodyPr wrap="square" lIns="0" tIns="0" rIns="0" bIns="0" rtlCol="0" anchor="ctr">
            <a:normAutofit/>
          </a:bodyPr>
          <a:lstStyle/>
          <a:p>
            <a:pPr marL="0" indent="0">
              <a:buNone/>
            </a:pPr>
            <a:r>
              <a:rPr lang="en-US" sz="1100" dirty="0">
                <a:solidFill>
                  <a:srgbClr val="244365"/>
                </a:solidFill>
                <a:latin typeface="Inter" pitchFamily="34" charset="0"/>
                <a:ea typeface="Inter" pitchFamily="34" charset="-122"/>
                <a:cs typeface="Inter" pitchFamily="34" charset="-120"/>
              </a:rPr>
              <a:t>The exact time and loading event that produced the deformation is not directly observed.</a:t>
            </a:r>
            <a:endParaRPr lang="en-US" sz="1100" dirty="0"/>
          </a:p>
        </p:txBody>
      </p:sp>
      <p:sp>
        <p:nvSpPr>
          <p:cNvPr id="2" name="Slide Number Placeholder 0"/>
          <p:cNvSpPr>
            <a:spLocks noGrp="1"/>
          </p:cNvSpPr>
          <p:nvPr>
            <p:ph type="sldNum" sz="quarter" idx="4294967295"/>
          </p:nvPr>
        </p:nvSpPr>
        <p:spPr>
          <a:xfrm>
            <a:off x="11247120" y="6419088"/>
            <a:ext cx="457200" cy="201168"/>
          </a:xfrm>
          <a:prstGeom prst="rect">
            <a:avLst/>
          </a:prstGeom>
          <a:extLst>
            <a:ext uri="{C572A759-6A51-4108-AA02-DFA0A04FC94B}">
              <ma14:wrappingTextBoxFlag xmlns="" xmlns:ma14="http://schemas.microsoft.com/office/mac/drawingml/2011/main" val="0"/>
            </a:ext>
          </a:extLst>
        </p:spPr>
        <p:txBody>
          <a:bodyPr lIns="0" tIns="0" rIns="0" bIns="0"/>
          <a:lstStyle>
            <a:lvl1pPr>
              <a:defRPr sz="700">
                <a:solidFill>
                  <a:srgbClr val="89929D"/>
                </a:solidFill>
                <a:latin typeface="Inter"/>
                <a:ea typeface="Inter"/>
                <a:cs typeface="Inter"/>
              </a:defRPr>
            </a:lvl1pPr>
          </a:lstStyle>
          <a:p>
            <a:pPr algn="r"/>
            <a:fld id="{F7021451-1387-4CA6-816F-3879F97B5CBC}" type="slidenum">
              <a:rPr lang="en-US" b="0"/>
              <a:t>4</a:t>
            </a:fld>
            <a:endParaRPr lang="en-US"/>
          </a:p>
        </p:txBody>
      </p:sp>
      <p:sp>
        <p:nvSpPr>
          <p:cNvPr id="13" name="Shape 32">
            <a:extLst>
              <a:ext uri="{FF2B5EF4-FFF2-40B4-BE49-F238E27FC236}">
                <a16:creationId xmlns:a16="http://schemas.microsoft.com/office/drawing/2014/main" id="{6896A546-6809-04AD-31A8-F984C07C21CA}"/>
              </a:ext>
            </a:extLst>
          </p:cNvPr>
          <p:cNvSpPr/>
          <p:nvPr/>
        </p:nvSpPr>
        <p:spPr>
          <a:xfrm>
            <a:off x="871357" y="3945832"/>
            <a:ext cx="112455" cy="73152"/>
          </a:xfrm>
          <a:prstGeom prst="ellipse">
            <a:avLst/>
          </a:prstGeom>
          <a:solidFill>
            <a:srgbClr val="C94848"/>
          </a:solidFill>
          <a:ln w="12700">
            <a:solidFill>
              <a:srgbClr val="C94848">
                <a:alpha val="0"/>
              </a:srgbClr>
            </a:solidFill>
            <a:prstDash val="solid"/>
          </a:ln>
        </p:spPr>
        <p:txBody>
          <a:bodyPr/>
          <a:lstStyle/>
          <a:p>
            <a:endParaRPr sz="2800"/>
          </a:p>
        </p:txBody>
      </p:sp>
      <p:sp>
        <p:nvSpPr>
          <p:cNvPr id="15" name="Shape 34">
            <a:extLst>
              <a:ext uri="{FF2B5EF4-FFF2-40B4-BE49-F238E27FC236}">
                <a16:creationId xmlns:a16="http://schemas.microsoft.com/office/drawing/2014/main" id="{9E2DC4BA-A2C4-4379-86CE-EF4858EF9820}"/>
              </a:ext>
            </a:extLst>
          </p:cNvPr>
          <p:cNvSpPr/>
          <p:nvPr/>
        </p:nvSpPr>
        <p:spPr>
          <a:xfrm>
            <a:off x="779399" y="4549336"/>
            <a:ext cx="208294" cy="228600"/>
          </a:xfrm>
          <a:prstGeom prst="ellipse">
            <a:avLst/>
          </a:prstGeom>
          <a:solidFill>
            <a:srgbClr val="C94848"/>
          </a:solidFill>
          <a:ln w="12700">
            <a:solidFill>
              <a:srgbClr val="C94848">
                <a:alpha val="0"/>
              </a:srgbClr>
            </a:solidFill>
            <a:prstDash val="solid"/>
          </a:ln>
        </p:spPr>
        <p:txBody>
          <a:bodyPr/>
          <a:lstStyle/>
          <a:p>
            <a:endParaRPr sz="2800"/>
          </a:p>
        </p:txBody>
      </p:sp>
      <p:sp>
        <p:nvSpPr>
          <p:cNvPr id="17" name="Shape 34">
            <a:extLst>
              <a:ext uri="{FF2B5EF4-FFF2-40B4-BE49-F238E27FC236}">
                <a16:creationId xmlns:a16="http://schemas.microsoft.com/office/drawing/2014/main" id="{465E0FB0-76D7-2C60-73F1-A1D82254B1AB}"/>
              </a:ext>
            </a:extLst>
          </p:cNvPr>
          <p:cNvSpPr/>
          <p:nvPr/>
        </p:nvSpPr>
        <p:spPr>
          <a:xfrm>
            <a:off x="780342" y="3904684"/>
            <a:ext cx="208294" cy="228600"/>
          </a:xfrm>
          <a:prstGeom prst="ellipse">
            <a:avLst/>
          </a:prstGeom>
          <a:solidFill>
            <a:srgbClr val="C94848"/>
          </a:solidFill>
          <a:ln w="12700">
            <a:solidFill>
              <a:srgbClr val="C94848">
                <a:alpha val="0"/>
              </a:srgbClr>
            </a:solidFill>
            <a:prstDash val="solid"/>
          </a:ln>
        </p:spPr>
        <p:txBody>
          <a:bodyPr/>
          <a:lstStyle/>
          <a:p>
            <a:endParaRPr sz="2800"/>
          </a:p>
        </p:txBody>
      </p:sp>
      <p:pic>
        <p:nvPicPr>
          <p:cNvPr id="39" name="Picture 38">
            <a:extLst>
              <a:ext uri="{FF2B5EF4-FFF2-40B4-BE49-F238E27FC236}">
                <a16:creationId xmlns:a16="http://schemas.microsoft.com/office/drawing/2014/main" id="{BDE25B07-D323-6E15-F734-9BF8064C5B34}"/>
              </a:ext>
            </a:extLst>
          </p:cNvPr>
          <p:cNvPicPr>
            <a:picLocks noChangeAspect="1"/>
          </p:cNvPicPr>
          <p:nvPr/>
        </p:nvPicPr>
        <p:blipFill>
          <a:blip r:embed="rId3"/>
          <a:stretch>
            <a:fillRect/>
          </a:stretch>
        </p:blipFill>
        <p:spPr>
          <a:xfrm>
            <a:off x="4900890" y="1260512"/>
            <a:ext cx="5896798" cy="2257740"/>
          </a:xfrm>
          <a:prstGeom prst="rect">
            <a:avLst/>
          </a:prstGeom>
        </p:spPr>
      </p:pic>
      <p:pic>
        <p:nvPicPr>
          <p:cNvPr id="41" name="Picture 40">
            <a:extLst>
              <a:ext uri="{FF2B5EF4-FFF2-40B4-BE49-F238E27FC236}">
                <a16:creationId xmlns:a16="http://schemas.microsoft.com/office/drawing/2014/main" id="{93DB89A3-2D49-BCD7-CF5B-6067D39603B9}"/>
              </a:ext>
            </a:extLst>
          </p:cNvPr>
          <p:cNvPicPr>
            <a:picLocks noChangeAspect="1"/>
          </p:cNvPicPr>
          <p:nvPr/>
        </p:nvPicPr>
        <p:blipFill>
          <a:blip r:embed="rId4"/>
          <a:srcRect l="2352"/>
          <a:stretch>
            <a:fillRect/>
          </a:stretch>
        </p:blipFill>
        <p:spPr>
          <a:xfrm>
            <a:off x="5648751" y="3401706"/>
            <a:ext cx="4252822" cy="311796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9048DB7-EF8C-97D9-009C-671AF69FAE7A}"/>
              </a:ext>
            </a:extLst>
          </p:cNvPr>
          <p:cNvSpPr/>
          <p:nvPr/>
        </p:nvSpPr>
        <p:spPr>
          <a:xfrm>
            <a:off x="0" y="0"/>
            <a:ext cx="12192000" cy="691838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4" name="Text 3">
            <a:extLst>
              <a:ext uri="{FF2B5EF4-FFF2-40B4-BE49-F238E27FC236}">
                <a16:creationId xmlns:a16="http://schemas.microsoft.com/office/drawing/2014/main" id="{117ADE2F-EB1B-56E9-FC22-7798CC3D1507}"/>
              </a:ext>
            </a:extLst>
          </p:cNvPr>
          <p:cNvSpPr/>
          <p:nvPr/>
        </p:nvSpPr>
        <p:spPr>
          <a:xfrm>
            <a:off x="432516" y="496820"/>
            <a:ext cx="10972800" cy="566928"/>
          </a:xfrm>
          <a:prstGeom prst="rect">
            <a:avLst/>
          </a:prstGeom>
          <a:noFill/>
          <a:ln/>
        </p:spPr>
        <p:txBody>
          <a:bodyPr wrap="square" lIns="0" tIns="0" rIns="0" bIns="0" rtlCol="0" anchor="ctr">
            <a:normAutofit/>
          </a:bodyPr>
          <a:lstStyle/>
          <a:p>
            <a:pPr marL="0" indent="0">
              <a:buNone/>
            </a:pPr>
            <a:r>
              <a:rPr lang="en-US" sz="2750" b="1" spc="-150" dirty="0">
                <a:solidFill>
                  <a:srgbClr val="0C1B2A"/>
                </a:solidFill>
                <a:latin typeface="Inter Display" pitchFamily="34" charset="0"/>
                <a:ea typeface="Inter Display" pitchFamily="34" charset="-122"/>
                <a:cs typeface="Inter Display" pitchFamily="34" charset="-120"/>
              </a:rPr>
              <a:t>Mechanical abnormalities are visible on both corner-load failures</a:t>
            </a:r>
            <a:endParaRPr lang="en-US" sz="2750" spc="-150" dirty="0"/>
          </a:p>
        </p:txBody>
      </p:sp>
      <p:sp>
        <p:nvSpPr>
          <p:cNvPr id="6" name="Shape 21">
            <a:extLst>
              <a:ext uri="{FF2B5EF4-FFF2-40B4-BE49-F238E27FC236}">
                <a16:creationId xmlns:a16="http://schemas.microsoft.com/office/drawing/2014/main" id="{90F1DC6E-CB19-E47B-0A3A-E4C12A81CE03}"/>
              </a:ext>
            </a:extLst>
          </p:cNvPr>
          <p:cNvSpPr/>
          <p:nvPr/>
        </p:nvSpPr>
        <p:spPr>
          <a:xfrm>
            <a:off x="432516" y="1585275"/>
            <a:ext cx="4148109" cy="4292885"/>
          </a:xfrm>
          <a:prstGeom prst="roundRect">
            <a:avLst>
              <a:gd name="adj" fmla="val 2062"/>
            </a:avLst>
          </a:prstGeom>
          <a:solidFill>
            <a:srgbClr val="FFFFFF"/>
          </a:solidFill>
          <a:ln w="10160">
            <a:solidFill>
              <a:srgbClr val="E0E3E5"/>
            </a:solidFill>
            <a:prstDash val="solid"/>
          </a:ln>
          <a:effectLst>
            <a:outerShdw algn="bl" rotWithShape="0">
              <a:srgbClr val="73808C">
                <a:alpha val="0"/>
              </a:srgbClr>
            </a:outerShdw>
          </a:effectLst>
        </p:spPr>
        <p:txBody>
          <a:bodyPr/>
          <a:lstStyle/>
          <a:p>
            <a:endParaRPr dirty="0"/>
          </a:p>
        </p:txBody>
      </p:sp>
      <p:sp>
        <p:nvSpPr>
          <p:cNvPr id="8" name="Shape 22">
            <a:extLst>
              <a:ext uri="{FF2B5EF4-FFF2-40B4-BE49-F238E27FC236}">
                <a16:creationId xmlns:a16="http://schemas.microsoft.com/office/drawing/2014/main" id="{271E97AD-D365-CCEB-BECA-B8F54F9B5EF2}"/>
              </a:ext>
            </a:extLst>
          </p:cNvPr>
          <p:cNvSpPr/>
          <p:nvPr/>
        </p:nvSpPr>
        <p:spPr>
          <a:xfrm>
            <a:off x="654257" y="1739108"/>
            <a:ext cx="984389" cy="419369"/>
          </a:xfrm>
          <a:prstGeom prst="roundRect">
            <a:avLst>
              <a:gd name="adj" fmla="val 25000"/>
            </a:avLst>
          </a:prstGeom>
          <a:solidFill>
            <a:srgbClr val="F7E7E5"/>
          </a:solidFill>
          <a:ln w="12700">
            <a:solidFill>
              <a:srgbClr val="F7E7E5">
                <a:alpha val="0"/>
              </a:srgbClr>
            </a:solidFill>
            <a:prstDash val="solid"/>
          </a:ln>
        </p:spPr>
        <p:txBody>
          <a:bodyPr/>
          <a:lstStyle/>
          <a:p>
            <a:endParaRPr/>
          </a:p>
        </p:txBody>
      </p:sp>
      <p:sp>
        <p:nvSpPr>
          <p:cNvPr id="10" name="Text 23">
            <a:extLst>
              <a:ext uri="{FF2B5EF4-FFF2-40B4-BE49-F238E27FC236}">
                <a16:creationId xmlns:a16="http://schemas.microsoft.com/office/drawing/2014/main" id="{4C0BB69F-413D-3B48-FB6A-8896E9E72937}"/>
              </a:ext>
            </a:extLst>
          </p:cNvPr>
          <p:cNvSpPr/>
          <p:nvPr/>
        </p:nvSpPr>
        <p:spPr>
          <a:xfrm>
            <a:off x="699631" y="1739108"/>
            <a:ext cx="881849" cy="419369"/>
          </a:xfrm>
          <a:prstGeom prst="rect">
            <a:avLst/>
          </a:prstGeom>
          <a:noFill/>
          <a:ln/>
        </p:spPr>
        <p:txBody>
          <a:bodyPr wrap="square" lIns="0" tIns="0" rIns="0" bIns="0" rtlCol="0" anchor="ctr">
            <a:normAutofit/>
          </a:bodyPr>
          <a:lstStyle/>
          <a:p>
            <a:pPr marL="0" indent="0" algn="ctr">
              <a:buNone/>
            </a:pPr>
            <a:r>
              <a:rPr lang="en-US" sz="1400" b="1" dirty="0">
                <a:solidFill>
                  <a:srgbClr val="C94848"/>
                </a:solidFill>
                <a:latin typeface="Inter" pitchFamily="34" charset="0"/>
                <a:ea typeface="Inter" pitchFamily="34" charset="-122"/>
                <a:cs typeface="Inter" pitchFamily="34" charset="-120"/>
              </a:rPr>
              <a:t>██████</a:t>
            </a:r>
            <a:endParaRPr lang="en-US" sz="1400" dirty="0"/>
          </a:p>
        </p:txBody>
      </p:sp>
      <p:sp>
        <p:nvSpPr>
          <p:cNvPr id="12" name="Text 24">
            <a:extLst>
              <a:ext uri="{FF2B5EF4-FFF2-40B4-BE49-F238E27FC236}">
                <a16:creationId xmlns:a16="http://schemas.microsoft.com/office/drawing/2014/main" id="{C8CBA073-8B8B-D85F-2152-A7BD24634CE2}"/>
              </a:ext>
            </a:extLst>
          </p:cNvPr>
          <p:cNvSpPr/>
          <p:nvPr/>
        </p:nvSpPr>
        <p:spPr>
          <a:xfrm>
            <a:off x="697694" y="2355701"/>
            <a:ext cx="2968532" cy="347472"/>
          </a:xfrm>
          <a:prstGeom prst="rect">
            <a:avLst/>
          </a:prstGeom>
          <a:noFill/>
          <a:ln/>
        </p:spPr>
        <p:txBody>
          <a:bodyPr wrap="square" lIns="0" tIns="0" rIns="0" bIns="0" rtlCol="0" anchor="ctr"/>
          <a:lstStyle/>
          <a:p>
            <a:pPr marL="0" indent="0">
              <a:buNone/>
            </a:pPr>
            <a:r>
              <a:rPr lang="en-US" sz="1650" b="1" dirty="0">
                <a:solidFill>
                  <a:srgbClr val="0C1B2A"/>
                </a:solidFill>
                <a:latin typeface="Inter Display" pitchFamily="34" charset="0"/>
                <a:ea typeface="Inter Display" pitchFamily="34" charset="-122"/>
                <a:cs typeface="Inter Display" pitchFamily="34" charset="-120"/>
              </a:rPr>
              <a:t>Asymmetric front springs</a:t>
            </a:r>
            <a:endParaRPr lang="en-US" sz="1650" dirty="0"/>
          </a:p>
        </p:txBody>
      </p:sp>
      <p:sp>
        <p:nvSpPr>
          <p:cNvPr id="14" name="Text 25">
            <a:extLst>
              <a:ext uri="{FF2B5EF4-FFF2-40B4-BE49-F238E27FC236}">
                <a16:creationId xmlns:a16="http://schemas.microsoft.com/office/drawing/2014/main" id="{3F7A9B5B-21D3-4B7D-85B0-5E0D7687B058}"/>
              </a:ext>
            </a:extLst>
          </p:cNvPr>
          <p:cNvSpPr/>
          <p:nvPr/>
        </p:nvSpPr>
        <p:spPr>
          <a:xfrm>
            <a:off x="697694" y="2767181"/>
            <a:ext cx="3555129" cy="502920"/>
          </a:xfrm>
          <a:prstGeom prst="rect">
            <a:avLst/>
          </a:prstGeom>
          <a:noFill/>
          <a:ln/>
        </p:spPr>
        <p:txBody>
          <a:bodyPr wrap="square" lIns="0" tIns="0" rIns="0" bIns="0" rtlCol="0" anchor="ctr">
            <a:normAutofit/>
          </a:bodyPr>
          <a:lstStyle/>
          <a:p>
            <a:pPr marL="0" indent="0">
              <a:buNone/>
            </a:pPr>
            <a:r>
              <a:rPr lang="en-US" sz="1030" dirty="0">
                <a:solidFill>
                  <a:srgbClr val="244365"/>
                </a:solidFill>
                <a:latin typeface="Inter" pitchFamily="34" charset="0"/>
                <a:ea typeface="Inter" pitchFamily="34" charset="-122"/>
                <a:cs typeface="Inter" pitchFamily="34" charset="-120"/>
              </a:rPr>
              <a:t>Failed corner-load test; unit could not be repaired.</a:t>
            </a:r>
            <a:endParaRPr lang="en-US" sz="1030" dirty="0"/>
          </a:p>
        </p:txBody>
      </p:sp>
      <p:sp>
        <p:nvSpPr>
          <p:cNvPr id="16" name="Text 33">
            <a:extLst>
              <a:ext uri="{FF2B5EF4-FFF2-40B4-BE49-F238E27FC236}">
                <a16:creationId xmlns:a16="http://schemas.microsoft.com/office/drawing/2014/main" id="{6AA6663D-1DDD-F1CA-EF79-D6EC07CCEB12}"/>
              </a:ext>
            </a:extLst>
          </p:cNvPr>
          <p:cNvSpPr/>
          <p:nvPr/>
        </p:nvSpPr>
        <p:spPr>
          <a:xfrm>
            <a:off x="862285" y="3478225"/>
            <a:ext cx="3640704" cy="585216"/>
          </a:xfrm>
          <a:prstGeom prst="rect">
            <a:avLst/>
          </a:prstGeom>
          <a:noFill/>
          <a:ln/>
        </p:spPr>
        <p:txBody>
          <a:bodyPr wrap="square" lIns="0" tIns="0" rIns="0" bIns="0" rtlCol="0" anchor="ctr">
            <a:normAutofit/>
          </a:bodyPr>
          <a:lstStyle/>
          <a:p>
            <a:pPr marL="0" indent="0">
              <a:buNone/>
            </a:pPr>
            <a:r>
              <a:rPr lang="en-US" sz="1100" dirty="0">
                <a:solidFill>
                  <a:srgbClr val="244365"/>
                </a:solidFill>
                <a:latin typeface="Inter" pitchFamily="34" charset="0"/>
                <a:ea typeface="Inter" pitchFamily="34" charset="-122"/>
                <a:cs typeface="Inter" pitchFamily="34" charset="-120"/>
              </a:rPr>
              <a:t>Visible asymmetry is consistent with spring deformation / mechanical misalignment.</a:t>
            </a:r>
            <a:endParaRPr lang="en-US" sz="1100" dirty="0"/>
          </a:p>
        </p:txBody>
      </p:sp>
      <p:sp>
        <p:nvSpPr>
          <p:cNvPr id="18" name="Text 35">
            <a:extLst>
              <a:ext uri="{FF2B5EF4-FFF2-40B4-BE49-F238E27FC236}">
                <a16:creationId xmlns:a16="http://schemas.microsoft.com/office/drawing/2014/main" id="{7312046E-24AF-356E-7C58-19F694C8340F}"/>
              </a:ext>
            </a:extLst>
          </p:cNvPr>
          <p:cNvSpPr/>
          <p:nvPr/>
        </p:nvSpPr>
        <p:spPr>
          <a:xfrm>
            <a:off x="862285" y="4093186"/>
            <a:ext cx="3640704" cy="585216"/>
          </a:xfrm>
          <a:prstGeom prst="rect">
            <a:avLst/>
          </a:prstGeom>
          <a:noFill/>
          <a:ln/>
        </p:spPr>
        <p:txBody>
          <a:bodyPr wrap="square" lIns="0" tIns="0" rIns="0" bIns="0" rtlCol="0" anchor="ctr">
            <a:normAutofit/>
          </a:bodyPr>
          <a:lstStyle/>
          <a:p>
            <a:pPr marL="0" indent="0">
              <a:buNone/>
            </a:pPr>
            <a:r>
              <a:rPr lang="en-US" sz="1100" dirty="0">
                <a:solidFill>
                  <a:srgbClr val="244365"/>
                </a:solidFill>
                <a:latin typeface="Inter" pitchFamily="34" charset="0"/>
                <a:ea typeface="Inter" pitchFamily="34" charset="-122"/>
                <a:cs typeface="Inter" pitchFamily="34" charset="-120"/>
              </a:rPr>
              <a:t>This unit provides historical evidence of the same corner-load failure family.</a:t>
            </a:r>
            <a:endParaRPr lang="en-US" sz="1100" dirty="0"/>
          </a:p>
        </p:txBody>
      </p:sp>
      <p:sp>
        <p:nvSpPr>
          <p:cNvPr id="20" name="Shape 32">
            <a:extLst>
              <a:ext uri="{FF2B5EF4-FFF2-40B4-BE49-F238E27FC236}">
                <a16:creationId xmlns:a16="http://schemas.microsoft.com/office/drawing/2014/main" id="{503697B5-FFB2-45F8-E9CC-6723D1A7A859}"/>
              </a:ext>
            </a:extLst>
          </p:cNvPr>
          <p:cNvSpPr/>
          <p:nvPr/>
        </p:nvSpPr>
        <p:spPr>
          <a:xfrm>
            <a:off x="654257" y="3613001"/>
            <a:ext cx="122745" cy="73152"/>
          </a:xfrm>
          <a:prstGeom prst="ellipse">
            <a:avLst/>
          </a:prstGeom>
          <a:solidFill>
            <a:srgbClr val="C94848"/>
          </a:solidFill>
          <a:ln w="12700">
            <a:solidFill>
              <a:srgbClr val="C94848">
                <a:alpha val="0"/>
              </a:srgbClr>
            </a:solidFill>
            <a:prstDash val="solid"/>
          </a:ln>
        </p:spPr>
        <p:txBody>
          <a:bodyPr/>
          <a:lstStyle/>
          <a:p>
            <a:endParaRPr sz="2800"/>
          </a:p>
        </p:txBody>
      </p:sp>
      <p:sp>
        <p:nvSpPr>
          <p:cNvPr id="22" name="Shape 34">
            <a:extLst>
              <a:ext uri="{FF2B5EF4-FFF2-40B4-BE49-F238E27FC236}">
                <a16:creationId xmlns:a16="http://schemas.microsoft.com/office/drawing/2014/main" id="{068B1372-398D-DC25-7930-492E7C993E72}"/>
              </a:ext>
            </a:extLst>
          </p:cNvPr>
          <p:cNvSpPr/>
          <p:nvPr/>
        </p:nvSpPr>
        <p:spPr>
          <a:xfrm>
            <a:off x="562298" y="4216505"/>
            <a:ext cx="227353" cy="228600"/>
          </a:xfrm>
          <a:prstGeom prst="ellipse">
            <a:avLst/>
          </a:prstGeom>
          <a:solidFill>
            <a:srgbClr val="C94848"/>
          </a:solidFill>
          <a:ln w="12700">
            <a:solidFill>
              <a:srgbClr val="C94848">
                <a:alpha val="0"/>
              </a:srgbClr>
            </a:solidFill>
            <a:prstDash val="solid"/>
          </a:ln>
        </p:spPr>
        <p:txBody>
          <a:bodyPr/>
          <a:lstStyle/>
          <a:p>
            <a:endParaRPr sz="2800"/>
          </a:p>
        </p:txBody>
      </p:sp>
      <p:sp>
        <p:nvSpPr>
          <p:cNvPr id="24" name="Shape 34">
            <a:extLst>
              <a:ext uri="{FF2B5EF4-FFF2-40B4-BE49-F238E27FC236}">
                <a16:creationId xmlns:a16="http://schemas.microsoft.com/office/drawing/2014/main" id="{6E1A20C6-EEA1-CB40-5FC0-B8ED9B1F4EDE}"/>
              </a:ext>
            </a:extLst>
          </p:cNvPr>
          <p:cNvSpPr/>
          <p:nvPr/>
        </p:nvSpPr>
        <p:spPr>
          <a:xfrm>
            <a:off x="563241" y="3571853"/>
            <a:ext cx="227353" cy="228600"/>
          </a:xfrm>
          <a:prstGeom prst="ellipse">
            <a:avLst/>
          </a:prstGeom>
          <a:solidFill>
            <a:srgbClr val="C94848"/>
          </a:solidFill>
          <a:ln w="12700">
            <a:solidFill>
              <a:srgbClr val="C94848">
                <a:alpha val="0"/>
              </a:srgbClr>
            </a:solidFill>
            <a:prstDash val="solid"/>
          </a:ln>
        </p:spPr>
        <p:txBody>
          <a:bodyPr/>
          <a:lstStyle/>
          <a:p>
            <a:endParaRPr sz="2800"/>
          </a:p>
        </p:txBody>
      </p:sp>
      <p:pic>
        <p:nvPicPr>
          <p:cNvPr id="26" name="Picture 25">
            <a:extLst>
              <a:ext uri="{FF2B5EF4-FFF2-40B4-BE49-F238E27FC236}">
                <a16:creationId xmlns:a16="http://schemas.microsoft.com/office/drawing/2014/main" id="{E78ED7A1-7505-B005-AB59-09573D34BA47}"/>
              </a:ext>
            </a:extLst>
          </p:cNvPr>
          <p:cNvPicPr>
            <a:picLocks noChangeAspect="1"/>
          </p:cNvPicPr>
          <p:nvPr/>
        </p:nvPicPr>
        <p:blipFill>
          <a:blip r:embed="rId2"/>
          <a:stretch>
            <a:fillRect/>
          </a:stretch>
        </p:blipFill>
        <p:spPr>
          <a:xfrm>
            <a:off x="5085019" y="1494144"/>
            <a:ext cx="5725329" cy="4384017"/>
          </a:xfrm>
          <a:prstGeom prst="rect">
            <a:avLst/>
          </a:prstGeom>
        </p:spPr>
      </p:pic>
      <p:sp>
        <p:nvSpPr>
          <p:cNvPr id="28" name="Shape 34">
            <a:extLst>
              <a:ext uri="{FF2B5EF4-FFF2-40B4-BE49-F238E27FC236}">
                <a16:creationId xmlns:a16="http://schemas.microsoft.com/office/drawing/2014/main" id="{C69754EA-A3C4-738F-268B-D3019FBBEED1}"/>
              </a:ext>
            </a:extLst>
          </p:cNvPr>
          <p:cNvSpPr/>
          <p:nvPr/>
        </p:nvSpPr>
        <p:spPr>
          <a:xfrm>
            <a:off x="563241" y="4937956"/>
            <a:ext cx="227353" cy="228600"/>
          </a:xfrm>
          <a:prstGeom prst="ellipse">
            <a:avLst/>
          </a:prstGeom>
          <a:solidFill>
            <a:srgbClr val="C94848"/>
          </a:solidFill>
          <a:ln w="12700">
            <a:solidFill>
              <a:srgbClr val="C94848">
                <a:alpha val="0"/>
              </a:srgbClr>
            </a:solidFill>
            <a:prstDash val="solid"/>
          </a:ln>
        </p:spPr>
        <p:txBody>
          <a:bodyPr/>
          <a:lstStyle/>
          <a:p>
            <a:endParaRPr sz="2800"/>
          </a:p>
        </p:txBody>
      </p:sp>
      <p:sp>
        <p:nvSpPr>
          <p:cNvPr id="32" name="Text 35">
            <a:extLst>
              <a:ext uri="{FF2B5EF4-FFF2-40B4-BE49-F238E27FC236}">
                <a16:creationId xmlns:a16="http://schemas.microsoft.com/office/drawing/2014/main" id="{CA18B036-2A51-35AA-8013-C6D281C151C4}"/>
              </a:ext>
            </a:extLst>
          </p:cNvPr>
          <p:cNvSpPr/>
          <p:nvPr/>
        </p:nvSpPr>
        <p:spPr>
          <a:xfrm>
            <a:off x="862285" y="4954893"/>
            <a:ext cx="3640704" cy="585216"/>
          </a:xfrm>
          <a:prstGeom prst="rect">
            <a:avLst/>
          </a:prstGeom>
          <a:noFill/>
          <a:ln/>
        </p:spPr>
        <p:txBody>
          <a:bodyPr wrap="square" lIns="0" tIns="0" rIns="0" bIns="0" rtlCol="0" anchor="ctr">
            <a:normAutofit fontScale="92500"/>
          </a:bodyPr>
          <a:lstStyle/>
          <a:p>
            <a:pPr marL="0" indent="0">
              <a:buNone/>
            </a:pPr>
            <a:r>
              <a:rPr lang="en-US" sz="1100" dirty="0">
                <a:solidFill>
                  <a:srgbClr val="244365"/>
                </a:solidFill>
                <a:latin typeface="Inter" pitchFamily="34" charset="0"/>
                <a:ea typeface="Inter" pitchFamily="34" charset="-122"/>
                <a:cs typeface="Inter" pitchFamily="34" charset="-120"/>
              </a:rPr>
              <a:t>This unit was investigated in TW#151494, direct loading was observed and determined as deformations cause; Pan bend observed similarly to #██████</a:t>
            </a:r>
          </a:p>
          <a:p>
            <a:pPr marL="0" indent="0">
              <a:buNone/>
            </a:pPr>
            <a:endParaRPr lang="en-US" sz="1100" dirty="0"/>
          </a:p>
        </p:txBody>
      </p:sp>
    </p:spTree>
    <p:extLst>
      <p:ext uri="{BB962C8B-B14F-4D97-AF65-F5344CB8AC3E}">
        <p14:creationId xmlns:p14="http://schemas.microsoft.com/office/powerpoint/2010/main" val="3309343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566928" y="850392"/>
            <a:ext cx="12735004" cy="566928"/>
          </a:xfrm>
          <a:prstGeom prst="rect">
            <a:avLst/>
          </a:prstGeom>
          <a:noFill/>
          <a:ln/>
        </p:spPr>
        <p:txBody>
          <a:bodyPr wrap="square" lIns="0" tIns="0" rIns="0" bIns="0" rtlCol="0" anchor="ctr">
            <a:noAutofit/>
          </a:bodyPr>
          <a:lstStyle/>
          <a:p>
            <a:pPr marL="0" indent="0">
              <a:buNone/>
            </a:pPr>
            <a:r>
              <a:rPr lang="en-US" sz="2800" b="1" spc="-150" dirty="0">
                <a:solidFill>
                  <a:srgbClr val="0C1B2A"/>
                </a:solidFill>
                <a:latin typeface="Inter Display" pitchFamily="34" charset="0"/>
                <a:ea typeface="Inter Display" pitchFamily="34" charset="-122"/>
                <a:cs typeface="Inter Display" pitchFamily="34" charset="-120"/>
              </a:rPr>
              <a:t>Triangulate hardware evidence, observed practice, and controlled requirements</a:t>
            </a:r>
            <a:endParaRPr lang="en-US" sz="2800" b="1" spc="-150" dirty="0"/>
          </a:p>
        </p:txBody>
      </p:sp>
      <p:sp>
        <p:nvSpPr>
          <p:cNvPr id="6" name="Shape 4"/>
          <p:cNvSpPr/>
          <p:nvPr/>
        </p:nvSpPr>
        <p:spPr>
          <a:xfrm>
            <a:off x="566928" y="1847088"/>
            <a:ext cx="11045952" cy="0"/>
          </a:xfrm>
          <a:prstGeom prst="line">
            <a:avLst/>
          </a:prstGeom>
          <a:noFill/>
          <a:ln w="10160">
            <a:solidFill>
              <a:srgbClr val="D7DAD8"/>
            </a:solidFill>
            <a:prstDash val="solid"/>
          </a:ln>
        </p:spPr>
        <p:txBody>
          <a:bodyPr/>
          <a:lstStyle/>
          <a:p>
            <a:endParaRPr sz="2400" b="1">
              <a:solidFill>
                <a:schemeClr val="accent2"/>
              </a:solidFill>
            </a:endParaRPr>
          </a:p>
        </p:txBody>
      </p:sp>
      <p:sp>
        <p:nvSpPr>
          <p:cNvPr id="7" name="Text 5"/>
          <p:cNvSpPr/>
          <p:nvPr/>
        </p:nvSpPr>
        <p:spPr>
          <a:xfrm>
            <a:off x="603504" y="1993392"/>
            <a:ext cx="10607040" cy="411480"/>
          </a:xfrm>
          <a:prstGeom prst="rect">
            <a:avLst/>
          </a:prstGeom>
          <a:noFill/>
          <a:ln/>
        </p:spPr>
        <p:txBody>
          <a:bodyPr wrap="square" lIns="0" tIns="0" rIns="0" bIns="0" rtlCol="0" anchor="ctr"/>
          <a:lstStyle/>
          <a:p>
            <a:pPr marL="0" indent="0">
              <a:buNone/>
            </a:pPr>
            <a:r>
              <a:rPr lang="en-US" sz="1400" b="1" dirty="0">
                <a:solidFill>
                  <a:schemeClr val="accent2"/>
                </a:solidFill>
                <a:latin typeface="Inter" pitchFamily="34" charset="0"/>
                <a:ea typeface="Inter" pitchFamily="34" charset="-122"/>
                <a:cs typeface="Inter" pitchFamily="34" charset="-120"/>
              </a:rPr>
              <a:t>No single observation is treated as sufficient on its own, the mechanical cause was built by comparing multiple evidence streams.</a:t>
            </a:r>
            <a:endParaRPr lang="en-US" sz="1400" b="1" dirty="0">
              <a:solidFill>
                <a:schemeClr val="accent2"/>
              </a:solidFill>
            </a:endParaRPr>
          </a:p>
        </p:txBody>
      </p:sp>
      <p:sp>
        <p:nvSpPr>
          <p:cNvPr id="8" name="Shape 6"/>
          <p:cNvSpPr/>
          <p:nvPr/>
        </p:nvSpPr>
        <p:spPr>
          <a:xfrm>
            <a:off x="621792" y="2706624"/>
            <a:ext cx="3401568" cy="1133856"/>
          </a:xfrm>
          <a:prstGeom prst="roundRect">
            <a:avLst>
              <a:gd name="adj" fmla="val 6452"/>
            </a:avLst>
          </a:prstGeom>
          <a:solidFill>
            <a:srgbClr val="FFFFFF"/>
          </a:solidFill>
          <a:ln w="10160">
            <a:solidFill>
              <a:srgbClr val="DFE3E5"/>
            </a:solidFill>
            <a:prstDash val="solid"/>
          </a:ln>
        </p:spPr>
        <p:txBody>
          <a:bodyPr/>
          <a:lstStyle/>
          <a:p>
            <a:endParaRPr/>
          </a:p>
        </p:txBody>
      </p:sp>
      <p:sp>
        <p:nvSpPr>
          <p:cNvPr id="9" name="Text 7"/>
          <p:cNvSpPr/>
          <p:nvPr/>
        </p:nvSpPr>
        <p:spPr>
          <a:xfrm>
            <a:off x="804672" y="2889504"/>
            <a:ext cx="1426464" cy="576072"/>
          </a:xfrm>
          <a:prstGeom prst="rect">
            <a:avLst/>
          </a:prstGeom>
          <a:noFill/>
          <a:ln/>
        </p:spPr>
        <p:txBody>
          <a:bodyPr wrap="square" lIns="0" tIns="0" rIns="0" bIns="0" rtlCol="0" anchor="ctr">
            <a:normAutofit/>
          </a:bodyPr>
          <a:lstStyle/>
          <a:p>
            <a:pPr marL="0" indent="0">
              <a:buNone/>
            </a:pPr>
            <a:r>
              <a:rPr lang="en-US" sz="1050" b="1" dirty="0">
                <a:solidFill>
                  <a:srgbClr val="0D4C9D"/>
                </a:solidFill>
                <a:latin typeface="Inter" pitchFamily="34" charset="0"/>
                <a:ea typeface="Inter" pitchFamily="34" charset="-122"/>
                <a:cs typeface="Inter" pitchFamily="34" charset="-120"/>
              </a:rPr>
              <a:t>FAILED-UNIT</a:t>
            </a:r>
            <a:endParaRPr lang="en-US" sz="1050" dirty="0"/>
          </a:p>
          <a:p>
            <a:pPr marL="0" indent="0">
              <a:buNone/>
            </a:pPr>
            <a:r>
              <a:rPr lang="en-US" sz="1050" b="1" dirty="0">
                <a:solidFill>
                  <a:srgbClr val="0D4C9D"/>
                </a:solidFill>
                <a:latin typeface="Inter" pitchFamily="34" charset="0"/>
                <a:ea typeface="Inter" pitchFamily="34" charset="-122"/>
                <a:cs typeface="Inter" pitchFamily="34" charset="-120"/>
              </a:rPr>
              <a:t>INSPECTION</a:t>
            </a:r>
            <a:endParaRPr lang="en-US" sz="1050" dirty="0"/>
          </a:p>
        </p:txBody>
      </p:sp>
      <p:sp>
        <p:nvSpPr>
          <p:cNvPr id="10" name="Shape 8"/>
          <p:cNvSpPr/>
          <p:nvPr/>
        </p:nvSpPr>
        <p:spPr>
          <a:xfrm>
            <a:off x="2304288" y="2907792"/>
            <a:ext cx="0" cy="713232"/>
          </a:xfrm>
          <a:prstGeom prst="line">
            <a:avLst/>
          </a:prstGeom>
          <a:noFill/>
          <a:ln w="12700">
            <a:solidFill>
              <a:srgbClr val="D2D8DC"/>
            </a:solidFill>
            <a:prstDash val="solid"/>
          </a:ln>
        </p:spPr>
        <p:txBody>
          <a:bodyPr/>
          <a:lstStyle/>
          <a:p>
            <a:endParaRPr sz="2400"/>
          </a:p>
        </p:txBody>
      </p:sp>
      <p:sp>
        <p:nvSpPr>
          <p:cNvPr id="11" name="Text 9"/>
          <p:cNvSpPr/>
          <p:nvPr/>
        </p:nvSpPr>
        <p:spPr>
          <a:xfrm>
            <a:off x="2487168" y="2907792"/>
            <a:ext cx="1307592" cy="594360"/>
          </a:xfrm>
          <a:prstGeom prst="rect">
            <a:avLst/>
          </a:prstGeom>
          <a:noFill/>
          <a:ln/>
        </p:spPr>
        <p:txBody>
          <a:bodyPr wrap="square" lIns="0" tIns="0" rIns="0" bIns="0" rtlCol="0" anchor="ctr">
            <a:normAutofit/>
          </a:bodyPr>
          <a:lstStyle/>
          <a:p>
            <a:pPr marL="0" indent="0">
              <a:buNone/>
            </a:pPr>
            <a:r>
              <a:rPr lang="en-US" sz="1050" dirty="0">
                <a:solidFill>
                  <a:srgbClr val="0C1B2A"/>
                </a:solidFill>
                <a:latin typeface="Inter" pitchFamily="34" charset="0"/>
                <a:ea typeface="Inter" pitchFamily="34" charset="-122"/>
                <a:cs typeface="Inter" pitchFamily="34" charset="-120"/>
              </a:rPr>
              <a:t>Tilt, scuffs, spring geometry</a:t>
            </a:r>
            <a:endParaRPr lang="en-US" sz="1050" dirty="0"/>
          </a:p>
        </p:txBody>
      </p:sp>
      <p:sp>
        <p:nvSpPr>
          <p:cNvPr id="12" name="Shape 10"/>
          <p:cNvSpPr/>
          <p:nvPr/>
        </p:nvSpPr>
        <p:spPr>
          <a:xfrm>
            <a:off x="4297680" y="2706624"/>
            <a:ext cx="3401568" cy="1133856"/>
          </a:xfrm>
          <a:prstGeom prst="roundRect">
            <a:avLst>
              <a:gd name="adj" fmla="val 6452"/>
            </a:avLst>
          </a:prstGeom>
          <a:solidFill>
            <a:srgbClr val="FFFFFF"/>
          </a:solidFill>
          <a:ln w="10160">
            <a:solidFill>
              <a:srgbClr val="DFE3E5"/>
            </a:solidFill>
            <a:prstDash val="solid"/>
          </a:ln>
        </p:spPr>
        <p:txBody>
          <a:bodyPr/>
          <a:lstStyle/>
          <a:p>
            <a:endParaRPr/>
          </a:p>
        </p:txBody>
      </p:sp>
      <p:sp>
        <p:nvSpPr>
          <p:cNvPr id="13" name="Text 11"/>
          <p:cNvSpPr/>
          <p:nvPr/>
        </p:nvSpPr>
        <p:spPr>
          <a:xfrm>
            <a:off x="4480560" y="2889504"/>
            <a:ext cx="1426464" cy="576072"/>
          </a:xfrm>
          <a:prstGeom prst="rect">
            <a:avLst/>
          </a:prstGeom>
          <a:noFill/>
          <a:ln/>
        </p:spPr>
        <p:txBody>
          <a:bodyPr wrap="square" lIns="0" tIns="0" rIns="0" bIns="0" rtlCol="0" anchor="ctr">
            <a:normAutofit/>
          </a:bodyPr>
          <a:lstStyle/>
          <a:p>
            <a:pPr marL="0" indent="0">
              <a:buNone/>
            </a:pPr>
            <a:r>
              <a:rPr lang="en-US" sz="1050" b="1" dirty="0">
                <a:solidFill>
                  <a:srgbClr val="0D4C9D"/>
                </a:solidFill>
                <a:latin typeface="Inter" pitchFamily="34" charset="0"/>
                <a:ea typeface="Inter" pitchFamily="34" charset="-122"/>
                <a:cs typeface="Inter" pitchFamily="34" charset="-120"/>
              </a:rPr>
              <a:t>MANUFACTURING</a:t>
            </a:r>
            <a:endParaRPr lang="en-US" sz="1050" dirty="0"/>
          </a:p>
          <a:p>
            <a:pPr marL="0" indent="0">
              <a:buNone/>
            </a:pPr>
            <a:r>
              <a:rPr lang="en-US" sz="1050" b="1" dirty="0">
                <a:solidFill>
                  <a:srgbClr val="0D4C9D"/>
                </a:solidFill>
                <a:latin typeface="Inter" pitchFamily="34" charset="0"/>
                <a:ea typeface="Inter" pitchFamily="34" charset="-122"/>
                <a:cs typeface="Inter" pitchFamily="34" charset="-120"/>
              </a:rPr>
              <a:t>GEMBA</a:t>
            </a:r>
            <a:endParaRPr lang="en-US" sz="1050" dirty="0"/>
          </a:p>
        </p:txBody>
      </p:sp>
      <p:sp>
        <p:nvSpPr>
          <p:cNvPr id="14" name="Shape 12"/>
          <p:cNvSpPr/>
          <p:nvPr/>
        </p:nvSpPr>
        <p:spPr>
          <a:xfrm>
            <a:off x="5980176" y="2907792"/>
            <a:ext cx="0" cy="713232"/>
          </a:xfrm>
          <a:prstGeom prst="line">
            <a:avLst/>
          </a:prstGeom>
          <a:noFill/>
          <a:ln w="12700">
            <a:solidFill>
              <a:srgbClr val="D2D8DC"/>
            </a:solidFill>
            <a:prstDash val="solid"/>
          </a:ln>
        </p:spPr>
        <p:txBody>
          <a:bodyPr/>
          <a:lstStyle/>
          <a:p>
            <a:endParaRPr sz="2400"/>
          </a:p>
        </p:txBody>
      </p:sp>
      <p:sp>
        <p:nvSpPr>
          <p:cNvPr id="15" name="Text 13"/>
          <p:cNvSpPr/>
          <p:nvPr/>
        </p:nvSpPr>
        <p:spPr>
          <a:xfrm>
            <a:off x="6163056" y="2907792"/>
            <a:ext cx="1307592" cy="594360"/>
          </a:xfrm>
          <a:prstGeom prst="rect">
            <a:avLst/>
          </a:prstGeom>
          <a:noFill/>
          <a:ln/>
        </p:spPr>
        <p:txBody>
          <a:bodyPr wrap="square" lIns="0" tIns="0" rIns="0" bIns="0" rtlCol="0" anchor="ctr">
            <a:normAutofit/>
          </a:bodyPr>
          <a:lstStyle/>
          <a:p>
            <a:pPr marL="0" indent="0">
              <a:buNone/>
            </a:pPr>
            <a:r>
              <a:rPr lang="en-US" sz="1050" dirty="0">
                <a:solidFill>
                  <a:srgbClr val="0C1B2A"/>
                </a:solidFill>
                <a:latin typeface="Inter" pitchFamily="34" charset="0"/>
                <a:ea typeface="Inter" pitchFamily="34" charset="-122"/>
                <a:cs typeface="Inter" pitchFamily="34" charset="-120"/>
              </a:rPr>
              <a:t>Operation, cleaning, handling</a:t>
            </a:r>
            <a:endParaRPr lang="en-US" sz="1050" dirty="0"/>
          </a:p>
        </p:txBody>
      </p:sp>
      <p:sp>
        <p:nvSpPr>
          <p:cNvPr id="16" name="Shape 14"/>
          <p:cNvSpPr/>
          <p:nvPr/>
        </p:nvSpPr>
        <p:spPr>
          <a:xfrm>
            <a:off x="7973568" y="2706624"/>
            <a:ext cx="3401568" cy="1133856"/>
          </a:xfrm>
          <a:prstGeom prst="roundRect">
            <a:avLst>
              <a:gd name="adj" fmla="val 6452"/>
            </a:avLst>
          </a:prstGeom>
          <a:solidFill>
            <a:srgbClr val="FFFFFF"/>
          </a:solidFill>
          <a:ln w="10160">
            <a:solidFill>
              <a:srgbClr val="DFE3E5"/>
            </a:solidFill>
            <a:prstDash val="solid"/>
          </a:ln>
        </p:spPr>
        <p:txBody>
          <a:bodyPr/>
          <a:lstStyle/>
          <a:p>
            <a:endParaRPr/>
          </a:p>
        </p:txBody>
      </p:sp>
      <p:sp>
        <p:nvSpPr>
          <p:cNvPr id="17" name="Text 15"/>
          <p:cNvSpPr/>
          <p:nvPr/>
        </p:nvSpPr>
        <p:spPr>
          <a:xfrm>
            <a:off x="8156448" y="2889504"/>
            <a:ext cx="1426464" cy="576072"/>
          </a:xfrm>
          <a:prstGeom prst="rect">
            <a:avLst/>
          </a:prstGeom>
          <a:noFill/>
          <a:ln/>
        </p:spPr>
        <p:txBody>
          <a:bodyPr wrap="square" lIns="0" tIns="0" rIns="0" bIns="0" rtlCol="0" anchor="ctr">
            <a:normAutofit/>
          </a:bodyPr>
          <a:lstStyle/>
          <a:p>
            <a:pPr marL="0" indent="0">
              <a:buNone/>
            </a:pPr>
            <a:r>
              <a:rPr lang="en-US" sz="1050" b="1" dirty="0">
                <a:solidFill>
                  <a:srgbClr val="0D4C9D"/>
                </a:solidFill>
                <a:latin typeface="Inter" pitchFamily="34" charset="0"/>
                <a:ea typeface="Inter" pitchFamily="34" charset="-122"/>
                <a:cs typeface="Inter" pitchFamily="34" charset="-120"/>
              </a:rPr>
              <a:t>SOP / PRACTICE</a:t>
            </a:r>
            <a:endParaRPr lang="en-US" sz="1050" dirty="0"/>
          </a:p>
          <a:p>
            <a:pPr marL="0" indent="0">
              <a:buNone/>
            </a:pPr>
            <a:r>
              <a:rPr lang="en-US" sz="1050" b="1" dirty="0">
                <a:solidFill>
                  <a:srgbClr val="0D4C9D"/>
                </a:solidFill>
                <a:latin typeface="Inter" pitchFamily="34" charset="0"/>
                <a:ea typeface="Inter" pitchFamily="34" charset="-122"/>
                <a:cs typeface="Inter" pitchFamily="34" charset="-120"/>
              </a:rPr>
              <a:t>COMPARISON</a:t>
            </a:r>
            <a:endParaRPr lang="en-US" sz="1050" dirty="0"/>
          </a:p>
        </p:txBody>
      </p:sp>
      <p:sp>
        <p:nvSpPr>
          <p:cNvPr id="18" name="Shape 16"/>
          <p:cNvSpPr/>
          <p:nvPr/>
        </p:nvSpPr>
        <p:spPr>
          <a:xfrm>
            <a:off x="9656064" y="2907792"/>
            <a:ext cx="0" cy="713232"/>
          </a:xfrm>
          <a:prstGeom prst="line">
            <a:avLst/>
          </a:prstGeom>
          <a:noFill/>
          <a:ln w="12700">
            <a:solidFill>
              <a:srgbClr val="D2D8DC"/>
            </a:solidFill>
            <a:prstDash val="solid"/>
          </a:ln>
        </p:spPr>
        <p:txBody>
          <a:bodyPr/>
          <a:lstStyle/>
          <a:p>
            <a:endParaRPr sz="2400"/>
          </a:p>
        </p:txBody>
      </p:sp>
      <p:sp>
        <p:nvSpPr>
          <p:cNvPr id="19" name="Text 17"/>
          <p:cNvSpPr/>
          <p:nvPr/>
        </p:nvSpPr>
        <p:spPr>
          <a:xfrm>
            <a:off x="9838944" y="2907792"/>
            <a:ext cx="1307592" cy="594360"/>
          </a:xfrm>
          <a:prstGeom prst="rect">
            <a:avLst/>
          </a:prstGeom>
          <a:noFill/>
          <a:ln/>
        </p:spPr>
        <p:txBody>
          <a:bodyPr wrap="square" lIns="0" tIns="0" rIns="0" bIns="0" rtlCol="0" anchor="ctr">
            <a:normAutofit/>
          </a:bodyPr>
          <a:lstStyle/>
          <a:p>
            <a:pPr marL="0" indent="0">
              <a:buNone/>
            </a:pPr>
            <a:r>
              <a:rPr lang="en-US" sz="1050" dirty="0">
                <a:solidFill>
                  <a:srgbClr val="0C1B2A"/>
                </a:solidFill>
                <a:latin typeface="Inter" pitchFamily="34" charset="0"/>
                <a:ea typeface="Inter" pitchFamily="34" charset="-122"/>
                <a:cs typeface="Inter" pitchFamily="34" charset="-120"/>
              </a:rPr>
              <a:t>What is required vs observed</a:t>
            </a:r>
            <a:endParaRPr lang="en-US" sz="1050" dirty="0"/>
          </a:p>
        </p:txBody>
      </p:sp>
      <p:sp>
        <p:nvSpPr>
          <p:cNvPr id="20" name="Shape 18"/>
          <p:cNvSpPr/>
          <p:nvPr/>
        </p:nvSpPr>
        <p:spPr>
          <a:xfrm>
            <a:off x="621792" y="4151376"/>
            <a:ext cx="3401568" cy="1133856"/>
          </a:xfrm>
          <a:prstGeom prst="roundRect">
            <a:avLst>
              <a:gd name="adj" fmla="val 6452"/>
            </a:avLst>
          </a:prstGeom>
          <a:solidFill>
            <a:srgbClr val="F1F5F9"/>
          </a:solidFill>
          <a:ln w="10160">
            <a:solidFill>
              <a:srgbClr val="DFE3E5"/>
            </a:solidFill>
            <a:prstDash val="solid"/>
          </a:ln>
        </p:spPr>
        <p:txBody>
          <a:bodyPr/>
          <a:lstStyle/>
          <a:p>
            <a:endParaRPr sz="2400"/>
          </a:p>
        </p:txBody>
      </p:sp>
      <p:sp>
        <p:nvSpPr>
          <p:cNvPr id="21" name="Text 19"/>
          <p:cNvSpPr/>
          <p:nvPr/>
        </p:nvSpPr>
        <p:spPr>
          <a:xfrm>
            <a:off x="804672" y="4334256"/>
            <a:ext cx="1426464" cy="576072"/>
          </a:xfrm>
          <a:prstGeom prst="rect">
            <a:avLst/>
          </a:prstGeom>
          <a:noFill/>
          <a:ln/>
        </p:spPr>
        <p:txBody>
          <a:bodyPr wrap="square" lIns="0" tIns="0" rIns="0" bIns="0" rtlCol="0" anchor="ctr">
            <a:normAutofit/>
          </a:bodyPr>
          <a:lstStyle/>
          <a:p>
            <a:pPr marL="0" indent="0">
              <a:buNone/>
            </a:pPr>
            <a:r>
              <a:rPr lang="en-US" sz="1050" b="1" dirty="0">
                <a:solidFill>
                  <a:srgbClr val="0D4C9D"/>
                </a:solidFill>
                <a:latin typeface="Inter" pitchFamily="34" charset="0"/>
                <a:ea typeface="Inter" pitchFamily="34" charset="-122"/>
                <a:cs typeface="Inter" pitchFamily="34" charset="-120"/>
              </a:rPr>
              <a:t>PRODUCT DEV</a:t>
            </a:r>
            <a:endParaRPr lang="en-US" sz="1050" dirty="0"/>
          </a:p>
          <a:p>
            <a:pPr marL="0" indent="0">
              <a:buNone/>
            </a:pPr>
            <a:r>
              <a:rPr lang="en-US" sz="1050" b="1" dirty="0">
                <a:solidFill>
                  <a:srgbClr val="0D4C9D"/>
                </a:solidFill>
                <a:latin typeface="Inter" pitchFamily="34" charset="0"/>
                <a:ea typeface="Inter" pitchFamily="34" charset="-122"/>
                <a:cs typeface="Inter" pitchFamily="34" charset="-120"/>
              </a:rPr>
              <a:t>COMPARISON</a:t>
            </a:r>
            <a:endParaRPr lang="en-US" sz="1050" dirty="0"/>
          </a:p>
        </p:txBody>
      </p:sp>
      <p:sp>
        <p:nvSpPr>
          <p:cNvPr id="22" name="Shape 20"/>
          <p:cNvSpPr/>
          <p:nvPr/>
        </p:nvSpPr>
        <p:spPr>
          <a:xfrm>
            <a:off x="2304288" y="4352544"/>
            <a:ext cx="0" cy="713232"/>
          </a:xfrm>
          <a:prstGeom prst="line">
            <a:avLst/>
          </a:prstGeom>
          <a:noFill/>
          <a:ln w="12700">
            <a:solidFill>
              <a:srgbClr val="D2D8DC"/>
            </a:solidFill>
            <a:prstDash val="solid"/>
          </a:ln>
        </p:spPr>
        <p:txBody>
          <a:bodyPr/>
          <a:lstStyle/>
          <a:p>
            <a:endParaRPr sz="2400"/>
          </a:p>
        </p:txBody>
      </p:sp>
      <p:sp>
        <p:nvSpPr>
          <p:cNvPr id="23" name="Text 21"/>
          <p:cNvSpPr/>
          <p:nvPr/>
        </p:nvSpPr>
        <p:spPr>
          <a:xfrm>
            <a:off x="2487168" y="4352544"/>
            <a:ext cx="1307592" cy="594360"/>
          </a:xfrm>
          <a:prstGeom prst="rect">
            <a:avLst/>
          </a:prstGeom>
          <a:noFill/>
          <a:ln/>
        </p:spPr>
        <p:txBody>
          <a:bodyPr wrap="square" lIns="0" tIns="0" rIns="0" bIns="0" rtlCol="0" anchor="ctr">
            <a:normAutofit/>
          </a:bodyPr>
          <a:lstStyle/>
          <a:p>
            <a:pPr marL="0" indent="0">
              <a:buNone/>
            </a:pPr>
            <a:r>
              <a:rPr lang="en-US" sz="1050" dirty="0">
                <a:solidFill>
                  <a:srgbClr val="0C1B2A"/>
                </a:solidFill>
                <a:latin typeface="Inter" pitchFamily="34" charset="0"/>
                <a:ea typeface="Inter" pitchFamily="34" charset="-122"/>
                <a:cs typeface="Inter" pitchFamily="34" charset="-120"/>
              </a:rPr>
              <a:t>Different setup + cleaning practice</a:t>
            </a:r>
            <a:endParaRPr lang="en-US" sz="1050" dirty="0"/>
          </a:p>
        </p:txBody>
      </p:sp>
      <p:sp>
        <p:nvSpPr>
          <p:cNvPr id="24" name="Shape 22"/>
          <p:cNvSpPr/>
          <p:nvPr/>
        </p:nvSpPr>
        <p:spPr>
          <a:xfrm>
            <a:off x="4297680" y="4151376"/>
            <a:ext cx="3401568" cy="1133856"/>
          </a:xfrm>
          <a:prstGeom prst="roundRect">
            <a:avLst>
              <a:gd name="adj" fmla="val 6452"/>
            </a:avLst>
          </a:prstGeom>
          <a:solidFill>
            <a:srgbClr val="F1F5F9"/>
          </a:solidFill>
          <a:ln w="10160">
            <a:solidFill>
              <a:srgbClr val="DFE3E5"/>
            </a:solidFill>
            <a:prstDash val="solid"/>
          </a:ln>
        </p:spPr>
        <p:txBody>
          <a:bodyPr/>
          <a:lstStyle/>
          <a:p>
            <a:endParaRPr sz="2400"/>
          </a:p>
        </p:txBody>
      </p:sp>
      <p:sp>
        <p:nvSpPr>
          <p:cNvPr id="25" name="Text 23"/>
          <p:cNvSpPr/>
          <p:nvPr/>
        </p:nvSpPr>
        <p:spPr>
          <a:xfrm>
            <a:off x="4480560" y="4334256"/>
            <a:ext cx="1426464" cy="576072"/>
          </a:xfrm>
          <a:prstGeom prst="rect">
            <a:avLst/>
          </a:prstGeom>
          <a:noFill/>
          <a:ln/>
        </p:spPr>
        <p:txBody>
          <a:bodyPr wrap="square" lIns="0" tIns="0" rIns="0" bIns="0" rtlCol="0" anchor="ctr">
            <a:normAutofit/>
          </a:bodyPr>
          <a:lstStyle/>
          <a:p>
            <a:pPr marL="0" indent="0">
              <a:buNone/>
            </a:pPr>
            <a:r>
              <a:rPr lang="en-US" sz="1050" b="1" dirty="0">
                <a:solidFill>
                  <a:srgbClr val="0D4C9D"/>
                </a:solidFill>
                <a:latin typeface="Inter" pitchFamily="34" charset="0"/>
                <a:ea typeface="Inter" pitchFamily="34" charset="-122"/>
                <a:cs typeface="Inter" pitchFamily="34" charset="-120"/>
              </a:rPr>
              <a:t>HISTORY +</a:t>
            </a:r>
            <a:endParaRPr lang="en-US" sz="1050" dirty="0"/>
          </a:p>
          <a:p>
            <a:pPr marL="0" indent="0">
              <a:buNone/>
            </a:pPr>
            <a:r>
              <a:rPr lang="en-US" sz="1050" b="1" dirty="0">
                <a:solidFill>
                  <a:srgbClr val="0D4C9D"/>
                </a:solidFill>
                <a:latin typeface="Inter" pitchFamily="34" charset="0"/>
                <a:ea typeface="Inter" pitchFamily="34" charset="-122"/>
                <a:cs typeface="Inter" pitchFamily="34" charset="-120"/>
              </a:rPr>
              <a:t>SERVICE</a:t>
            </a:r>
            <a:endParaRPr lang="en-US" sz="1050" dirty="0"/>
          </a:p>
        </p:txBody>
      </p:sp>
      <p:sp>
        <p:nvSpPr>
          <p:cNvPr id="26" name="Shape 24"/>
          <p:cNvSpPr/>
          <p:nvPr/>
        </p:nvSpPr>
        <p:spPr>
          <a:xfrm>
            <a:off x="5980176" y="4352544"/>
            <a:ext cx="0" cy="713232"/>
          </a:xfrm>
          <a:prstGeom prst="line">
            <a:avLst/>
          </a:prstGeom>
          <a:noFill/>
          <a:ln w="12700">
            <a:solidFill>
              <a:srgbClr val="D2D8DC"/>
            </a:solidFill>
            <a:prstDash val="solid"/>
          </a:ln>
        </p:spPr>
        <p:txBody>
          <a:bodyPr/>
          <a:lstStyle/>
          <a:p>
            <a:endParaRPr sz="2400"/>
          </a:p>
        </p:txBody>
      </p:sp>
      <p:sp>
        <p:nvSpPr>
          <p:cNvPr id="27" name="Text 25"/>
          <p:cNvSpPr/>
          <p:nvPr/>
        </p:nvSpPr>
        <p:spPr>
          <a:xfrm>
            <a:off x="6163056" y="4352544"/>
            <a:ext cx="1307592" cy="594360"/>
          </a:xfrm>
          <a:prstGeom prst="rect">
            <a:avLst/>
          </a:prstGeom>
          <a:noFill/>
          <a:ln/>
        </p:spPr>
        <p:txBody>
          <a:bodyPr wrap="square" lIns="0" tIns="0" rIns="0" bIns="0" rtlCol="0" anchor="ctr">
            <a:normAutofit/>
          </a:bodyPr>
          <a:lstStyle/>
          <a:p>
            <a:pPr marL="0" indent="0">
              <a:buNone/>
            </a:pPr>
            <a:r>
              <a:rPr lang="en-US" sz="1050" dirty="0">
                <a:solidFill>
                  <a:srgbClr val="0C1B2A"/>
                </a:solidFill>
                <a:latin typeface="Inter" pitchFamily="34" charset="0"/>
                <a:ea typeface="Inter" pitchFamily="34" charset="-122"/>
                <a:cs typeface="Inter" pitchFamily="34" charset="-120"/>
              </a:rPr>
              <a:t>2023 event, Technician findings</a:t>
            </a:r>
            <a:endParaRPr lang="en-US" sz="1050" dirty="0"/>
          </a:p>
        </p:txBody>
      </p:sp>
      <p:sp>
        <p:nvSpPr>
          <p:cNvPr id="28" name="Shape 26"/>
          <p:cNvSpPr/>
          <p:nvPr/>
        </p:nvSpPr>
        <p:spPr>
          <a:xfrm>
            <a:off x="7973568" y="4151376"/>
            <a:ext cx="3401568" cy="1133856"/>
          </a:xfrm>
          <a:prstGeom prst="roundRect">
            <a:avLst>
              <a:gd name="adj" fmla="val 6452"/>
            </a:avLst>
          </a:prstGeom>
          <a:solidFill>
            <a:srgbClr val="F1F5F9"/>
          </a:solidFill>
          <a:ln w="10160">
            <a:solidFill>
              <a:srgbClr val="DFE3E5"/>
            </a:solidFill>
            <a:prstDash val="solid"/>
          </a:ln>
        </p:spPr>
        <p:txBody>
          <a:bodyPr/>
          <a:lstStyle/>
          <a:p>
            <a:endParaRPr sz="2400"/>
          </a:p>
        </p:txBody>
      </p:sp>
      <p:sp>
        <p:nvSpPr>
          <p:cNvPr id="29" name="Text 27"/>
          <p:cNvSpPr/>
          <p:nvPr/>
        </p:nvSpPr>
        <p:spPr>
          <a:xfrm>
            <a:off x="8156448" y="4334256"/>
            <a:ext cx="1426464" cy="576072"/>
          </a:xfrm>
          <a:prstGeom prst="rect">
            <a:avLst/>
          </a:prstGeom>
          <a:noFill/>
          <a:ln/>
        </p:spPr>
        <p:txBody>
          <a:bodyPr wrap="square" lIns="0" tIns="0" rIns="0" bIns="0" rtlCol="0" anchor="ctr">
            <a:normAutofit/>
          </a:bodyPr>
          <a:lstStyle/>
          <a:p>
            <a:pPr marL="0" indent="0">
              <a:buNone/>
            </a:pPr>
            <a:r>
              <a:rPr lang="en-US" sz="1050" b="1" dirty="0">
                <a:solidFill>
                  <a:srgbClr val="0D4C9D"/>
                </a:solidFill>
                <a:latin typeface="Inter" pitchFamily="34" charset="0"/>
                <a:ea typeface="Inter" pitchFamily="34" charset="-122"/>
                <a:cs typeface="Inter" pitchFamily="34" charset="-120"/>
              </a:rPr>
              <a:t>6M + 5-WHY</a:t>
            </a:r>
            <a:endParaRPr lang="en-US" sz="1050" dirty="0"/>
          </a:p>
          <a:p>
            <a:pPr marL="0" indent="0">
              <a:buNone/>
            </a:pPr>
            <a:r>
              <a:rPr lang="en-US" sz="1050" b="1" dirty="0">
                <a:solidFill>
                  <a:srgbClr val="0D4C9D"/>
                </a:solidFill>
                <a:latin typeface="Inter" pitchFamily="34" charset="0"/>
                <a:ea typeface="Inter" pitchFamily="34" charset="-122"/>
                <a:cs typeface="Inter" pitchFamily="34" charset="-120"/>
              </a:rPr>
              <a:t>SYNTHESIS</a:t>
            </a:r>
            <a:endParaRPr lang="en-US" sz="1050" dirty="0"/>
          </a:p>
        </p:txBody>
      </p:sp>
      <p:sp>
        <p:nvSpPr>
          <p:cNvPr id="30" name="Shape 28"/>
          <p:cNvSpPr/>
          <p:nvPr/>
        </p:nvSpPr>
        <p:spPr>
          <a:xfrm>
            <a:off x="9656064" y="4352544"/>
            <a:ext cx="0" cy="713232"/>
          </a:xfrm>
          <a:prstGeom prst="line">
            <a:avLst/>
          </a:prstGeom>
          <a:noFill/>
          <a:ln w="12700">
            <a:solidFill>
              <a:srgbClr val="D2D8DC"/>
            </a:solidFill>
            <a:prstDash val="solid"/>
          </a:ln>
        </p:spPr>
        <p:txBody>
          <a:bodyPr/>
          <a:lstStyle/>
          <a:p>
            <a:endParaRPr sz="2400"/>
          </a:p>
        </p:txBody>
      </p:sp>
      <p:sp>
        <p:nvSpPr>
          <p:cNvPr id="31" name="Text 29"/>
          <p:cNvSpPr/>
          <p:nvPr/>
        </p:nvSpPr>
        <p:spPr>
          <a:xfrm>
            <a:off x="9838944" y="4352544"/>
            <a:ext cx="1307592" cy="594360"/>
          </a:xfrm>
          <a:prstGeom prst="rect">
            <a:avLst/>
          </a:prstGeom>
          <a:noFill/>
          <a:ln/>
        </p:spPr>
        <p:txBody>
          <a:bodyPr wrap="square" lIns="0" tIns="0" rIns="0" bIns="0" rtlCol="0" anchor="ctr">
            <a:normAutofit/>
          </a:bodyPr>
          <a:lstStyle/>
          <a:p>
            <a:pPr marL="0" indent="0">
              <a:buNone/>
            </a:pPr>
            <a:r>
              <a:rPr lang="en-US" sz="1050" dirty="0">
                <a:solidFill>
                  <a:srgbClr val="0C1B2A"/>
                </a:solidFill>
                <a:latin typeface="Inter" pitchFamily="34" charset="0"/>
                <a:ea typeface="Inter" pitchFamily="34" charset="-122"/>
                <a:cs typeface="Inter" pitchFamily="34" charset="-120"/>
              </a:rPr>
              <a:t>Rank pathways + system cause</a:t>
            </a:r>
            <a:endParaRPr lang="en-US" sz="1050" dirty="0"/>
          </a:p>
        </p:txBody>
      </p:sp>
      <p:sp>
        <p:nvSpPr>
          <p:cNvPr id="32" name="Shape 30"/>
          <p:cNvSpPr/>
          <p:nvPr/>
        </p:nvSpPr>
        <p:spPr>
          <a:xfrm>
            <a:off x="621792" y="5641848"/>
            <a:ext cx="10991088" cy="484632"/>
          </a:xfrm>
          <a:prstGeom prst="roundRect">
            <a:avLst>
              <a:gd name="adj" fmla="val 15094"/>
            </a:avLst>
          </a:prstGeom>
          <a:solidFill>
            <a:srgbClr val="0E2136"/>
          </a:solidFill>
          <a:ln w="10160">
            <a:solidFill>
              <a:srgbClr val="0E2136"/>
            </a:solidFill>
            <a:prstDash val="solid"/>
          </a:ln>
        </p:spPr>
        <p:txBody>
          <a:bodyPr/>
          <a:lstStyle/>
          <a:p>
            <a:endParaRPr/>
          </a:p>
        </p:txBody>
      </p:sp>
      <p:sp>
        <p:nvSpPr>
          <p:cNvPr id="33" name="Text 31"/>
          <p:cNvSpPr/>
          <p:nvPr/>
        </p:nvSpPr>
        <p:spPr>
          <a:xfrm>
            <a:off x="667512" y="5641848"/>
            <a:ext cx="10899648" cy="484632"/>
          </a:xfrm>
          <a:prstGeom prst="rect">
            <a:avLst/>
          </a:prstGeom>
          <a:noFill/>
          <a:ln/>
        </p:spPr>
        <p:txBody>
          <a:bodyPr wrap="square" lIns="0" tIns="0" rIns="0" bIns="0" rtlCol="0" anchor="ctr"/>
          <a:lstStyle/>
          <a:p>
            <a:pPr marL="0" indent="0" algn="ctr">
              <a:buNone/>
            </a:pPr>
            <a:r>
              <a:rPr lang="en-US" sz="910" b="1" dirty="0">
                <a:solidFill>
                  <a:srgbClr val="FFFFFF"/>
                </a:solidFill>
                <a:latin typeface="Inter" pitchFamily="34" charset="0"/>
                <a:ea typeface="Inter" pitchFamily="34" charset="-122"/>
                <a:cs typeface="Inter" pitchFamily="34" charset="-120"/>
              </a:rPr>
              <a:t>Evidence Flow  |  Historical Investigation-&gt;Observations and SOP Derivations-&gt;PD Observations and Comparisons</a:t>
            </a:r>
            <a:endParaRPr lang="en-US" sz="910" dirty="0"/>
          </a:p>
        </p:txBody>
      </p:sp>
      <p:sp>
        <p:nvSpPr>
          <p:cNvPr id="2" name="Slide Number Placeholder 0"/>
          <p:cNvSpPr>
            <a:spLocks noGrp="1"/>
          </p:cNvSpPr>
          <p:nvPr>
            <p:ph type="sldNum" sz="quarter" idx="4294967295"/>
          </p:nvPr>
        </p:nvSpPr>
        <p:spPr>
          <a:xfrm>
            <a:off x="11247120" y="6419088"/>
            <a:ext cx="457200" cy="201168"/>
          </a:xfrm>
          <a:prstGeom prst="rect">
            <a:avLst/>
          </a:prstGeom>
          <a:extLst>
            <a:ext uri="{C572A759-6A51-4108-AA02-DFA0A04FC94B}">
              <ma14:wrappingTextBoxFlag xmlns="" xmlns:ma14="http://schemas.microsoft.com/office/mac/drawingml/2011/main" val="0"/>
            </a:ext>
          </a:extLst>
        </p:spPr>
        <p:txBody>
          <a:bodyPr lIns="0" tIns="0" rIns="0" bIns="0"/>
          <a:lstStyle>
            <a:lvl1pPr>
              <a:defRPr sz="700">
                <a:solidFill>
                  <a:srgbClr val="89929D"/>
                </a:solidFill>
                <a:latin typeface="Inter"/>
                <a:ea typeface="Inter"/>
                <a:cs typeface="Inter"/>
              </a:defRPr>
            </a:lvl1pPr>
          </a:lstStyle>
          <a:p>
            <a:pPr algn="r"/>
            <a:fld id="{F7021451-1387-4CA6-816F-3879F97B5CBC}" type="slidenum">
              <a:rPr lang="en-US" b="0"/>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596085" y="800013"/>
            <a:ext cx="12853014" cy="566928"/>
          </a:xfrm>
          <a:prstGeom prst="rect">
            <a:avLst/>
          </a:prstGeom>
          <a:noFill/>
          <a:ln/>
        </p:spPr>
        <p:txBody>
          <a:bodyPr wrap="square" lIns="0" tIns="0" rIns="0" bIns="0" rtlCol="0" anchor="ctr">
            <a:normAutofit fontScale="92500"/>
          </a:bodyPr>
          <a:lstStyle/>
          <a:p>
            <a:pPr marL="0" indent="0">
              <a:buNone/>
            </a:pPr>
            <a:r>
              <a:rPr lang="en-US" sz="2750" b="1" spc="-150" dirty="0">
                <a:solidFill>
                  <a:srgbClr val="0C1B2A"/>
                </a:solidFill>
                <a:latin typeface="Inter Display" pitchFamily="34" charset="0"/>
                <a:ea typeface="Inter Display" pitchFamily="34" charset="-122"/>
                <a:cs typeface="Inter Display" pitchFamily="34" charset="-120"/>
              </a:rPr>
              <a:t>The strongest evidence emerged across repeated cleaning and alignment observations</a:t>
            </a:r>
            <a:endParaRPr lang="en-US" sz="2750" spc="-150" dirty="0"/>
          </a:p>
        </p:txBody>
      </p:sp>
      <p:sp>
        <p:nvSpPr>
          <p:cNvPr id="6" name="Shape 4"/>
          <p:cNvSpPr/>
          <p:nvPr/>
        </p:nvSpPr>
        <p:spPr>
          <a:xfrm>
            <a:off x="566928" y="1847088"/>
            <a:ext cx="11045952" cy="0"/>
          </a:xfrm>
          <a:prstGeom prst="line">
            <a:avLst/>
          </a:prstGeom>
          <a:noFill/>
          <a:ln w="10160">
            <a:solidFill>
              <a:srgbClr val="D7DAD8"/>
            </a:solidFill>
            <a:prstDash val="solid"/>
          </a:ln>
        </p:spPr>
        <p:txBody>
          <a:bodyPr/>
          <a:lstStyle/>
          <a:p>
            <a:endParaRPr/>
          </a:p>
        </p:txBody>
      </p:sp>
      <p:sp>
        <p:nvSpPr>
          <p:cNvPr id="7" name="Shape 5"/>
          <p:cNvSpPr/>
          <p:nvPr/>
        </p:nvSpPr>
        <p:spPr>
          <a:xfrm>
            <a:off x="1024128" y="2788920"/>
            <a:ext cx="9966960" cy="0"/>
          </a:xfrm>
          <a:prstGeom prst="line">
            <a:avLst/>
          </a:prstGeom>
          <a:noFill/>
          <a:ln w="25400">
            <a:solidFill>
              <a:srgbClr val="AAB4BE"/>
            </a:solidFill>
            <a:prstDash val="solid"/>
          </a:ln>
        </p:spPr>
        <p:txBody>
          <a:bodyPr/>
          <a:lstStyle/>
          <a:p>
            <a:endParaRPr/>
          </a:p>
        </p:txBody>
      </p:sp>
      <p:sp>
        <p:nvSpPr>
          <p:cNvPr id="8" name="Shape 6"/>
          <p:cNvSpPr/>
          <p:nvPr/>
        </p:nvSpPr>
        <p:spPr>
          <a:xfrm>
            <a:off x="1106424" y="2578608"/>
            <a:ext cx="402336" cy="402336"/>
          </a:xfrm>
          <a:prstGeom prst="ellipse">
            <a:avLst/>
          </a:prstGeom>
          <a:solidFill>
            <a:srgbClr val="B67724"/>
          </a:solidFill>
          <a:ln w="25400">
            <a:solidFill>
              <a:srgbClr val="FFFFFF"/>
            </a:solidFill>
            <a:prstDash val="solid"/>
          </a:ln>
        </p:spPr>
        <p:txBody>
          <a:bodyPr/>
          <a:lstStyle/>
          <a:p>
            <a:endParaRPr/>
          </a:p>
        </p:txBody>
      </p:sp>
      <p:sp>
        <p:nvSpPr>
          <p:cNvPr id="9" name="Text 7"/>
          <p:cNvSpPr/>
          <p:nvPr/>
        </p:nvSpPr>
        <p:spPr>
          <a:xfrm>
            <a:off x="453922" y="2128827"/>
            <a:ext cx="1682496" cy="274320"/>
          </a:xfrm>
          <a:prstGeom prst="rect">
            <a:avLst/>
          </a:prstGeom>
          <a:noFill/>
          <a:ln/>
        </p:spPr>
        <p:txBody>
          <a:bodyPr wrap="square" lIns="0" tIns="0" rIns="0" bIns="0" rtlCol="0" anchor="ctr">
            <a:normAutofit/>
          </a:bodyPr>
          <a:lstStyle/>
          <a:p>
            <a:pPr marL="0" indent="0" algn="ctr">
              <a:buNone/>
            </a:pPr>
            <a:r>
              <a:rPr lang="en-US" sz="1600" b="1" i="1" dirty="0">
                <a:latin typeface="Inter Display" pitchFamily="34" charset="0"/>
                <a:ea typeface="Inter Display" pitchFamily="34" charset="-122"/>
                <a:cs typeface="Inter Display" pitchFamily="34" charset="-120"/>
              </a:rPr>
              <a:t>14-AUG-26</a:t>
            </a:r>
            <a:endParaRPr lang="en-US" sz="1600" i="1" dirty="0"/>
          </a:p>
        </p:txBody>
      </p:sp>
      <p:sp>
        <p:nvSpPr>
          <p:cNvPr id="10" name="Shape 8"/>
          <p:cNvSpPr/>
          <p:nvPr/>
        </p:nvSpPr>
        <p:spPr>
          <a:xfrm>
            <a:off x="621792" y="3246120"/>
            <a:ext cx="1572768" cy="1828800"/>
          </a:xfrm>
          <a:prstGeom prst="roundRect">
            <a:avLst>
              <a:gd name="adj" fmla="val 4651"/>
            </a:avLst>
          </a:prstGeom>
          <a:solidFill>
            <a:srgbClr val="FFFFFF"/>
          </a:solidFill>
          <a:ln w="10160">
            <a:solidFill>
              <a:srgbClr val="E1E4E6"/>
            </a:solidFill>
            <a:prstDash val="solid"/>
          </a:ln>
        </p:spPr>
        <p:txBody>
          <a:bodyPr/>
          <a:lstStyle/>
          <a:p>
            <a:endParaRPr/>
          </a:p>
        </p:txBody>
      </p:sp>
      <p:sp>
        <p:nvSpPr>
          <p:cNvPr id="11" name="Shape 9"/>
          <p:cNvSpPr/>
          <p:nvPr/>
        </p:nvSpPr>
        <p:spPr>
          <a:xfrm>
            <a:off x="621792" y="3246120"/>
            <a:ext cx="1572768" cy="64008"/>
          </a:xfrm>
          <a:prstGeom prst="rect">
            <a:avLst/>
          </a:prstGeom>
          <a:solidFill>
            <a:srgbClr val="B67724"/>
          </a:solidFill>
          <a:ln w="12700">
            <a:solidFill>
              <a:srgbClr val="B67724"/>
            </a:solidFill>
            <a:prstDash val="solid"/>
          </a:ln>
        </p:spPr>
        <p:txBody>
          <a:bodyPr/>
          <a:lstStyle/>
          <a:p>
            <a:endParaRPr/>
          </a:p>
        </p:txBody>
      </p:sp>
      <p:sp>
        <p:nvSpPr>
          <p:cNvPr id="12" name="Text 10"/>
          <p:cNvSpPr/>
          <p:nvPr/>
        </p:nvSpPr>
        <p:spPr>
          <a:xfrm>
            <a:off x="749808" y="3502152"/>
            <a:ext cx="1316736" cy="512064"/>
          </a:xfrm>
          <a:prstGeom prst="rect">
            <a:avLst/>
          </a:prstGeom>
          <a:noFill/>
          <a:ln/>
        </p:spPr>
        <p:txBody>
          <a:bodyPr wrap="square" lIns="0" tIns="0" rIns="0" bIns="0" rtlCol="0" anchor="ctr">
            <a:normAutofit/>
          </a:bodyPr>
          <a:lstStyle/>
          <a:p>
            <a:pPr marL="0" indent="0">
              <a:buNone/>
            </a:pPr>
            <a:r>
              <a:rPr lang="en-US" sz="1100" b="1" dirty="0">
                <a:solidFill>
                  <a:srgbClr val="0C1B2A"/>
                </a:solidFill>
                <a:latin typeface="Inter" pitchFamily="34" charset="0"/>
                <a:ea typeface="Inter" pitchFamily="34" charset="-122"/>
                <a:cs typeface="Inter" pitchFamily="34" charset="-120"/>
              </a:rPr>
              <a:t>Vacuum-only minor cleaning</a:t>
            </a:r>
            <a:endParaRPr lang="en-US" sz="1100" dirty="0"/>
          </a:p>
        </p:txBody>
      </p:sp>
      <p:sp>
        <p:nvSpPr>
          <p:cNvPr id="13" name="Text 11"/>
          <p:cNvSpPr/>
          <p:nvPr/>
        </p:nvSpPr>
        <p:spPr>
          <a:xfrm>
            <a:off x="749808" y="4114800"/>
            <a:ext cx="1316736" cy="694944"/>
          </a:xfrm>
          <a:prstGeom prst="rect">
            <a:avLst/>
          </a:prstGeom>
          <a:noFill/>
          <a:ln/>
        </p:spPr>
        <p:txBody>
          <a:bodyPr wrap="square" lIns="0" tIns="0" rIns="0" bIns="0" rtlCol="0" anchor="ctr">
            <a:normAutofit/>
          </a:bodyPr>
          <a:lstStyle/>
          <a:p>
            <a:pPr marL="0" indent="0">
              <a:buNone/>
            </a:pPr>
            <a:r>
              <a:rPr lang="en-US" sz="1000" dirty="0">
                <a:latin typeface="Inter" pitchFamily="34" charset="0"/>
                <a:ea typeface="Inter" pitchFamily="34" charset="-122"/>
                <a:cs typeface="Inter" pitchFamily="34" charset="-120"/>
              </a:rPr>
              <a:t>No dry wipe; static alarms; Size 4 / prodger concerns raised</a:t>
            </a:r>
            <a:endParaRPr lang="en-US" sz="1000" dirty="0"/>
          </a:p>
        </p:txBody>
      </p:sp>
      <p:sp>
        <p:nvSpPr>
          <p:cNvPr id="14" name="Shape 12"/>
          <p:cNvSpPr/>
          <p:nvPr/>
        </p:nvSpPr>
        <p:spPr>
          <a:xfrm>
            <a:off x="2944368" y="2578608"/>
            <a:ext cx="402336" cy="402336"/>
          </a:xfrm>
          <a:prstGeom prst="ellipse">
            <a:avLst/>
          </a:prstGeom>
          <a:solidFill>
            <a:srgbClr val="C94848"/>
          </a:solidFill>
          <a:ln w="25400">
            <a:solidFill>
              <a:srgbClr val="FFFFFF"/>
            </a:solidFill>
            <a:prstDash val="solid"/>
          </a:ln>
        </p:spPr>
        <p:txBody>
          <a:bodyPr/>
          <a:lstStyle/>
          <a:p>
            <a:endParaRPr/>
          </a:p>
        </p:txBody>
      </p:sp>
      <p:sp>
        <p:nvSpPr>
          <p:cNvPr id="15" name="Text 13"/>
          <p:cNvSpPr/>
          <p:nvPr/>
        </p:nvSpPr>
        <p:spPr>
          <a:xfrm>
            <a:off x="2383996" y="2128827"/>
            <a:ext cx="1520492" cy="274320"/>
          </a:xfrm>
          <a:prstGeom prst="rect">
            <a:avLst/>
          </a:prstGeom>
          <a:noFill/>
          <a:ln/>
        </p:spPr>
        <p:txBody>
          <a:bodyPr wrap="square" lIns="0" tIns="0" rIns="0" bIns="0" rtlCol="0" anchor="ctr">
            <a:normAutofit/>
          </a:bodyPr>
          <a:lstStyle/>
          <a:p>
            <a:pPr marL="0" indent="0" algn="ctr">
              <a:buNone/>
            </a:pPr>
            <a:r>
              <a:rPr lang="en-US" sz="1600" b="1" i="1" dirty="0">
                <a:latin typeface="Inter Display" pitchFamily="34" charset="0"/>
                <a:ea typeface="Inter Display" pitchFamily="34" charset="-122"/>
                <a:cs typeface="Inter Display" pitchFamily="34" charset="-120"/>
              </a:rPr>
              <a:t>17-AUG-26</a:t>
            </a:r>
            <a:endParaRPr lang="en-US" sz="1600" i="1" dirty="0"/>
          </a:p>
        </p:txBody>
      </p:sp>
      <p:sp>
        <p:nvSpPr>
          <p:cNvPr id="16" name="Shape 14"/>
          <p:cNvSpPr/>
          <p:nvPr/>
        </p:nvSpPr>
        <p:spPr>
          <a:xfrm>
            <a:off x="2459736" y="3246120"/>
            <a:ext cx="1572768" cy="1828800"/>
          </a:xfrm>
          <a:prstGeom prst="roundRect">
            <a:avLst>
              <a:gd name="adj" fmla="val 4651"/>
            </a:avLst>
          </a:prstGeom>
          <a:solidFill>
            <a:srgbClr val="FFFFFF"/>
          </a:solidFill>
          <a:ln w="10160">
            <a:solidFill>
              <a:srgbClr val="E1E4E6"/>
            </a:solidFill>
            <a:prstDash val="solid"/>
          </a:ln>
        </p:spPr>
        <p:txBody>
          <a:bodyPr/>
          <a:lstStyle/>
          <a:p>
            <a:endParaRPr/>
          </a:p>
        </p:txBody>
      </p:sp>
      <p:sp>
        <p:nvSpPr>
          <p:cNvPr id="17" name="Shape 15"/>
          <p:cNvSpPr/>
          <p:nvPr/>
        </p:nvSpPr>
        <p:spPr>
          <a:xfrm>
            <a:off x="2459736" y="3246120"/>
            <a:ext cx="1572768" cy="64008"/>
          </a:xfrm>
          <a:prstGeom prst="rect">
            <a:avLst/>
          </a:prstGeom>
          <a:solidFill>
            <a:srgbClr val="C94848"/>
          </a:solidFill>
          <a:ln w="12700">
            <a:solidFill>
              <a:srgbClr val="C94848"/>
            </a:solidFill>
            <a:prstDash val="solid"/>
          </a:ln>
        </p:spPr>
        <p:txBody>
          <a:bodyPr/>
          <a:lstStyle/>
          <a:p>
            <a:endParaRPr/>
          </a:p>
        </p:txBody>
      </p:sp>
      <p:sp>
        <p:nvSpPr>
          <p:cNvPr id="18" name="Text 16"/>
          <p:cNvSpPr/>
          <p:nvPr/>
        </p:nvSpPr>
        <p:spPr>
          <a:xfrm>
            <a:off x="2587752" y="3502152"/>
            <a:ext cx="1316736" cy="512064"/>
          </a:xfrm>
          <a:prstGeom prst="rect">
            <a:avLst/>
          </a:prstGeom>
          <a:noFill/>
          <a:ln/>
        </p:spPr>
        <p:txBody>
          <a:bodyPr wrap="square" lIns="0" tIns="0" rIns="0" bIns="0" rtlCol="0" anchor="ctr">
            <a:normAutofit/>
          </a:bodyPr>
          <a:lstStyle/>
          <a:p>
            <a:pPr marL="0" indent="0">
              <a:buNone/>
            </a:pPr>
            <a:r>
              <a:rPr lang="en-US" sz="1100" b="1" dirty="0">
                <a:solidFill>
                  <a:srgbClr val="0C1B2A"/>
                </a:solidFill>
                <a:latin typeface="Inter" pitchFamily="34" charset="0"/>
                <a:ea typeface="Inter" pitchFamily="34" charset="-122"/>
                <a:cs typeface="Inter" pitchFamily="34" charset="-120"/>
              </a:rPr>
              <a:t>Direct weigh-pan loading</a:t>
            </a:r>
            <a:endParaRPr lang="en-US" sz="1100" dirty="0"/>
          </a:p>
        </p:txBody>
      </p:sp>
      <p:sp>
        <p:nvSpPr>
          <p:cNvPr id="19" name="Text 17"/>
          <p:cNvSpPr/>
          <p:nvPr/>
        </p:nvSpPr>
        <p:spPr>
          <a:xfrm>
            <a:off x="2587752" y="4114800"/>
            <a:ext cx="1316736" cy="694944"/>
          </a:xfrm>
          <a:prstGeom prst="rect">
            <a:avLst/>
          </a:prstGeom>
          <a:noFill/>
          <a:ln/>
        </p:spPr>
        <p:txBody>
          <a:bodyPr wrap="square" lIns="0" tIns="0" rIns="0" bIns="0" rtlCol="0" anchor="ctr">
            <a:normAutofit/>
          </a:bodyPr>
          <a:lstStyle/>
          <a:p>
            <a:pPr marL="0" indent="0">
              <a:buNone/>
            </a:pPr>
            <a:r>
              <a:rPr lang="en-US" sz="1000" dirty="0">
                <a:latin typeface="Inter" pitchFamily="34" charset="0"/>
                <a:ea typeface="Inter" pitchFamily="34" charset="-122"/>
                <a:cs typeface="Inter" pitchFamily="34" charset="-120"/>
              </a:rPr>
              <a:t>Pan pressed while vacuuming; unit energized; powder buildup seen</a:t>
            </a:r>
            <a:endParaRPr lang="en-US" sz="1000" dirty="0"/>
          </a:p>
        </p:txBody>
      </p:sp>
      <p:sp>
        <p:nvSpPr>
          <p:cNvPr id="20" name="Shape 18"/>
          <p:cNvSpPr/>
          <p:nvPr/>
        </p:nvSpPr>
        <p:spPr>
          <a:xfrm>
            <a:off x="4782312" y="2578608"/>
            <a:ext cx="402336" cy="402336"/>
          </a:xfrm>
          <a:prstGeom prst="ellipse">
            <a:avLst/>
          </a:prstGeom>
          <a:solidFill>
            <a:srgbClr val="C94848"/>
          </a:solidFill>
          <a:ln w="25400">
            <a:solidFill>
              <a:srgbClr val="FFFFFF"/>
            </a:solidFill>
            <a:prstDash val="solid"/>
          </a:ln>
        </p:spPr>
        <p:txBody>
          <a:bodyPr/>
          <a:lstStyle/>
          <a:p>
            <a:endParaRPr/>
          </a:p>
        </p:txBody>
      </p:sp>
      <p:sp>
        <p:nvSpPr>
          <p:cNvPr id="21" name="Text 19"/>
          <p:cNvSpPr/>
          <p:nvPr/>
        </p:nvSpPr>
        <p:spPr>
          <a:xfrm>
            <a:off x="4221940" y="2128827"/>
            <a:ext cx="1520492" cy="274320"/>
          </a:xfrm>
          <a:prstGeom prst="rect">
            <a:avLst/>
          </a:prstGeom>
          <a:noFill/>
          <a:ln/>
        </p:spPr>
        <p:txBody>
          <a:bodyPr wrap="square" lIns="0" tIns="0" rIns="0" bIns="0" rtlCol="0" anchor="ctr">
            <a:normAutofit/>
          </a:bodyPr>
          <a:lstStyle/>
          <a:p>
            <a:pPr marL="0" indent="0" algn="ctr">
              <a:buNone/>
            </a:pPr>
            <a:r>
              <a:rPr lang="en-US" sz="1600" b="1" i="1" dirty="0">
                <a:latin typeface="Inter Display" pitchFamily="34" charset="0"/>
                <a:ea typeface="Inter Display" pitchFamily="34" charset="-122"/>
                <a:cs typeface="Inter Display" pitchFamily="34" charset="-120"/>
              </a:rPr>
              <a:t>20-AUG-26</a:t>
            </a:r>
            <a:endParaRPr lang="en-US" sz="1600" i="1" dirty="0"/>
          </a:p>
        </p:txBody>
      </p:sp>
      <p:sp>
        <p:nvSpPr>
          <p:cNvPr id="22" name="Shape 20"/>
          <p:cNvSpPr/>
          <p:nvPr/>
        </p:nvSpPr>
        <p:spPr>
          <a:xfrm>
            <a:off x="4297680" y="3246120"/>
            <a:ext cx="1572768" cy="1828800"/>
          </a:xfrm>
          <a:prstGeom prst="roundRect">
            <a:avLst>
              <a:gd name="adj" fmla="val 4651"/>
            </a:avLst>
          </a:prstGeom>
          <a:solidFill>
            <a:srgbClr val="FFFFFF"/>
          </a:solidFill>
          <a:ln w="10160">
            <a:solidFill>
              <a:srgbClr val="E1E4E6"/>
            </a:solidFill>
            <a:prstDash val="solid"/>
          </a:ln>
        </p:spPr>
        <p:txBody>
          <a:bodyPr/>
          <a:lstStyle/>
          <a:p>
            <a:endParaRPr/>
          </a:p>
        </p:txBody>
      </p:sp>
      <p:sp>
        <p:nvSpPr>
          <p:cNvPr id="23" name="Shape 21"/>
          <p:cNvSpPr/>
          <p:nvPr/>
        </p:nvSpPr>
        <p:spPr>
          <a:xfrm>
            <a:off x="4297680" y="3246120"/>
            <a:ext cx="1572768" cy="64008"/>
          </a:xfrm>
          <a:prstGeom prst="rect">
            <a:avLst/>
          </a:prstGeom>
          <a:solidFill>
            <a:srgbClr val="C94848"/>
          </a:solidFill>
          <a:ln w="12700">
            <a:solidFill>
              <a:srgbClr val="C94848"/>
            </a:solidFill>
            <a:prstDash val="solid"/>
          </a:ln>
        </p:spPr>
        <p:txBody>
          <a:bodyPr/>
          <a:lstStyle/>
          <a:p>
            <a:endParaRPr/>
          </a:p>
        </p:txBody>
      </p:sp>
      <p:sp>
        <p:nvSpPr>
          <p:cNvPr id="24" name="Text 22"/>
          <p:cNvSpPr/>
          <p:nvPr/>
        </p:nvSpPr>
        <p:spPr>
          <a:xfrm>
            <a:off x="4425696" y="3502152"/>
            <a:ext cx="1316736" cy="512064"/>
          </a:xfrm>
          <a:prstGeom prst="rect">
            <a:avLst/>
          </a:prstGeom>
          <a:noFill/>
          <a:ln/>
        </p:spPr>
        <p:txBody>
          <a:bodyPr wrap="square" lIns="0" tIns="0" rIns="0" bIns="0" rtlCol="0" anchor="ctr">
            <a:normAutofit/>
          </a:bodyPr>
          <a:lstStyle/>
          <a:p>
            <a:pPr marL="0" indent="0">
              <a:buNone/>
            </a:pPr>
            <a:r>
              <a:rPr lang="en-US" sz="1100" b="1" dirty="0">
                <a:solidFill>
                  <a:srgbClr val="0C1B2A"/>
                </a:solidFill>
                <a:latin typeface="Inter" pitchFamily="34" charset="0"/>
                <a:ea typeface="Inter" pitchFamily="34" charset="-122"/>
                <a:cs typeface="Inter" pitchFamily="34" charset="-120"/>
              </a:rPr>
              <a:t>Behavior repeats</a:t>
            </a:r>
            <a:endParaRPr lang="en-US" sz="1100" dirty="0"/>
          </a:p>
        </p:txBody>
      </p:sp>
      <p:sp>
        <p:nvSpPr>
          <p:cNvPr id="25" name="Text 23"/>
          <p:cNvSpPr/>
          <p:nvPr/>
        </p:nvSpPr>
        <p:spPr>
          <a:xfrm>
            <a:off x="4425696" y="4114800"/>
            <a:ext cx="1316736" cy="694944"/>
          </a:xfrm>
          <a:prstGeom prst="rect">
            <a:avLst/>
          </a:prstGeom>
          <a:noFill/>
          <a:ln/>
        </p:spPr>
        <p:txBody>
          <a:bodyPr wrap="square" lIns="0" tIns="0" rIns="0" bIns="0" rtlCol="0" anchor="ctr">
            <a:normAutofit/>
          </a:bodyPr>
          <a:lstStyle/>
          <a:p>
            <a:pPr marL="0" indent="0">
              <a:buNone/>
            </a:pPr>
            <a:r>
              <a:rPr lang="en-US" sz="1000" dirty="0">
                <a:latin typeface="Inter" pitchFamily="34" charset="0"/>
                <a:ea typeface="Inter" pitchFamily="34" charset="-122"/>
                <a:cs typeface="Inter" pitchFamily="34" charset="-120"/>
              </a:rPr>
              <a:t>Pan held by hand while vacuuming; powder on pucks; 2nd shift pre-aligns</a:t>
            </a:r>
            <a:endParaRPr lang="en-US" sz="1000" dirty="0"/>
          </a:p>
        </p:txBody>
      </p:sp>
      <p:sp>
        <p:nvSpPr>
          <p:cNvPr id="26" name="Shape 24"/>
          <p:cNvSpPr/>
          <p:nvPr/>
        </p:nvSpPr>
        <p:spPr>
          <a:xfrm>
            <a:off x="6620256" y="2578608"/>
            <a:ext cx="402336" cy="402336"/>
          </a:xfrm>
          <a:prstGeom prst="ellipse">
            <a:avLst/>
          </a:prstGeom>
          <a:solidFill>
            <a:srgbClr val="1769E0"/>
          </a:solidFill>
          <a:ln w="25400">
            <a:solidFill>
              <a:srgbClr val="FFFFFF"/>
            </a:solidFill>
            <a:prstDash val="solid"/>
          </a:ln>
        </p:spPr>
        <p:txBody>
          <a:bodyPr/>
          <a:lstStyle/>
          <a:p>
            <a:endParaRPr/>
          </a:p>
        </p:txBody>
      </p:sp>
      <p:sp>
        <p:nvSpPr>
          <p:cNvPr id="27" name="Text 25"/>
          <p:cNvSpPr/>
          <p:nvPr/>
        </p:nvSpPr>
        <p:spPr>
          <a:xfrm>
            <a:off x="5849572" y="2075688"/>
            <a:ext cx="1776179" cy="393192"/>
          </a:xfrm>
          <a:prstGeom prst="rect">
            <a:avLst/>
          </a:prstGeom>
          <a:noFill/>
          <a:ln/>
        </p:spPr>
        <p:txBody>
          <a:bodyPr wrap="square" lIns="0" tIns="0" rIns="0" bIns="0" rtlCol="0" anchor="ctr">
            <a:normAutofit/>
          </a:bodyPr>
          <a:lstStyle/>
          <a:p>
            <a:pPr marL="0" indent="0" algn="ctr">
              <a:buNone/>
            </a:pPr>
            <a:r>
              <a:rPr lang="en-US" sz="1600" b="1" i="1" dirty="0">
                <a:latin typeface="Inter Display" pitchFamily="34" charset="0"/>
                <a:ea typeface="Inter Display" pitchFamily="34" charset="-122"/>
                <a:cs typeface="Inter Display" pitchFamily="34" charset="-120"/>
              </a:rPr>
              <a:t>(23–24)-AUG-26</a:t>
            </a:r>
            <a:endParaRPr lang="en-US" sz="1600" i="1" dirty="0"/>
          </a:p>
        </p:txBody>
      </p:sp>
      <p:sp>
        <p:nvSpPr>
          <p:cNvPr id="28" name="Shape 26"/>
          <p:cNvSpPr/>
          <p:nvPr/>
        </p:nvSpPr>
        <p:spPr>
          <a:xfrm>
            <a:off x="6135624" y="3246120"/>
            <a:ext cx="1709928" cy="1828800"/>
          </a:xfrm>
          <a:prstGeom prst="roundRect">
            <a:avLst>
              <a:gd name="adj" fmla="val 4651"/>
            </a:avLst>
          </a:prstGeom>
          <a:solidFill>
            <a:srgbClr val="FFFFFF"/>
          </a:solidFill>
          <a:ln w="10160">
            <a:solidFill>
              <a:srgbClr val="E1E4E6"/>
            </a:solidFill>
            <a:prstDash val="solid"/>
          </a:ln>
        </p:spPr>
        <p:txBody>
          <a:bodyPr/>
          <a:lstStyle/>
          <a:p>
            <a:endParaRPr/>
          </a:p>
        </p:txBody>
      </p:sp>
      <p:sp>
        <p:nvSpPr>
          <p:cNvPr id="29" name="Shape 27"/>
          <p:cNvSpPr/>
          <p:nvPr/>
        </p:nvSpPr>
        <p:spPr>
          <a:xfrm>
            <a:off x="6135624" y="3246120"/>
            <a:ext cx="1709928" cy="45719"/>
          </a:xfrm>
          <a:prstGeom prst="rect">
            <a:avLst/>
          </a:prstGeom>
          <a:solidFill>
            <a:srgbClr val="1769E0"/>
          </a:solidFill>
          <a:ln w="12700">
            <a:solidFill>
              <a:srgbClr val="1769E0"/>
            </a:solidFill>
            <a:prstDash val="solid"/>
          </a:ln>
        </p:spPr>
        <p:txBody>
          <a:bodyPr/>
          <a:lstStyle/>
          <a:p>
            <a:endParaRPr/>
          </a:p>
        </p:txBody>
      </p:sp>
      <p:sp>
        <p:nvSpPr>
          <p:cNvPr id="30" name="Text 28"/>
          <p:cNvSpPr/>
          <p:nvPr/>
        </p:nvSpPr>
        <p:spPr>
          <a:xfrm>
            <a:off x="6199632" y="3428999"/>
            <a:ext cx="1508760" cy="512064"/>
          </a:xfrm>
          <a:prstGeom prst="rect">
            <a:avLst/>
          </a:prstGeom>
          <a:noFill/>
          <a:ln/>
        </p:spPr>
        <p:txBody>
          <a:bodyPr wrap="square" lIns="0" tIns="0" rIns="0" bIns="0" rtlCol="0" anchor="ctr">
            <a:normAutofit/>
          </a:bodyPr>
          <a:lstStyle/>
          <a:p>
            <a:pPr marL="0" indent="0">
              <a:buNone/>
            </a:pPr>
            <a:r>
              <a:rPr lang="en-US" sz="1050" b="1" dirty="0">
                <a:solidFill>
                  <a:srgbClr val="0C1B2A"/>
                </a:solidFill>
                <a:latin typeface="Inter" pitchFamily="34" charset="0"/>
                <a:ea typeface="Inter" pitchFamily="34" charset="-122"/>
                <a:cs typeface="Inter" pitchFamily="34" charset="-120"/>
              </a:rPr>
              <a:t>Alignment downtime + recovery</a:t>
            </a:r>
            <a:endParaRPr lang="en-US" sz="1050" dirty="0"/>
          </a:p>
        </p:txBody>
      </p:sp>
      <p:sp>
        <p:nvSpPr>
          <p:cNvPr id="31" name="Text 29"/>
          <p:cNvSpPr/>
          <p:nvPr/>
        </p:nvSpPr>
        <p:spPr>
          <a:xfrm>
            <a:off x="6263640" y="4023360"/>
            <a:ext cx="1508760" cy="694944"/>
          </a:xfrm>
          <a:prstGeom prst="rect">
            <a:avLst/>
          </a:prstGeom>
          <a:noFill/>
          <a:ln/>
        </p:spPr>
        <p:txBody>
          <a:bodyPr wrap="square" lIns="0" tIns="0" rIns="0" bIns="0" rtlCol="0" anchor="ctr">
            <a:noAutofit/>
          </a:bodyPr>
          <a:lstStyle/>
          <a:p>
            <a:pPr marL="0" indent="0">
              <a:buNone/>
            </a:pPr>
            <a:r>
              <a:rPr lang="en-US" sz="940" dirty="0">
                <a:latin typeface="Inter" pitchFamily="34" charset="0"/>
                <a:ea typeface="Inter" pitchFamily="34" charset="-122"/>
                <a:cs typeface="Inter" pitchFamily="34" charset="-120"/>
              </a:rPr>
              <a:t>Xcelodose unavailable for reported misalignment; returned after alignment</a:t>
            </a:r>
            <a:endParaRPr lang="en-US" sz="940" dirty="0"/>
          </a:p>
        </p:txBody>
      </p:sp>
      <p:sp>
        <p:nvSpPr>
          <p:cNvPr id="32" name="Shape 30"/>
          <p:cNvSpPr/>
          <p:nvPr/>
        </p:nvSpPr>
        <p:spPr>
          <a:xfrm>
            <a:off x="8458200" y="2578608"/>
            <a:ext cx="402336" cy="402336"/>
          </a:xfrm>
          <a:prstGeom prst="ellipse">
            <a:avLst/>
          </a:prstGeom>
          <a:solidFill>
            <a:srgbClr val="287A60"/>
          </a:solidFill>
          <a:ln w="25400">
            <a:solidFill>
              <a:srgbClr val="FFFFFF"/>
            </a:solidFill>
            <a:prstDash val="solid"/>
          </a:ln>
        </p:spPr>
        <p:txBody>
          <a:bodyPr/>
          <a:lstStyle/>
          <a:p>
            <a:endParaRPr/>
          </a:p>
        </p:txBody>
      </p:sp>
      <p:sp>
        <p:nvSpPr>
          <p:cNvPr id="33" name="Text 31"/>
          <p:cNvSpPr/>
          <p:nvPr/>
        </p:nvSpPr>
        <p:spPr>
          <a:xfrm>
            <a:off x="7827264" y="2112264"/>
            <a:ext cx="1682496" cy="274320"/>
          </a:xfrm>
          <a:prstGeom prst="rect">
            <a:avLst/>
          </a:prstGeom>
          <a:noFill/>
          <a:ln/>
        </p:spPr>
        <p:txBody>
          <a:bodyPr wrap="square" lIns="0" tIns="0" rIns="0" bIns="0" rtlCol="0" anchor="ctr">
            <a:normAutofit/>
          </a:bodyPr>
          <a:lstStyle/>
          <a:p>
            <a:pPr marL="0" indent="0" algn="ctr">
              <a:buNone/>
            </a:pPr>
            <a:r>
              <a:rPr lang="en-US" sz="1600" b="1" i="1" dirty="0">
                <a:latin typeface="Inter Display" pitchFamily="34" charset="0"/>
                <a:ea typeface="Inter Display" pitchFamily="34" charset="-122"/>
                <a:cs typeface="Inter Display" pitchFamily="34" charset="-120"/>
              </a:rPr>
              <a:t>31-AUG-26</a:t>
            </a:r>
            <a:endParaRPr lang="en-US" sz="1600" i="1" dirty="0"/>
          </a:p>
        </p:txBody>
      </p:sp>
      <p:sp>
        <p:nvSpPr>
          <p:cNvPr id="34" name="Shape 32"/>
          <p:cNvSpPr/>
          <p:nvPr/>
        </p:nvSpPr>
        <p:spPr>
          <a:xfrm>
            <a:off x="7973568" y="3246120"/>
            <a:ext cx="1572768" cy="1828800"/>
          </a:xfrm>
          <a:prstGeom prst="roundRect">
            <a:avLst>
              <a:gd name="adj" fmla="val 4651"/>
            </a:avLst>
          </a:prstGeom>
          <a:solidFill>
            <a:srgbClr val="FFFFFF"/>
          </a:solidFill>
          <a:ln w="10160">
            <a:solidFill>
              <a:srgbClr val="E1E4E6"/>
            </a:solidFill>
            <a:prstDash val="solid"/>
          </a:ln>
        </p:spPr>
        <p:txBody>
          <a:bodyPr/>
          <a:lstStyle/>
          <a:p>
            <a:endParaRPr/>
          </a:p>
        </p:txBody>
      </p:sp>
      <p:sp>
        <p:nvSpPr>
          <p:cNvPr id="35" name="Shape 33"/>
          <p:cNvSpPr/>
          <p:nvPr/>
        </p:nvSpPr>
        <p:spPr>
          <a:xfrm>
            <a:off x="7973568" y="3246120"/>
            <a:ext cx="1572768" cy="64008"/>
          </a:xfrm>
          <a:prstGeom prst="rect">
            <a:avLst/>
          </a:prstGeom>
          <a:solidFill>
            <a:srgbClr val="287A60"/>
          </a:solidFill>
          <a:ln w="12700">
            <a:solidFill>
              <a:srgbClr val="287A60"/>
            </a:solidFill>
            <a:prstDash val="solid"/>
          </a:ln>
        </p:spPr>
        <p:txBody>
          <a:bodyPr/>
          <a:lstStyle/>
          <a:p>
            <a:endParaRPr/>
          </a:p>
        </p:txBody>
      </p:sp>
      <p:sp>
        <p:nvSpPr>
          <p:cNvPr id="36" name="Text 34"/>
          <p:cNvSpPr/>
          <p:nvPr/>
        </p:nvSpPr>
        <p:spPr>
          <a:xfrm>
            <a:off x="8101584" y="3502152"/>
            <a:ext cx="1316736" cy="512064"/>
          </a:xfrm>
          <a:prstGeom prst="rect">
            <a:avLst/>
          </a:prstGeom>
          <a:noFill/>
          <a:ln/>
        </p:spPr>
        <p:txBody>
          <a:bodyPr wrap="square" lIns="0" tIns="0" rIns="0" bIns="0" rtlCol="0" anchor="ctr">
            <a:normAutofit/>
          </a:bodyPr>
          <a:lstStyle/>
          <a:p>
            <a:pPr marL="0" indent="0">
              <a:buNone/>
            </a:pPr>
            <a:r>
              <a:rPr lang="en-US" sz="1100" b="1" dirty="0">
                <a:solidFill>
                  <a:srgbClr val="0C1B2A"/>
                </a:solidFill>
                <a:latin typeface="Inter" pitchFamily="34" charset="0"/>
                <a:ea typeface="Inter" pitchFamily="34" charset="-122"/>
                <a:cs typeface="Inter" pitchFamily="34" charset="-120"/>
              </a:rPr>
              <a:t>No-contact cleaning</a:t>
            </a:r>
            <a:endParaRPr lang="en-US" sz="1100" dirty="0"/>
          </a:p>
        </p:txBody>
      </p:sp>
      <p:sp>
        <p:nvSpPr>
          <p:cNvPr id="37" name="Text 35"/>
          <p:cNvSpPr/>
          <p:nvPr/>
        </p:nvSpPr>
        <p:spPr>
          <a:xfrm>
            <a:off x="8101584" y="4114800"/>
            <a:ext cx="1316736" cy="694944"/>
          </a:xfrm>
          <a:prstGeom prst="rect">
            <a:avLst/>
          </a:prstGeom>
          <a:noFill/>
          <a:ln/>
        </p:spPr>
        <p:txBody>
          <a:bodyPr wrap="square" lIns="0" tIns="0" rIns="0" bIns="0" rtlCol="0" anchor="ctr">
            <a:normAutofit lnSpcReduction="10000"/>
          </a:bodyPr>
          <a:lstStyle/>
          <a:p>
            <a:pPr marL="0" indent="0">
              <a:buNone/>
            </a:pPr>
            <a:r>
              <a:rPr lang="en-US" sz="1000" dirty="0">
                <a:latin typeface="Inter" pitchFamily="34" charset="0"/>
                <a:ea typeface="Inter" pitchFamily="34" charset="-122"/>
                <a:cs typeface="Inter" pitchFamily="34" charset="-120"/>
              </a:rPr>
              <a:t>Third shift cleans with no hand / nozzle contact; removable parts later removed for 1</a:t>
            </a:r>
            <a:r>
              <a:rPr lang="en-US" sz="1000" baseline="30000" dirty="0">
                <a:latin typeface="Inter" pitchFamily="34" charset="0"/>
                <a:ea typeface="Inter" pitchFamily="34" charset="-122"/>
                <a:cs typeface="Inter" pitchFamily="34" charset="-120"/>
              </a:rPr>
              <a:t>st</a:t>
            </a:r>
            <a:r>
              <a:rPr lang="en-US" sz="1000" dirty="0">
                <a:latin typeface="Inter" pitchFamily="34" charset="0"/>
                <a:ea typeface="Inter" pitchFamily="34" charset="-122"/>
                <a:cs typeface="Inter" pitchFamily="34" charset="-120"/>
              </a:rPr>
              <a:t> Shift Handoff</a:t>
            </a:r>
            <a:endParaRPr lang="en-US" sz="1000" dirty="0"/>
          </a:p>
        </p:txBody>
      </p:sp>
      <p:sp>
        <p:nvSpPr>
          <p:cNvPr id="38" name="Shape 36"/>
          <p:cNvSpPr/>
          <p:nvPr/>
        </p:nvSpPr>
        <p:spPr>
          <a:xfrm>
            <a:off x="10296144" y="2578608"/>
            <a:ext cx="402336" cy="402336"/>
          </a:xfrm>
          <a:prstGeom prst="ellipse">
            <a:avLst/>
          </a:prstGeom>
          <a:solidFill>
            <a:srgbClr val="0D4C9D"/>
          </a:solidFill>
          <a:ln w="25400">
            <a:solidFill>
              <a:srgbClr val="FFFFFF"/>
            </a:solidFill>
            <a:prstDash val="solid"/>
          </a:ln>
        </p:spPr>
        <p:txBody>
          <a:bodyPr/>
          <a:lstStyle/>
          <a:p>
            <a:endParaRPr/>
          </a:p>
        </p:txBody>
      </p:sp>
      <p:sp>
        <p:nvSpPr>
          <p:cNvPr id="39" name="Text 37"/>
          <p:cNvSpPr/>
          <p:nvPr/>
        </p:nvSpPr>
        <p:spPr>
          <a:xfrm>
            <a:off x="9711273" y="2121408"/>
            <a:ext cx="1808097" cy="274320"/>
          </a:xfrm>
          <a:prstGeom prst="rect">
            <a:avLst/>
          </a:prstGeom>
          <a:noFill/>
          <a:ln/>
        </p:spPr>
        <p:txBody>
          <a:bodyPr wrap="square" lIns="0" tIns="0" rIns="0" bIns="0" rtlCol="0" anchor="ctr">
            <a:normAutofit/>
          </a:bodyPr>
          <a:lstStyle/>
          <a:p>
            <a:pPr marL="0" indent="0" algn="ctr">
              <a:buNone/>
            </a:pPr>
            <a:r>
              <a:rPr lang="en-US" sz="1600" b="1" i="1" dirty="0">
                <a:latin typeface="Inter Display" pitchFamily="34" charset="0"/>
                <a:ea typeface="Inter Display" pitchFamily="34" charset="-122"/>
                <a:cs typeface="Inter Display" pitchFamily="34" charset="-120"/>
              </a:rPr>
              <a:t>01-SEP-26, PD</a:t>
            </a:r>
            <a:endParaRPr lang="en-US" sz="1600" i="1" dirty="0"/>
          </a:p>
        </p:txBody>
      </p:sp>
      <p:sp>
        <p:nvSpPr>
          <p:cNvPr id="40" name="Shape 38"/>
          <p:cNvSpPr/>
          <p:nvPr/>
        </p:nvSpPr>
        <p:spPr>
          <a:xfrm>
            <a:off x="9811512" y="3246120"/>
            <a:ext cx="1572768" cy="1828800"/>
          </a:xfrm>
          <a:prstGeom prst="roundRect">
            <a:avLst>
              <a:gd name="adj" fmla="val 4651"/>
            </a:avLst>
          </a:prstGeom>
          <a:solidFill>
            <a:srgbClr val="FFFFFF"/>
          </a:solidFill>
          <a:ln w="10160">
            <a:solidFill>
              <a:srgbClr val="E1E4E6"/>
            </a:solidFill>
            <a:prstDash val="solid"/>
          </a:ln>
        </p:spPr>
        <p:txBody>
          <a:bodyPr/>
          <a:lstStyle/>
          <a:p>
            <a:endParaRPr/>
          </a:p>
        </p:txBody>
      </p:sp>
      <p:sp>
        <p:nvSpPr>
          <p:cNvPr id="41" name="Shape 39"/>
          <p:cNvSpPr/>
          <p:nvPr/>
        </p:nvSpPr>
        <p:spPr>
          <a:xfrm>
            <a:off x="9811512" y="3246120"/>
            <a:ext cx="1572768" cy="64008"/>
          </a:xfrm>
          <a:prstGeom prst="rect">
            <a:avLst/>
          </a:prstGeom>
          <a:solidFill>
            <a:srgbClr val="0D4C9D"/>
          </a:solidFill>
          <a:ln w="12700">
            <a:solidFill>
              <a:srgbClr val="0D4C9D"/>
            </a:solidFill>
            <a:prstDash val="solid"/>
          </a:ln>
        </p:spPr>
        <p:txBody>
          <a:bodyPr/>
          <a:lstStyle/>
          <a:p>
            <a:endParaRPr/>
          </a:p>
        </p:txBody>
      </p:sp>
      <p:sp>
        <p:nvSpPr>
          <p:cNvPr id="42" name="Text 40"/>
          <p:cNvSpPr/>
          <p:nvPr/>
        </p:nvSpPr>
        <p:spPr>
          <a:xfrm>
            <a:off x="9939528" y="3502152"/>
            <a:ext cx="1316736" cy="512064"/>
          </a:xfrm>
          <a:prstGeom prst="rect">
            <a:avLst/>
          </a:prstGeom>
          <a:noFill/>
          <a:ln/>
        </p:spPr>
        <p:txBody>
          <a:bodyPr wrap="square" lIns="0" tIns="0" rIns="0" bIns="0" rtlCol="0" anchor="ctr">
            <a:normAutofit/>
          </a:bodyPr>
          <a:lstStyle/>
          <a:p>
            <a:pPr marL="0" indent="0">
              <a:buNone/>
            </a:pPr>
            <a:r>
              <a:rPr lang="en-US" sz="1100" b="1" dirty="0">
                <a:solidFill>
                  <a:srgbClr val="0C1B2A"/>
                </a:solidFill>
                <a:latin typeface="Inter" pitchFamily="34" charset="0"/>
                <a:ea typeface="Inter" pitchFamily="34" charset="-122"/>
                <a:cs typeface="Inter" pitchFamily="34" charset="-120"/>
              </a:rPr>
              <a:t>Comparison run</a:t>
            </a:r>
            <a:endParaRPr lang="en-US" sz="1100" dirty="0"/>
          </a:p>
        </p:txBody>
      </p:sp>
      <p:sp>
        <p:nvSpPr>
          <p:cNvPr id="43" name="Text 41"/>
          <p:cNvSpPr/>
          <p:nvPr/>
        </p:nvSpPr>
        <p:spPr>
          <a:xfrm>
            <a:off x="9939528" y="4114800"/>
            <a:ext cx="1316736" cy="694944"/>
          </a:xfrm>
          <a:prstGeom prst="rect">
            <a:avLst/>
          </a:prstGeom>
          <a:noFill/>
          <a:ln/>
        </p:spPr>
        <p:txBody>
          <a:bodyPr wrap="square" lIns="0" tIns="0" rIns="0" bIns="0" rtlCol="0" anchor="ctr">
            <a:normAutofit/>
          </a:bodyPr>
          <a:lstStyle/>
          <a:p>
            <a:pPr marL="0" indent="0">
              <a:buNone/>
            </a:pPr>
            <a:r>
              <a:rPr lang="en-US" sz="1000" dirty="0">
                <a:latin typeface="Inter" pitchFamily="34" charset="0"/>
                <a:ea typeface="Inter" pitchFamily="34" charset="-122"/>
                <a:cs typeface="Inter" pitchFamily="34" charset="-120"/>
              </a:rPr>
              <a:t>No abnormal pan contact; pan removed before cleaning</a:t>
            </a:r>
            <a:endParaRPr lang="en-US" sz="1000" dirty="0"/>
          </a:p>
        </p:txBody>
      </p:sp>
      <p:sp>
        <p:nvSpPr>
          <p:cNvPr id="44" name="Shape 42"/>
          <p:cNvSpPr/>
          <p:nvPr/>
        </p:nvSpPr>
        <p:spPr>
          <a:xfrm>
            <a:off x="621792" y="5349240"/>
            <a:ext cx="10991088" cy="749808"/>
          </a:xfrm>
          <a:prstGeom prst="roundRect">
            <a:avLst>
              <a:gd name="adj" fmla="val 9756"/>
            </a:avLst>
          </a:prstGeom>
          <a:solidFill>
            <a:srgbClr val="DFEBFA"/>
          </a:solidFill>
          <a:ln w="10160">
            <a:solidFill>
              <a:srgbClr val="DFEBFA"/>
            </a:solidFill>
            <a:prstDash val="solid"/>
          </a:ln>
        </p:spPr>
        <p:txBody>
          <a:bodyPr/>
          <a:lstStyle/>
          <a:p>
            <a:endParaRPr/>
          </a:p>
        </p:txBody>
      </p:sp>
      <p:sp>
        <p:nvSpPr>
          <p:cNvPr id="45" name="Text 43"/>
          <p:cNvSpPr/>
          <p:nvPr/>
        </p:nvSpPr>
        <p:spPr>
          <a:xfrm>
            <a:off x="777240" y="5550408"/>
            <a:ext cx="1536192" cy="164592"/>
          </a:xfrm>
          <a:prstGeom prst="rect">
            <a:avLst/>
          </a:prstGeom>
          <a:noFill/>
          <a:ln/>
        </p:spPr>
        <p:txBody>
          <a:bodyPr wrap="square" lIns="0" tIns="0" rIns="0" bIns="0" rtlCol="0" anchor="ctr"/>
          <a:lstStyle/>
          <a:p>
            <a:pPr marL="0" indent="0">
              <a:buNone/>
            </a:pPr>
            <a:r>
              <a:rPr lang="en-US" sz="1000" b="1" kern="0" spc="70" dirty="0">
                <a:solidFill>
                  <a:srgbClr val="0D4C9D"/>
                </a:solidFill>
                <a:latin typeface="Inter" pitchFamily="34" charset="0"/>
                <a:ea typeface="Inter" pitchFamily="34" charset="-122"/>
                <a:cs typeface="Inter" pitchFamily="34" charset="-120"/>
              </a:rPr>
              <a:t>Pattern across time</a:t>
            </a:r>
            <a:endParaRPr lang="en-US" sz="1000" dirty="0"/>
          </a:p>
        </p:txBody>
      </p:sp>
      <p:sp>
        <p:nvSpPr>
          <p:cNvPr id="46" name="Text 44"/>
          <p:cNvSpPr/>
          <p:nvPr/>
        </p:nvSpPr>
        <p:spPr>
          <a:xfrm>
            <a:off x="2302821" y="5541263"/>
            <a:ext cx="8869680" cy="320040"/>
          </a:xfrm>
          <a:prstGeom prst="rect">
            <a:avLst/>
          </a:prstGeom>
          <a:noFill/>
          <a:ln/>
        </p:spPr>
        <p:txBody>
          <a:bodyPr wrap="square" lIns="0" tIns="0" rIns="0" bIns="0" rtlCol="0" anchor="ctr">
            <a:normAutofit/>
          </a:bodyPr>
          <a:lstStyle/>
          <a:p>
            <a:pPr marL="0" indent="0">
              <a:buNone/>
            </a:pPr>
            <a:r>
              <a:rPr lang="en-US" sz="1040" b="1" dirty="0">
                <a:solidFill>
                  <a:srgbClr val="0C1B2A"/>
                </a:solidFill>
                <a:latin typeface="Inter" pitchFamily="34" charset="0"/>
                <a:ea typeface="Inter" pitchFamily="34" charset="-122"/>
                <a:cs typeface="Inter" pitchFamily="34" charset="-120"/>
              </a:rPr>
              <a:t>The critical handling condition was observed more than once, while later comparison runs demonstrated that cleaning can be performed without direct weigh-pan loading.</a:t>
            </a:r>
            <a:endParaRPr lang="en-US" sz="1040" dirty="0"/>
          </a:p>
        </p:txBody>
      </p:sp>
      <p:sp>
        <p:nvSpPr>
          <p:cNvPr id="2" name="Slide Number Placeholder 0"/>
          <p:cNvSpPr>
            <a:spLocks noGrp="1"/>
          </p:cNvSpPr>
          <p:nvPr>
            <p:ph type="sldNum" sz="quarter" idx="4294967295"/>
          </p:nvPr>
        </p:nvSpPr>
        <p:spPr>
          <a:xfrm>
            <a:off x="11247120" y="6419088"/>
            <a:ext cx="457200" cy="201168"/>
          </a:xfrm>
          <a:prstGeom prst="rect">
            <a:avLst/>
          </a:prstGeom>
          <a:extLst>
            <a:ext uri="{C572A759-6A51-4108-AA02-DFA0A04FC94B}">
              <ma14:wrappingTextBoxFlag xmlns="" xmlns:ma14="http://schemas.microsoft.com/office/mac/drawingml/2011/main" val="0"/>
            </a:ext>
          </a:extLst>
        </p:spPr>
        <p:txBody>
          <a:bodyPr lIns="0" tIns="0" rIns="0" bIns="0"/>
          <a:lstStyle>
            <a:lvl1pPr>
              <a:defRPr sz="700">
                <a:solidFill>
                  <a:srgbClr val="89929D"/>
                </a:solidFill>
                <a:latin typeface="Inter"/>
                <a:ea typeface="Inter"/>
                <a:cs typeface="Inter"/>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566928" y="850392"/>
            <a:ext cx="12398574" cy="566928"/>
          </a:xfrm>
          <a:prstGeom prst="rect">
            <a:avLst/>
          </a:prstGeom>
          <a:noFill/>
          <a:ln/>
        </p:spPr>
        <p:txBody>
          <a:bodyPr wrap="square" lIns="0" tIns="0" rIns="0" bIns="0" rtlCol="0" anchor="ctr">
            <a:normAutofit/>
          </a:bodyPr>
          <a:lstStyle/>
          <a:p>
            <a:pPr marL="0" indent="0">
              <a:buNone/>
            </a:pPr>
            <a:r>
              <a:rPr lang="en-US" sz="2600" b="1" spc="-150" dirty="0">
                <a:solidFill>
                  <a:srgbClr val="0C1B2A"/>
                </a:solidFill>
                <a:latin typeface="Inter Display" pitchFamily="34" charset="0"/>
                <a:ea typeface="Inter Display" pitchFamily="34" charset="-122"/>
                <a:cs typeface="Inter Display" pitchFamily="34" charset="-120"/>
              </a:rPr>
              <a:t>Direct weigh-pan force creates a credible load path into the weighing mechanism</a:t>
            </a:r>
            <a:endParaRPr lang="en-US" sz="2600" spc="-150" dirty="0"/>
          </a:p>
        </p:txBody>
      </p:sp>
      <p:sp>
        <p:nvSpPr>
          <p:cNvPr id="6" name="Text 4"/>
          <p:cNvSpPr/>
          <p:nvPr/>
        </p:nvSpPr>
        <p:spPr>
          <a:xfrm>
            <a:off x="585216" y="1435608"/>
            <a:ext cx="10789920" cy="329184"/>
          </a:xfrm>
          <a:prstGeom prst="rect">
            <a:avLst/>
          </a:prstGeom>
          <a:noFill/>
          <a:ln/>
        </p:spPr>
        <p:txBody>
          <a:bodyPr wrap="square" lIns="0" tIns="0" rIns="0" bIns="0" rtlCol="0" anchor="ctr">
            <a:normAutofit/>
          </a:bodyPr>
          <a:lstStyle/>
          <a:p>
            <a:pPr marL="0" indent="0">
              <a:buNone/>
            </a:pPr>
            <a:r>
              <a:rPr lang="en-US" sz="1180" dirty="0">
                <a:solidFill>
                  <a:srgbClr val="1554A9"/>
                </a:solidFill>
                <a:latin typeface="Inter" pitchFamily="34" charset="0"/>
                <a:ea typeface="Inter" pitchFamily="34" charset="-122"/>
                <a:cs typeface="Inter" pitchFamily="34" charset="-120"/>
              </a:rPr>
              <a:t>This is the only mechanical pathway supported by repeated direct observation plus a relevant historical event.</a:t>
            </a:r>
            <a:endParaRPr lang="en-US" sz="1180" dirty="0"/>
          </a:p>
        </p:txBody>
      </p:sp>
      <p:sp>
        <p:nvSpPr>
          <p:cNvPr id="7" name="Shape 5"/>
          <p:cNvSpPr/>
          <p:nvPr/>
        </p:nvSpPr>
        <p:spPr>
          <a:xfrm>
            <a:off x="566928" y="1847088"/>
            <a:ext cx="11045952" cy="0"/>
          </a:xfrm>
          <a:prstGeom prst="line">
            <a:avLst/>
          </a:prstGeom>
          <a:noFill/>
          <a:ln w="10160">
            <a:solidFill>
              <a:srgbClr val="D7DAD8"/>
            </a:solidFill>
            <a:prstDash val="solid"/>
          </a:ln>
        </p:spPr>
        <p:txBody>
          <a:bodyPr/>
          <a:lstStyle/>
          <a:p>
            <a:endParaRPr/>
          </a:p>
        </p:txBody>
      </p:sp>
      <p:sp>
        <p:nvSpPr>
          <p:cNvPr id="22" name="Shape 19"/>
          <p:cNvSpPr/>
          <p:nvPr/>
        </p:nvSpPr>
        <p:spPr>
          <a:xfrm>
            <a:off x="713232" y="5705856"/>
            <a:ext cx="10607040" cy="438912"/>
          </a:xfrm>
          <a:prstGeom prst="roundRect">
            <a:avLst>
              <a:gd name="adj" fmla="val 16667"/>
            </a:avLst>
          </a:prstGeom>
          <a:solidFill>
            <a:srgbClr val="0E2136"/>
          </a:solidFill>
          <a:ln w="10160">
            <a:solidFill>
              <a:srgbClr val="0E2136"/>
            </a:solidFill>
            <a:prstDash val="solid"/>
          </a:ln>
        </p:spPr>
        <p:txBody>
          <a:bodyPr/>
          <a:lstStyle/>
          <a:p>
            <a:endParaRPr/>
          </a:p>
        </p:txBody>
      </p:sp>
      <p:sp>
        <p:nvSpPr>
          <p:cNvPr id="23" name="Text 20"/>
          <p:cNvSpPr/>
          <p:nvPr/>
        </p:nvSpPr>
        <p:spPr>
          <a:xfrm>
            <a:off x="758952" y="5705856"/>
            <a:ext cx="10515600" cy="438912"/>
          </a:xfrm>
          <a:prstGeom prst="rect">
            <a:avLst/>
          </a:prstGeom>
          <a:noFill/>
          <a:ln/>
        </p:spPr>
        <p:txBody>
          <a:bodyPr wrap="square" lIns="0" tIns="0" rIns="0" bIns="0" rtlCol="0" anchor="ctr"/>
          <a:lstStyle/>
          <a:p>
            <a:pPr marL="0" indent="0" algn="ctr">
              <a:buNone/>
            </a:pPr>
            <a:r>
              <a:rPr lang="en-US" sz="880" b="1" dirty="0">
                <a:solidFill>
                  <a:srgbClr val="FFFFFF"/>
                </a:solidFill>
                <a:latin typeface="Inter" pitchFamily="34" charset="0"/>
                <a:ea typeface="Inter" pitchFamily="34" charset="-122"/>
                <a:cs typeface="Inter" pitchFamily="34" charset="-120"/>
              </a:rPr>
              <a:t>What this proves: the loading behavior exists.  What still needs manufacturer confirmation: allowable load / damage threshold.</a:t>
            </a:r>
            <a:endParaRPr lang="en-US" sz="880" dirty="0"/>
          </a:p>
        </p:txBody>
      </p:sp>
      <p:sp>
        <p:nvSpPr>
          <p:cNvPr id="25" name="Slide Number Placeholder 0"/>
          <p:cNvSpPr>
            <a:spLocks noGrp="1"/>
          </p:cNvSpPr>
          <p:nvPr>
            <p:ph type="sldNum" sz="quarter" idx="4294967295"/>
          </p:nvPr>
        </p:nvSpPr>
        <p:spPr>
          <a:xfrm>
            <a:off x="11247120" y="6419088"/>
            <a:ext cx="457200" cy="201168"/>
          </a:xfrm>
          <a:prstGeom prst="rect">
            <a:avLst/>
          </a:prstGeom>
          <a:extLst>
            <a:ext uri="{C572A759-6A51-4108-AA02-DFA0A04FC94B}">
              <ma14:wrappingTextBoxFlag xmlns="" xmlns:ma14="http://schemas.microsoft.com/office/mac/drawingml/2011/main" val="0"/>
            </a:ext>
          </a:extLst>
        </p:spPr>
        <p:txBody>
          <a:bodyPr lIns="0" tIns="0" rIns="0" bIns="0"/>
          <a:lstStyle>
            <a:lvl1pPr>
              <a:defRPr sz="700">
                <a:solidFill>
                  <a:srgbClr val="89929D"/>
                </a:solidFill>
                <a:latin typeface="Inter"/>
                <a:ea typeface="Inter"/>
                <a:cs typeface="Inter"/>
              </a:defRPr>
            </a:lvl1pPr>
          </a:lstStyle>
          <a:p>
            <a:pPr algn="r"/>
            <a:fld id="{F7021451-1387-4CA6-816F-3879F97B5CBC}" type="slidenum">
              <a:rPr lang="en-US" b="0"/>
              <a:t>8</a:t>
            </a:fld>
            <a:endParaRPr lang="en-US"/>
          </a:p>
        </p:txBody>
      </p:sp>
      <p:sp>
        <p:nvSpPr>
          <p:cNvPr id="26" name="Rounded Rectangle 25"/>
          <p:cNvSpPr/>
          <p:nvPr/>
        </p:nvSpPr>
        <p:spPr>
          <a:xfrm>
            <a:off x="713232" y="2212848"/>
            <a:ext cx="3364992" cy="3154680"/>
          </a:xfrm>
          <a:prstGeom prst="roundRect">
            <a:avLst/>
          </a:prstGeom>
          <a:solidFill>
            <a:srgbClr val="FFFFFF"/>
          </a:solidFill>
          <a:ln w="12700">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987552" y="2560320"/>
            <a:ext cx="2816352" cy="347472"/>
          </a:xfrm>
          <a:prstGeom prst="roundRect">
            <a:avLst/>
          </a:prstGeom>
          <a:solidFill>
            <a:srgbClr val="F7E7E5"/>
          </a:solidFill>
          <a:ln>
            <a:solidFill>
              <a:srgbClr val="F7E7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4000"/>
          </a:p>
        </p:txBody>
      </p:sp>
      <p:sp>
        <p:nvSpPr>
          <p:cNvPr id="29" name="TextBox 28"/>
          <p:cNvSpPr txBox="1"/>
          <p:nvPr/>
        </p:nvSpPr>
        <p:spPr>
          <a:xfrm>
            <a:off x="1353263" y="2610947"/>
            <a:ext cx="2084931" cy="246221"/>
          </a:xfrm>
          <a:prstGeom prst="rect">
            <a:avLst/>
          </a:prstGeom>
          <a:noFill/>
        </p:spPr>
        <p:txBody>
          <a:bodyPr wrap="none" lIns="0" tIns="0" rIns="0" bIns="0" anchor="ctr">
            <a:spAutoFit/>
          </a:bodyPr>
          <a:lstStyle/>
          <a:p>
            <a:pPr algn="ctr"/>
            <a:r>
              <a:rPr sz="1600" b="1">
                <a:solidFill>
                  <a:srgbClr val="C94848"/>
                </a:solidFill>
                <a:latin typeface="Aptos"/>
              </a:rPr>
              <a:t>DIRECT OBSERVATION</a:t>
            </a:r>
          </a:p>
        </p:txBody>
      </p:sp>
      <p:sp>
        <p:nvSpPr>
          <p:cNvPr id="30" name="TextBox 29"/>
          <p:cNvSpPr txBox="1"/>
          <p:nvPr/>
        </p:nvSpPr>
        <p:spPr>
          <a:xfrm>
            <a:off x="1838428" y="3189916"/>
            <a:ext cx="1114599" cy="276999"/>
          </a:xfrm>
          <a:prstGeom prst="rect">
            <a:avLst/>
          </a:prstGeom>
          <a:noFill/>
        </p:spPr>
        <p:txBody>
          <a:bodyPr wrap="none" lIns="0" tIns="0" rIns="0" bIns="0" anchor="ctr">
            <a:spAutoFit/>
          </a:bodyPr>
          <a:lstStyle/>
          <a:p>
            <a:pPr algn="ctr"/>
            <a:r>
              <a:rPr b="1">
                <a:solidFill>
                  <a:srgbClr val="0C1B2A"/>
                </a:solidFill>
                <a:latin typeface="Aptos"/>
              </a:rPr>
              <a:t>17-AUG-26</a:t>
            </a:r>
          </a:p>
        </p:txBody>
      </p:sp>
      <p:sp>
        <p:nvSpPr>
          <p:cNvPr id="31" name="TextBox 30"/>
          <p:cNvSpPr txBox="1"/>
          <p:nvPr/>
        </p:nvSpPr>
        <p:spPr>
          <a:xfrm>
            <a:off x="1033272" y="3612119"/>
            <a:ext cx="2561790" cy="861774"/>
          </a:xfrm>
          <a:prstGeom prst="rect">
            <a:avLst/>
          </a:prstGeom>
          <a:noFill/>
        </p:spPr>
        <p:txBody>
          <a:bodyPr wrap="square" lIns="0" tIns="0" rIns="0" bIns="0" anchor="t">
            <a:spAutoFit/>
          </a:bodyPr>
          <a:lstStyle/>
          <a:p>
            <a:pPr algn="ctr"/>
            <a:r>
              <a:rPr sz="1400" b="0" dirty="0">
                <a:latin typeface="Aptos"/>
              </a:rPr>
              <a:t>Operator applied downward force directly to the weigh pan while vacuuming. The system was energized.</a:t>
            </a:r>
          </a:p>
        </p:txBody>
      </p:sp>
      <p:sp>
        <p:nvSpPr>
          <p:cNvPr id="32" name="TextBox 31"/>
          <p:cNvSpPr txBox="1"/>
          <p:nvPr/>
        </p:nvSpPr>
        <p:spPr>
          <a:xfrm>
            <a:off x="1024128" y="4791456"/>
            <a:ext cx="2743200" cy="384048"/>
          </a:xfrm>
          <a:prstGeom prst="rect">
            <a:avLst/>
          </a:prstGeom>
          <a:noFill/>
        </p:spPr>
        <p:txBody>
          <a:bodyPr wrap="none" lIns="0" tIns="0" rIns="0" bIns="0" anchor="ctr">
            <a:spAutoFit/>
          </a:bodyPr>
          <a:lstStyle/>
          <a:p>
            <a:pPr algn="ctr"/>
            <a:r>
              <a:rPr sz="1000" b="1">
                <a:solidFill>
                  <a:srgbClr val="C94848"/>
                </a:solidFill>
                <a:latin typeface="Aptos"/>
              </a:rPr>
              <a:t>Repeated direct-load behavior observed.</a:t>
            </a:r>
          </a:p>
        </p:txBody>
      </p:sp>
      <p:sp>
        <p:nvSpPr>
          <p:cNvPr id="33" name="Rounded Rectangle 32"/>
          <p:cNvSpPr/>
          <p:nvPr/>
        </p:nvSpPr>
        <p:spPr>
          <a:xfrm>
            <a:off x="4334256" y="2212848"/>
            <a:ext cx="3364992" cy="3154680"/>
          </a:xfrm>
          <a:prstGeom prst="roundRect">
            <a:avLst/>
          </a:prstGeom>
          <a:solidFill>
            <a:srgbClr val="FFFFFF"/>
          </a:solidFill>
          <a:ln w="12700">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4608576" y="2560320"/>
            <a:ext cx="2816352" cy="347472"/>
          </a:xfrm>
          <a:prstGeom prst="roundRect">
            <a:avLst/>
          </a:prstGeom>
          <a:solidFill>
            <a:srgbClr val="F7E7E5"/>
          </a:solidFill>
          <a:ln>
            <a:solidFill>
              <a:srgbClr val="F7E7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4000"/>
          </a:p>
        </p:txBody>
      </p:sp>
      <p:sp>
        <p:nvSpPr>
          <p:cNvPr id="36" name="TextBox 35"/>
          <p:cNvSpPr txBox="1"/>
          <p:nvPr/>
        </p:nvSpPr>
        <p:spPr>
          <a:xfrm>
            <a:off x="4974287" y="2610947"/>
            <a:ext cx="2084931" cy="246221"/>
          </a:xfrm>
          <a:prstGeom prst="rect">
            <a:avLst/>
          </a:prstGeom>
          <a:noFill/>
        </p:spPr>
        <p:txBody>
          <a:bodyPr wrap="none" lIns="0" tIns="0" rIns="0" bIns="0" anchor="ctr">
            <a:spAutoFit/>
          </a:bodyPr>
          <a:lstStyle/>
          <a:p>
            <a:pPr algn="ctr"/>
            <a:r>
              <a:rPr sz="1600" b="1">
                <a:solidFill>
                  <a:srgbClr val="C94848"/>
                </a:solidFill>
                <a:latin typeface="Aptos"/>
              </a:rPr>
              <a:t>DIRECT OBSERVATION</a:t>
            </a:r>
          </a:p>
        </p:txBody>
      </p:sp>
      <p:sp>
        <p:nvSpPr>
          <p:cNvPr id="37" name="TextBox 36"/>
          <p:cNvSpPr txBox="1"/>
          <p:nvPr/>
        </p:nvSpPr>
        <p:spPr>
          <a:xfrm>
            <a:off x="5459452" y="3189916"/>
            <a:ext cx="1114599" cy="276999"/>
          </a:xfrm>
          <a:prstGeom prst="rect">
            <a:avLst/>
          </a:prstGeom>
          <a:noFill/>
        </p:spPr>
        <p:txBody>
          <a:bodyPr wrap="none" lIns="0" tIns="0" rIns="0" bIns="0" anchor="ctr">
            <a:spAutoFit/>
          </a:bodyPr>
          <a:lstStyle/>
          <a:p>
            <a:pPr algn="ctr"/>
            <a:r>
              <a:rPr b="1">
                <a:solidFill>
                  <a:srgbClr val="0C1B2A"/>
                </a:solidFill>
                <a:latin typeface="Aptos"/>
              </a:rPr>
              <a:t>20-AUG-26</a:t>
            </a:r>
          </a:p>
        </p:txBody>
      </p:sp>
      <p:sp>
        <p:nvSpPr>
          <p:cNvPr id="38" name="TextBox 37"/>
          <p:cNvSpPr txBox="1"/>
          <p:nvPr/>
        </p:nvSpPr>
        <p:spPr>
          <a:xfrm>
            <a:off x="5025225" y="3572178"/>
            <a:ext cx="1938262" cy="646331"/>
          </a:xfrm>
          <a:prstGeom prst="rect">
            <a:avLst/>
          </a:prstGeom>
          <a:noFill/>
        </p:spPr>
        <p:txBody>
          <a:bodyPr wrap="square" lIns="0" tIns="0" rIns="0" bIns="0" anchor="ctr">
            <a:spAutoFit/>
          </a:bodyPr>
          <a:lstStyle/>
          <a:p>
            <a:pPr algn="ctr"/>
            <a:r>
              <a:rPr sz="1400" b="0" dirty="0">
                <a:latin typeface="Aptos"/>
              </a:rPr>
              <a:t>The weigh pan was again held by hand during vacuum cleaning.</a:t>
            </a:r>
          </a:p>
        </p:txBody>
      </p:sp>
      <p:sp>
        <p:nvSpPr>
          <p:cNvPr id="39" name="TextBox 38"/>
          <p:cNvSpPr txBox="1"/>
          <p:nvPr/>
        </p:nvSpPr>
        <p:spPr>
          <a:xfrm>
            <a:off x="4645152" y="4791456"/>
            <a:ext cx="2743200" cy="384048"/>
          </a:xfrm>
          <a:prstGeom prst="rect">
            <a:avLst/>
          </a:prstGeom>
          <a:noFill/>
        </p:spPr>
        <p:txBody>
          <a:bodyPr wrap="none" lIns="0" tIns="0" rIns="0" bIns="0" anchor="ctr">
            <a:spAutoFit/>
          </a:bodyPr>
          <a:lstStyle/>
          <a:p>
            <a:pPr algn="ctr"/>
            <a:r>
              <a:rPr sz="1000" b="1">
                <a:solidFill>
                  <a:srgbClr val="C94848"/>
                </a:solidFill>
                <a:latin typeface="Aptos"/>
              </a:rPr>
              <a:t>Confirms the handling behavior recurred.</a:t>
            </a:r>
          </a:p>
        </p:txBody>
      </p:sp>
      <p:sp>
        <p:nvSpPr>
          <p:cNvPr id="40" name="Rounded Rectangle 39"/>
          <p:cNvSpPr/>
          <p:nvPr/>
        </p:nvSpPr>
        <p:spPr>
          <a:xfrm>
            <a:off x="7955280" y="2212848"/>
            <a:ext cx="3364992" cy="3154680"/>
          </a:xfrm>
          <a:prstGeom prst="roundRect">
            <a:avLst/>
          </a:prstGeom>
          <a:solidFill>
            <a:srgbClr val="FFFFFF"/>
          </a:solidFill>
          <a:ln w="12700">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8229600" y="2560320"/>
            <a:ext cx="2816352" cy="347472"/>
          </a:xfrm>
          <a:prstGeom prst="roundRect">
            <a:avLst/>
          </a:prstGeom>
          <a:solidFill>
            <a:srgbClr val="DFEBFA"/>
          </a:solidFill>
          <a:ln>
            <a:solidFill>
              <a:srgbClr val="DFEB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4000"/>
          </a:p>
        </p:txBody>
      </p:sp>
      <p:sp>
        <p:nvSpPr>
          <p:cNvPr id="43" name="TextBox 42"/>
          <p:cNvSpPr txBox="1"/>
          <p:nvPr/>
        </p:nvSpPr>
        <p:spPr>
          <a:xfrm>
            <a:off x="8794981" y="2610947"/>
            <a:ext cx="1685591" cy="246221"/>
          </a:xfrm>
          <a:prstGeom prst="rect">
            <a:avLst/>
          </a:prstGeom>
          <a:noFill/>
        </p:spPr>
        <p:txBody>
          <a:bodyPr wrap="none" lIns="0" tIns="0" rIns="0" bIns="0" anchor="ctr">
            <a:spAutoFit/>
          </a:bodyPr>
          <a:lstStyle/>
          <a:p>
            <a:pPr algn="ctr"/>
            <a:r>
              <a:rPr sz="1600" b="1">
                <a:solidFill>
                  <a:srgbClr val="0D4C9D"/>
                </a:solidFill>
                <a:latin typeface="Aptos"/>
              </a:rPr>
              <a:t>SERVICE HISTORY</a:t>
            </a:r>
          </a:p>
        </p:txBody>
      </p:sp>
      <p:sp>
        <p:nvSpPr>
          <p:cNvPr id="44" name="TextBox 43"/>
          <p:cNvSpPr txBox="1"/>
          <p:nvPr/>
        </p:nvSpPr>
        <p:spPr>
          <a:xfrm>
            <a:off x="8994106" y="3189916"/>
            <a:ext cx="1287340" cy="276999"/>
          </a:xfrm>
          <a:prstGeom prst="rect">
            <a:avLst/>
          </a:prstGeom>
          <a:noFill/>
        </p:spPr>
        <p:txBody>
          <a:bodyPr wrap="none" lIns="0" tIns="0" rIns="0" bIns="0" anchor="ctr">
            <a:spAutoFit/>
          </a:bodyPr>
          <a:lstStyle/>
          <a:p>
            <a:pPr algn="ctr"/>
            <a:r>
              <a:rPr b="1">
                <a:solidFill>
                  <a:srgbClr val="0C1B2A"/>
                </a:solidFill>
                <a:latin typeface="Aptos"/>
              </a:rPr>
              <a:t>HISTORICAL</a:t>
            </a:r>
          </a:p>
        </p:txBody>
      </p:sp>
      <p:sp>
        <p:nvSpPr>
          <p:cNvPr id="45" name="TextBox 44"/>
          <p:cNvSpPr txBox="1"/>
          <p:nvPr/>
        </p:nvSpPr>
        <p:spPr>
          <a:xfrm>
            <a:off x="8388626" y="3481314"/>
            <a:ext cx="2620750" cy="861774"/>
          </a:xfrm>
          <a:prstGeom prst="rect">
            <a:avLst/>
          </a:prstGeom>
          <a:noFill/>
        </p:spPr>
        <p:txBody>
          <a:bodyPr wrap="square" lIns="0" tIns="0" rIns="0" bIns="0" anchor="ctr">
            <a:spAutoFit/>
          </a:bodyPr>
          <a:lstStyle/>
          <a:p>
            <a:pPr algn="ctr"/>
            <a:r>
              <a:rPr sz="1400" b="0" dirty="0">
                <a:latin typeface="Aptos"/>
              </a:rPr>
              <a:t>TW#151494 documented a mechanical failure associated with pressing the pan during cleaning.</a:t>
            </a:r>
          </a:p>
        </p:txBody>
      </p:sp>
      <p:sp>
        <p:nvSpPr>
          <p:cNvPr id="46" name="TextBox 45"/>
          <p:cNvSpPr txBox="1"/>
          <p:nvPr/>
        </p:nvSpPr>
        <p:spPr>
          <a:xfrm>
            <a:off x="8388626" y="4821897"/>
            <a:ext cx="2565091" cy="323165"/>
          </a:xfrm>
          <a:prstGeom prst="rect">
            <a:avLst/>
          </a:prstGeom>
          <a:noFill/>
        </p:spPr>
        <p:txBody>
          <a:bodyPr wrap="square" lIns="0" tIns="0" rIns="0" bIns="0" anchor="ctr">
            <a:spAutoFit/>
          </a:bodyPr>
          <a:lstStyle/>
          <a:p>
            <a:pPr algn="ctr"/>
            <a:r>
              <a:rPr sz="1050" b="1" dirty="0">
                <a:solidFill>
                  <a:srgbClr val="0D4C9D"/>
                </a:solidFill>
                <a:latin typeface="Aptos"/>
              </a:rPr>
              <a:t>Relevant historical event supports the same load pathway.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566927" y="850392"/>
            <a:ext cx="12139781" cy="566928"/>
          </a:xfrm>
          <a:prstGeom prst="rect">
            <a:avLst/>
          </a:prstGeom>
          <a:noFill/>
          <a:ln/>
        </p:spPr>
        <p:txBody>
          <a:bodyPr wrap="square" lIns="0" tIns="0" rIns="0" bIns="0" rtlCol="0" anchor="ctr">
            <a:normAutofit/>
          </a:bodyPr>
          <a:lstStyle/>
          <a:p>
            <a:pPr marL="0" indent="0">
              <a:buNone/>
            </a:pPr>
            <a:r>
              <a:rPr lang="en-US" sz="2750" b="1" spc="-150" dirty="0">
                <a:solidFill>
                  <a:srgbClr val="0C1B2A"/>
                </a:solidFill>
                <a:latin typeface="Inter Display" pitchFamily="34" charset="0"/>
                <a:ea typeface="Inter Display" pitchFamily="34" charset="-122"/>
                <a:cs typeface="Inter Display" pitchFamily="34" charset="-120"/>
              </a:rPr>
              <a:t>Powder and alignment conditions may amplify vibration and cause </a:t>
            </a:r>
            <a:r>
              <a:rPr lang="en-US" sz="2750" b="1" spc="-150" dirty="0">
                <a:solidFill>
                  <a:srgbClr val="C94848"/>
                </a:solidFill>
                <a:latin typeface="Inter Display" pitchFamily="34" charset="0"/>
                <a:ea typeface="Inter Display" pitchFamily="34" charset="-122"/>
                <a:cs typeface="Inter Display" pitchFamily="34" charset="-120"/>
              </a:rPr>
              <a:t>Downtime</a:t>
            </a:r>
            <a:endParaRPr lang="en-US" sz="2750" spc="-150" dirty="0">
              <a:solidFill>
                <a:srgbClr val="C94848"/>
              </a:solidFill>
            </a:endParaRPr>
          </a:p>
        </p:txBody>
      </p:sp>
      <p:sp>
        <p:nvSpPr>
          <p:cNvPr id="6" name="Text 4"/>
          <p:cNvSpPr/>
          <p:nvPr/>
        </p:nvSpPr>
        <p:spPr>
          <a:xfrm>
            <a:off x="585216" y="1435608"/>
            <a:ext cx="10789920" cy="329184"/>
          </a:xfrm>
          <a:prstGeom prst="rect">
            <a:avLst/>
          </a:prstGeom>
          <a:noFill/>
          <a:ln/>
        </p:spPr>
        <p:txBody>
          <a:bodyPr wrap="square" lIns="0" tIns="0" rIns="0" bIns="0" rtlCol="0" anchor="ctr">
            <a:normAutofit/>
          </a:bodyPr>
          <a:lstStyle/>
          <a:p>
            <a:pPr marL="0" indent="0">
              <a:buNone/>
            </a:pPr>
            <a:r>
              <a:rPr lang="en-US" sz="1180" dirty="0">
                <a:solidFill>
                  <a:srgbClr val="1554A9"/>
                </a:solidFill>
                <a:latin typeface="Inter" pitchFamily="34" charset="0"/>
                <a:ea typeface="Inter" pitchFamily="34" charset="-122"/>
                <a:cs typeface="Inter" pitchFamily="34" charset="-120"/>
              </a:rPr>
              <a:t>This pathway is supported by observed buildup and operator / SME input, but it is not as direct as the pan-loading evidence.</a:t>
            </a:r>
            <a:endParaRPr lang="en-US" sz="1180" dirty="0"/>
          </a:p>
        </p:txBody>
      </p:sp>
      <p:sp>
        <p:nvSpPr>
          <p:cNvPr id="7" name="Shape 5"/>
          <p:cNvSpPr/>
          <p:nvPr/>
        </p:nvSpPr>
        <p:spPr>
          <a:xfrm>
            <a:off x="566928" y="1847088"/>
            <a:ext cx="11045952" cy="0"/>
          </a:xfrm>
          <a:prstGeom prst="line">
            <a:avLst/>
          </a:prstGeom>
          <a:noFill/>
          <a:ln w="10160">
            <a:solidFill>
              <a:srgbClr val="D7DAD8"/>
            </a:solidFill>
            <a:prstDash val="solid"/>
          </a:ln>
        </p:spPr>
        <p:txBody>
          <a:bodyPr/>
          <a:lstStyle/>
          <a:p>
            <a:endParaRPr/>
          </a:p>
        </p:txBody>
      </p:sp>
      <p:sp>
        <p:nvSpPr>
          <p:cNvPr id="8" name="Shape 6"/>
          <p:cNvSpPr/>
          <p:nvPr/>
        </p:nvSpPr>
        <p:spPr>
          <a:xfrm>
            <a:off x="640080" y="2212848"/>
            <a:ext cx="2148840" cy="941832"/>
          </a:xfrm>
          <a:prstGeom prst="roundRect">
            <a:avLst>
              <a:gd name="adj" fmla="val 7767"/>
            </a:avLst>
          </a:prstGeom>
          <a:solidFill>
            <a:srgbClr val="F6EBD9"/>
          </a:solidFill>
          <a:ln w="10160">
            <a:solidFill>
              <a:srgbClr val="F6EBD9"/>
            </a:solidFill>
            <a:prstDash val="solid"/>
          </a:ln>
        </p:spPr>
        <p:txBody>
          <a:bodyPr/>
          <a:lstStyle/>
          <a:p>
            <a:endParaRPr/>
          </a:p>
        </p:txBody>
      </p:sp>
      <p:sp>
        <p:nvSpPr>
          <p:cNvPr id="9" name="Text 7"/>
          <p:cNvSpPr/>
          <p:nvPr/>
        </p:nvSpPr>
        <p:spPr>
          <a:xfrm>
            <a:off x="685800" y="2212848"/>
            <a:ext cx="2057400" cy="941832"/>
          </a:xfrm>
          <a:prstGeom prst="rect">
            <a:avLst/>
          </a:prstGeom>
          <a:noFill/>
          <a:ln/>
        </p:spPr>
        <p:txBody>
          <a:bodyPr wrap="square" lIns="0" tIns="0" rIns="0" bIns="0" rtlCol="0" anchor="ctr"/>
          <a:lstStyle/>
          <a:p>
            <a:pPr marL="0" indent="0" algn="ctr">
              <a:buNone/>
            </a:pPr>
            <a:r>
              <a:rPr lang="en-US" sz="1120" b="1" dirty="0">
                <a:solidFill>
                  <a:srgbClr val="0C1B2A"/>
                </a:solidFill>
                <a:latin typeface="Inter" pitchFamily="34" charset="0"/>
                <a:ea typeface="Inter" pitchFamily="34" charset="-122"/>
                <a:cs typeface="Inter" pitchFamily="34" charset="-120"/>
              </a:rPr>
              <a:t>Powder buildup</a:t>
            </a:r>
            <a:endParaRPr lang="en-US" sz="1120" dirty="0"/>
          </a:p>
          <a:p>
            <a:pPr marL="0" indent="0" algn="ctr">
              <a:buNone/>
            </a:pPr>
            <a:r>
              <a:rPr lang="en-US" sz="1120" b="1" dirty="0">
                <a:solidFill>
                  <a:srgbClr val="0C1B2A"/>
                </a:solidFill>
                <a:latin typeface="Inter" pitchFamily="34" charset="0"/>
                <a:ea typeface="Inter" pitchFamily="34" charset="-122"/>
                <a:cs typeface="Inter" pitchFamily="34" charset="-120"/>
              </a:rPr>
              <a:t>on / under puck</a:t>
            </a:r>
            <a:endParaRPr lang="en-US" sz="1120" dirty="0"/>
          </a:p>
        </p:txBody>
      </p:sp>
      <p:sp>
        <p:nvSpPr>
          <p:cNvPr id="10" name="Shape 8"/>
          <p:cNvSpPr/>
          <p:nvPr/>
        </p:nvSpPr>
        <p:spPr>
          <a:xfrm>
            <a:off x="640080" y="3410712"/>
            <a:ext cx="2148840" cy="941832"/>
          </a:xfrm>
          <a:prstGeom prst="roundRect">
            <a:avLst>
              <a:gd name="adj" fmla="val 7767"/>
            </a:avLst>
          </a:prstGeom>
          <a:solidFill>
            <a:srgbClr val="DFEBFA"/>
          </a:solidFill>
          <a:ln w="10160">
            <a:solidFill>
              <a:srgbClr val="DFEBFA"/>
            </a:solidFill>
            <a:prstDash val="solid"/>
          </a:ln>
        </p:spPr>
        <p:txBody>
          <a:bodyPr/>
          <a:lstStyle/>
          <a:p>
            <a:endParaRPr/>
          </a:p>
        </p:txBody>
      </p:sp>
      <p:sp>
        <p:nvSpPr>
          <p:cNvPr id="11" name="Text 9"/>
          <p:cNvSpPr/>
          <p:nvPr/>
        </p:nvSpPr>
        <p:spPr>
          <a:xfrm>
            <a:off x="685800" y="3410712"/>
            <a:ext cx="2057400" cy="941832"/>
          </a:xfrm>
          <a:prstGeom prst="rect">
            <a:avLst/>
          </a:prstGeom>
          <a:noFill/>
          <a:ln/>
        </p:spPr>
        <p:txBody>
          <a:bodyPr wrap="square" lIns="0" tIns="0" rIns="0" bIns="0" rtlCol="0" anchor="ctr"/>
          <a:lstStyle/>
          <a:p>
            <a:pPr marL="0" indent="0" algn="ctr">
              <a:buNone/>
            </a:pPr>
            <a:r>
              <a:rPr lang="en-US" sz="1120" b="1" dirty="0">
                <a:solidFill>
                  <a:srgbClr val="0C1B2A"/>
                </a:solidFill>
                <a:latin typeface="Inter" pitchFamily="34" charset="0"/>
                <a:ea typeface="Inter" pitchFamily="34" charset="-122"/>
                <a:cs typeface="Inter" pitchFamily="34" charset="-120"/>
              </a:rPr>
              <a:t>Size 4 / reduced</a:t>
            </a:r>
            <a:endParaRPr lang="en-US" sz="1120" dirty="0"/>
          </a:p>
          <a:p>
            <a:pPr marL="0" indent="0" algn="ctr">
              <a:buNone/>
            </a:pPr>
            <a:r>
              <a:rPr lang="en-US" sz="1120" b="1" dirty="0">
                <a:solidFill>
                  <a:srgbClr val="0C1B2A"/>
                </a:solidFill>
                <a:latin typeface="Inter" pitchFamily="34" charset="0"/>
                <a:ea typeface="Inter" pitchFamily="34" charset="-122"/>
                <a:cs typeface="Inter" pitchFamily="34" charset="-120"/>
              </a:rPr>
              <a:t>prodger contact</a:t>
            </a:r>
            <a:endParaRPr lang="en-US" sz="1120" dirty="0"/>
          </a:p>
        </p:txBody>
      </p:sp>
      <p:sp>
        <p:nvSpPr>
          <p:cNvPr id="12" name="Shape 10"/>
          <p:cNvSpPr/>
          <p:nvPr/>
        </p:nvSpPr>
        <p:spPr>
          <a:xfrm>
            <a:off x="2788920" y="2688336"/>
            <a:ext cx="667512" cy="448056"/>
          </a:xfrm>
          <a:prstGeom prst="line">
            <a:avLst/>
          </a:prstGeom>
          <a:noFill/>
          <a:ln w="20320">
            <a:solidFill>
              <a:srgbClr val="00B0F0"/>
            </a:solidFill>
            <a:prstDash val="solid"/>
            <a:headEnd type="none"/>
            <a:tailEnd type="triangle"/>
          </a:ln>
          <a:effectLst>
            <a:outerShdw blurRad="50800" dist="38100" dir="2700000" algn="tl" rotWithShape="0">
              <a:prstClr val="black">
                <a:alpha val="40000"/>
              </a:prstClr>
            </a:outerShdw>
          </a:effectLst>
        </p:spPr>
        <p:txBody>
          <a:bodyPr/>
          <a:lstStyle/>
          <a:p>
            <a:endParaRPr/>
          </a:p>
        </p:txBody>
      </p:sp>
      <p:sp>
        <p:nvSpPr>
          <p:cNvPr id="13" name="Shape 11"/>
          <p:cNvSpPr/>
          <p:nvPr/>
        </p:nvSpPr>
        <p:spPr>
          <a:xfrm flipV="1">
            <a:off x="2788920" y="3630168"/>
            <a:ext cx="667512" cy="256032"/>
          </a:xfrm>
          <a:prstGeom prst="line">
            <a:avLst/>
          </a:prstGeom>
          <a:noFill/>
          <a:ln w="20320">
            <a:solidFill>
              <a:srgbClr val="00B0F0"/>
            </a:solidFill>
            <a:prstDash val="solid"/>
            <a:headEnd type="none"/>
            <a:tailEnd type="triangle"/>
          </a:ln>
          <a:effectLst>
            <a:outerShdw blurRad="50800" dist="38100" dir="2700000" algn="tl" rotWithShape="0">
              <a:prstClr val="black">
                <a:alpha val="40000"/>
              </a:prstClr>
            </a:outerShdw>
          </a:effectLst>
        </p:spPr>
        <p:txBody>
          <a:bodyPr/>
          <a:lstStyle/>
          <a:p>
            <a:endParaRPr/>
          </a:p>
        </p:txBody>
      </p:sp>
      <p:sp>
        <p:nvSpPr>
          <p:cNvPr id="14" name="Shape 12"/>
          <p:cNvSpPr/>
          <p:nvPr/>
        </p:nvSpPr>
        <p:spPr>
          <a:xfrm>
            <a:off x="3502152" y="2816352"/>
            <a:ext cx="1188720" cy="1207008"/>
          </a:xfrm>
          <a:prstGeom prst="roundRect">
            <a:avLst>
              <a:gd name="adj" fmla="val 6154"/>
            </a:avLst>
          </a:prstGeom>
          <a:solidFill>
            <a:srgbClr val="FFFFFF"/>
          </a:solidFill>
          <a:ln w="10160">
            <a:solidFill>
              <a:srgbClr val="E0E3E5"/>
            </a:solidFill>
            <a:prstDash val="solid"/>
          </a:ln>
        </p:spPr>
        <p:txBody>
          <a:bodyPr/>
          <a:lstStyle/>
          <a:p>
            <a:endParaRPr/>
          </a:p>
        </p:txBody>
      </p:sp>
      <p:sp>
        <p:nvSpPr>
          <p:cNvPr id="15" name="Text 13"/>
          <p:cNvSpPr/>
          <p:nvPr/>
        </p:nvSpPr>
        <p:spPr>
          <a:xfrm>
            <a:off x="3547872" y="2816352"/>
            <a:ext cx="1097280" cy="1207008"/>
          </a:xfrm>
          <a:prstGeom prst="rect">
            <a:avLst/>
          </a:prstGeom>
          <a:noFill/>
          <a:ln/>
        </p:spPr>
        <p:txBody>
          <a:bodyPr wrap="square" lIns="0" tIns="0" rIns="0" bIns="0" rtlCol="0" anchor="ctr">
            <a:normAutofit/>
          </a:bodyPr>
          <a:lstStyle/>
          <a:p>
            <a:pPr marL="0" indent="0" algn="ctr">
              <a:buNone/>
            </a:pPr>
            <a:r>
              <a:rPr lang="en-US" sz="920" b="1" dirty="0">
                <a:solidFill>
                  <a:srgbClr val="0C1B2A"/>
                </a:solidFill>
                <a:latin typeface="Inter" pitchFamily="34" charset="0"/>
                <a:ea typeface="Inter" pitchFamily="34" charset="-122"/>
                <a:cs typeface="Inter" pitchFamily="34" charset="-120"/>
              </a:rPr>
              <a:t>Incorrect puck</a:t>
            </a:r>
            <a:endParaRPr lang="en-US" sz="920" dirty="0"/>
          </a:p>
          <a:p>
            <a:pPr marL="0" indent="0" algn="ctr">
              <a:buNone/>
            </a:pPr>
            <a:r>
              <a:rPr lang="en-US" sz="920" b="1" dirty="0">
                <a:solidFill>
                  <a:srgbClr val="0C1B2A"/>
                </a:solidFill>
                <a:latin typeface="Inter" pitchFamily="34" charset="0"/>
                <a:ea typeface="Inter" pitchFamily="34" charset="-122"/>
                <a:cs typeface="Inter" pitchFamily="34" charset="-120"/>
              </a:rPr>
              <a:t>seating</a:t>
            </a:r>
            <a:endParaRPr lang="en-US" sz="920" dirty="0"/>
          </a:p>
        </p:txBody>
      </p:sp>
      <p:sp>
        <p:nvSpPr>
          <p:cNvPr id="16" name="Shape 14"/>
          <p:cNvSpPr/>
          <p:nvPr/>
        </p:nvSpPr>
        <p:spPr>
          <a:xfrm>
            <a:off x="4700016" y="3419856"/>
            <a:ext cx="228600" cy="0"/>
          </a:xfrm>
          <a:prstGeom prst="line">
            <a:avLst/>
          </a:prstGeom>
          <a:noFill/>
          <a:ln w="22860">
            <a:solidFill>
              <a:srgbClr val="00B0F0"/>
            </a:solidFill>
            <a:prstDash val="solid"/>
            <a:headEnd type="none"/>
            <a:tailEnd type="triangle"/>
          </a:ln>
        </p:spPr>
        <p:txBody>
          <a:bodyPr/>
          <a:lstStyle/>
          <a:p>
            <a:endParaRPr/>
          </a:p>
        </p:txBody>
      </p:sp>
      <p:sp>
        <p:nvSpPr>
          <p:cNvPr id="17" name="Shape 15"/>
          <p:cNvSpPr/>
          <p:nvPr/>
        </p:nvSpPr>
        <p:spPr>
          <a:xfrm>
            <a:off x="4965192" y="2816352"/>
            <a:ext cx="1188720" cy="1207008"/>
          </a:xfrm>
          <a:prstGeom prst="roundRect">
            <a:avLst>
              <a:gd name="adj" fmla="val 6154"/>
            </a:avLst>
          </a:prstGeom>
          <a:solidFill>
            <a:srgbClr val="FFFFFF"/>
          </a:solidFill>
          <a:ln w="10160">
            <a:solidFill>
              <a:srgbClr val="E0E3E5"/>
            </a:solidFill>
            <a:prstDash val="solid"/>
          </a:ln>
        </p:spPr>
        <p:txBody>
          <a:bodyPr/>
          <a:lstStyle/>
          <a:p>
            <a:endParaRPr/>
          </a:p>
        </p:txBody>
      </p:sp>
      <p:sp>
        <p:nvSpPr>
          <p:cNvPr id="18" name="Text 16"/>
          <p:cNvSpPr/>
          <p:nvPr/>
        </p:nvSpPr>
        <p:spPr>
          <a:xfrm>
            <a:off x="5010912" y="2816352"/>
            <a:ext cx="1097280" cy="1207008"/>
          </a:xfrm>
          <a:prstGeom prst="rect">
            <a:avLst/>
          </a:prstGeom>
          <a:noFill/>
          <a:ln/>
        </p:spPr>
        <p:txBody>
          <a:bodyPr wrap="square" lIns="0" tIns="0" rIns="0" bIns="0" rtlCol="0" anchor="ctr">
            <a:normAutofit/>
          </a:bodyPr>
          <a:lstStyle/>
          <a:p>
            <a:pPr marL="0" indent="0" algn="ctr">
              <a:buNone/>
            </a:pPr>
            <a:r>
              <a:rPr lang="en-US" sz="920" b="1" dirty="0">
                <a:solidFill>
                  <a:srgbClr val="0C1B2A"/>
                </a:solidFill>
                <a:latin typeface="Inter" pitchFamily="34" charset="0"/>
                <a:ea typeface="Inter" pitchFamily="34" charset="-122"/>
                <a:cs typeface="Inter" pitchFamily="34" charset="-120"/>
              </a:rPr>
              <a:t>Puck / prodger</a:t>
            </a:r>
            <a:endParaRPr lang="en-US" sz="920" dirty="0"/>
          </a:p>
          <a:p>
            <a:pPr marL="0" indent="0" algn="ctr">
              <a:buNone/>
            </a:pPr>
            <a:r>
              <a:rPr lang="en-US" sz="920" b="1" dirty="0">
                <a:solidFill>
                  <a:srgbClr val="0C1B2A"/>
                </a:solidFill>
                <a:latin typeface="Inter" pitchFamily="34" charset="0"/>
                <a:ea typeface="Inter" pitchFamily="34" charset="-122"/>
                <a:cs typeface="Inter" pitchFamily="34" charset="-120"/>
              </a:rPr>
              <a:t>misalignment</a:t>
            </a:r>
            <a:endParaRPr lang="en-US" sz="920" dirty="0"/>
          </a:p>
        </p:txBody>
      </p:sp>
      <p:sp>
        <p:nvSpPr>
          <p:cNvPr id="19" name="Shape 17"/>
          <p:cNvSpPr/>
          <p:nvPr/>
        </p:nvSpPr>
        <p:spPr>
          <a:xfrm>
            <a:off x="6163056" y="3419856"/>
            <a:ext cx="228600" cy="0"/>
          </a:xfrm>
          <a:prstGeom prst="line">
            <a:avLst/>
          </a:prstGeom>
          <a:noFill/>
          <a:ln w="22860">
            <a:solidFill>
              <a:srgbClr val="00B0F0"/>
            </a:solidFill>
            <a:prstDash val="solid"/>
            <a:headEnd type="none"/>
            <a:tailEnd type="triangle"/>
          </a:ln>
        </p:spPr>
        <p:txBody>
          <a:bodyPr/>
          <a:lstStyle/>
          <a:p>
            <a:endParaRPr/>
          </a:p>
        </p:txBody>
      </p:sp>
      <p:sp>
        <p:nvSpPr>
          <p:cNvPr id="20" name="Shape 18"/>
          <p:cNvSpPr/>
          <p:nvPr/>
        </p:nvSpPr>
        <p:spPr>
          <a:xfrm>
            <a:off x="6428232" y="2816352"/>
            <a:ext cx="1188720" cy="1207008"/>
          </a:xfrm>
          <a:prstGeom prst="roundRect">
            <a:avLst>
              <a:gd name="adj" fmla="val 6154"/>
            </a:avLst>
          </a:prstGeom>
          <a:solidFill>
            <a:srgbClr val="FFFFFF"/>
          </a:solidFill>
          <a:ln w="10160">
            <a:solidFill>
              <a:srgbClr val="E0E3E5"/>
            </a:solidFill>
            <a:prstDash val="solid"/>
          </a:ln>
        </p:spPr>
        <p:txBody>
          <a:bodyPr/>
          <a:lstStyle/>
          <a:p>
            <a:endParaRPr/>
          </a:p>
        </p:txBody>
      </p:sp>
      <p:sp>
        <p:nvSpPr>
          <p:cNvPr id="21" name="Text 19"/>
          <p:cNvSpPr/>
          <p:nvPr/>
        </p:nvSpPr>
        <p:spPr>
          <a:xfrm>
            <a:off x="6473952" y="2816352"/>
            <a:ext cx="1097280" cy="1207008"/>
          </a:xfrm>
          <a:prstGeom prst="rect">
            <a:avLst/>
          </a:prstGeom>
          <a:noFill/>
          <a:ln/>
        </p:spPr>
        <p:txBody>
          <a:bodyPr wrap="square" lIns="0" tIns="0" rIns="0" bIns="0" rtlCol="0" anchor="ctr">
            <a:normAutofit/>
          </a:bodyPr>
          <a:lstStyle/>
          <a:p>
            <a:pPr marL="0" indent="0" algn="ctr">
              <a:buNone/>
            </a:pPr>
            <a:r>
              <a:rPr lang="en-US" sz="920" b="1" dirty="0">
                <a:solidFill>
                  <a:srgbClr val="0C1B2A"/>
                </a:solidFill>
                <a:latin typeface="Inter" pitchFamily="34" charset="0"/>
                <a:ea typeface="Inter" pitchFamily="34" charset="-122"/>
                <a:cs typeface="Inter" pitchFamily="34" charset="-120"/>
              </a:rPr>
              <a:t>Vibration /</a:t>
            </a:r>
            <a:endParaRPr lang="en-US" sz="920" dirty="0"/>
          </a:p>
          <a:p>
            <a:pPr marL="0" indent="0" algn="ctr">
              <a:buNone/>
            </a:pPr>
            <a:r>
              <a:rPr lang="en-US" sz="920" b="1" dirty="0">
                <a:solidFill>
                  <a:srgbClr val="0C1B2A"/>
                </a:solidFill>
                <a:latin typeface="Inter" pitchFamily="34" charset="0"/>
                <a:ea typeface="Inter" pitchFamily="34" charset="-122"/>
                <a:cs typeface="Inter" pitchFamily="34" charset="-120"/>
              </a:rPr>
              <a:t>slippage / contact</a:t>
            </a:r>
            <a:endParaRPr lang="en-US" sz="920" dirty="0"/>
          </a:p>
        </p:txBody>
      </p:sp>
      <p:sp>
        <p:nvSpPr>
          <p:cNvPr id="22" name="Shape 20"/>
          <p:cNvSpPr/>
          <p:nvPr/>
        </p:nvSpPr>
        <p:spPr>
          <a:xfrm>
            <a:off x="7626096" y="3419856"/>
            <a:ext cx="228600" cy="0"/>
          </a:xfrm>
          <a:prstGeom prst="line">
            <a:avLst/>
          </a:prstGeom>
          <a:noFill/>
          <a:ln w="22860">
            <a:solidFill>
              <a:srgbClr val="00B0F0"/>
            </a:solidFill>
            <a:prstDash val="solid"/>
            <a:headEnd type="none"/>
            <a:tailEnd type="triangle"/>
          </a:ln>
        </p:spPr>
        <p:txBody>
          <a:bodyPr/>
          <a:lstStyle/>
          <a:p>
            <a:endParaRPr/>
          </a:p>
        </p:txBody>
      </p:sp>
      <p:sp>
        <p:nvSpPr>
          <p:cNvPr id="25" name="Shape 23"/>
          <p:cNvSpPr/>
          <p:nvPr/>
        </p:nvSpPr>
        <p:spPr>
          <a:xfrm>
            <a:off x="7626096" y="3410712"/>
            <a:ext cx="228600" cy="0"/>
          </a:xfrm>
          <a:prstGeom prst="line">
            <a:avLst/>
          </a:prstGeom>
          <a:noFill/>
          <a:ln w="22860">
            <a:solidFill>
              <a:srgbClr val="00B0F0"/>
            </a:solidFill>
            <a:prstDash val="solid"/>
            <a:headEnd type="none"/>
            <a:tailEnd type="triangle"/>
          </a:ln>
        </p:spPr>
        <p:txBody>
          <a:bodyPr/>
          <a:lstStyle/>
          <a:p>
            <a:endParaRPr/>
          </a:p>
        </p:txBody>
      </p:sp>
      <p:sp>
        <p:nvSpPr>
          <p:cNvPr id="26" name="Shape 24"/>
          <p:cNvSpPr/>
          <p:nvPr/>
        </p:nvSpPr>
        <p:spPr>
          <a:xfrm>
            <a:off x="7891272" y="2807208"/>
            <a:ext cx="1892808" cy="1207008"/>
          </a:xfrm>
          <a:prstGeom prst="roundRect">
            <a:avLst>
              <a:gd name="adj" fmla="val 6154"/>
            </a:avLst>
          </a:prstGeom>
          <a:solidFill>
            <a:srgbClr val="F7E7E5"/>
          </a:solidFill>
          <a:ln w="10160">
            <a:solidFill>
              <a:srgbClr val="F0CFCB"/>
            </a:solidFill>
            <a:prstDash val="solid"/>
          </a:ln>
        </p:spPr>
        <p:txBody>
          <a:bodyPr/>
          <a:lstStyle/>
          <a:p>
            <a:endParaRPr/>
          </a:p>
        </p:txBody>
      </p:sp>
      <p:sp>
        <p:nvSpPr>
          <p:cNvPr id="27" name="Text 25"/>
          <p:cNvSpPr/>
          <p:nvPr/>
        </p:nvSpPr>
        <p:spPr>
          <a:xfrm>
            <a:off x="7936992" y="2807208"/>
            <a:ext cx="1847088" cy="1207008"/>
          </a:xfrm>
          <a:prstGeom prst="rect">
            <a:avLst/>
          </a:prstGeom>
          <a:noFill/>
          <a:ln/>
        </p:spPr>
        <p:txBody>
          <a:bodyPr wrap="square" lIns="0" tIns="0" rIns="0" bIns="0" rtlCol="0" anchor="ctr">
            <a:normAutofit/>
          </a:bodyPr>
          <a:lstStyle/>
          <a:p>
            <a:pPr marL="0" indent="0" algn="ctr">
              <a:buNone/>
            </a:pPr>
            <a:r>
              <a:rPr lang="en-US" sz="1200" b="1" dirty="0">
                <a:solidFill>
                  <a:srgbClr val="C94848"/>
                </a:solidFill>
                <a:latin typeface="Inter" pitchFamily="34" charset="0"/>
                <a:ea typeface="Inter" pitchFamily="34" charset="-122"/>
                <a:cs typeface="Inter" pitchFamily="34" charset="-120"/>
              </a:rPr>
              <a:t>Downtime +</a:t>
            </a:r>
            <a:endParaRPr lang="en-US" sz="1200" dirty="0"/>
          </a:p>
          <a:p>
            <a:pPr marL="0" indent="0" algn="ctr">
              <a:buNone/>
            </a:pPr>
            <a:r>
              <a:rPr lang="en-US" sz="1200" b="1" dirty="0">
                <a:solidFill>
                  <a:srgbClr val="C94848"/>
                </a:solidFill>
                <a:latin typeface="Inter" pitchFamily="34" charset="0"/>
                <a:ea typeface="Inter" pitchFamily="34" charset="-122"/>
                <a:cs typeface="Inter" pitchFamily="34" charset="-120"/>
              </a:rPr>
              <a:t>performance failure</a:t>
            </a:r>
            <a:endParaRPr lang="en-US" sz="1200" dirty="0"/>
          </a:p>
        </p:txBody>
      </p:sp>
      <p:sp>
        <p:nvSpPr>
          <p:cNvPr id="28" name="Shape 26"/>
          <p:cNvSpPr/>
          <p:nvPr/>
        </p:nvSpPr>
        <p:spPr>
          <a:xfrm>
            <a:off x="640080" y="4791456"/>
            <a:ext cx="10936224" cy="1051560"/>
          </a:xfrm>
          <a:prstGeom prst="roundRect">
            <a:avLst>
              <a:gd name="adj" fmla="val 6957"/>
            </a:avLst>
          </a:prstGeom>
          <a:solidFill>
            <a:srgbClr val="FFFFFF"/>
          </a:solidFill>
          <a:ln w="10160">
            <a:solidFill>
              <a:srgbClr val="DFE3E5"/>
            </a:solidFill>
            <a:prstDash val="solid"/>
          </a:ln>
        </p:spPr>
        <p:txBody>
          <a:bodyPr/>
          <a:lstStyle/>
          <a:p>
            <a:endParaRPr sz="2800"/>
          </a:p>
        </p:txBody>
      </p:sp>
      <p:sp>
        <p:nvSpPr>
          <p:cNvPr id="29" name="Shape 27"/>
          <p:cNvSpPr/>
          <p:nvPr/>
        </p:nvSpPr>
        <p:spPr>
          <a:xfrm>
            <a:off x="859536" y="5056632"/>
            <a:ext cx="914400" cy="329184"/>
          </a:xfrm>
          <a:prstGeom prst="roundRect">
            <a:avLst>
              <a:gd name="adj" fmla="val 16667"/>
            </a:avLst>
          </a:prstGeom>
          <a:solidFill>
            <a:srgbClr val="0D4C9D"/>
          </a:solidFill>
          <a:ln w="12700">
            <a:solidFill>
              <a:srgbClr val="0D4C9D"/>
            </a:solidFill>
            <a:prstDash val="solid"/>
          </a:ln>
        </p:spPr>
        <p:txBody>
          <a:bodyPr/>
          <a:lstStyle/>
          <a:p>
            <a:endParaRPr sz="2800"/>
          </a:p>
        </p:txBody>
      </p:sp>
      <p:sp>
        <p:nvSpPr>
          <p:cNvPr id="30" name="Text 28"/>
          <p:cNvSpPr/>
          <p:nvPr/>
        </p:nvSpPr>
        <p:spPr>
          <a:xfrm>
            <a:off x="905256" y="5056632"/>
            <a:ext cx="822960" cy="329184"/>
          </a:xfrm>
          <a:prstGeom prst="rect">
            <a:avLst/>
          </a:prstGeom>
          <a:noFill/>
          <a:ln/>
        </p:spPr>
        <p:txBody>
          <a:bodyPr wrap="square" lIns="0" tIns="0" rIns="0" bIns="0" rtlCol="0" anchor="ctr">
            <a:normAutofit/>
          </a:bodyPr>
          <a:lstStyle/>
          <a:p>
            <a:pPr marL="0" indent="0" algn="ctr">
              <a:buNone/>
            </a:pPr>
            <a:r>
              <a:rPr lang="en-US" sz="1000" b="1" kern="0" spc="90" dirty="0">
                <a:solidFill>
                  <a:srgbClr val="FFFFFF"/>
                </a:solidFill>
                <a:latin typeface="Inter" pitchFamily="34" charset="0"/>
                <a:ea typeface="Inter" pitchFamily="34" charset="-122"/>
                <a:cs typeface="Inter" pitchFamily="34" charset="-120"/>
              </a:rPr>
              <a:t>EVIDENCE</a:t>
            </a:r>
            <a:endParaRPr lang="en-US" sz="1000" dirty="0"/>
          </a:p>
        </p:txBody>
      </p:sp>
      <p:sp>
        <p:nvSpPr>
          <p:cNvPr id="31" name="Text 29"/>
          <p:cNvSpPr/>
          <p:nvPr/>
        </p:nvSpPr>
        <p:spPr>
          <a:xfrm>
            <a:off x="1938528" y="4983480"/>
            <a:ext cx="9052560" cy="493776"/>
          </a:xfrm>
          <a:prstGeom prst="rect">
            <a:avLst/>
          </a:prstGeom>
          <a:noFill/>
          <a:ln/>
        </p:spPr>
        <p:txBody>
          <a:bodyPr wrap="square" lIns="0" tIns="0" rIns="0" bIns="0" rtlCol="0" anchor="ctr">
            <a:normAutofit/>
          </a:bodyPr>
          <a:lstStyle/>
          <a:p>
            <a:pPr marL="0" indent="0">
              <a:buNone/>
            </a:pPr>
            <a:r>
              <a:rPr lang="en-US" sz="1100" dirty="0">
                <a:solidFill>
                  <a:srgbClr val="244365"/>
                </a:solidFill>
                <a:latin typeface="Inter" pitchFamily="34" charset="0"/>
                <a:ea typeface="Inter" pitchFamily="34" charset="-122"/>
                <a:cs typeface="Inter" pitchFamily="34" charset="-120"/>
              </a:rPr>
              <a:t>Observed: powder stuck on pucks (17 / 20 AUG) • Reported: Size 4 slippage + incomplete prodger contact </a:t>
            </a:r>
          </a:p>
          <a:p>
            <a:pPr marL="0" indent="0">
              <a:buNone/>
            </a:pPr>
            <a:r>
              <a:rPr lang="en-US" sz="1100" dirty="0">
                <a:solidFill>
                  <a:srgbClr val="244365"/>
                </a:solidFill>
                <a:latin typeface="Inter" pitchFamily="34" charset="0"/>
                <a:ea typeface="Inter" pitchFamily="34" charset="-122"/>
                <a:cs typeface="Inter" pitchFamily="34" charset="-120"/>
              </a:rPr>
              <a:t>Observed: pre-alignment performed by 2nd shift • 23-AUG downtime reported as alignment-related</a:t>
            </a:r>
            <a:endParaRPr lang="en-US" sz="1100" dirty="0"/>
          </a:p>
        </p:txBody>
      </p:sp>
      <p:sp>
        <p:nvSpPr>
          <p:cNvPr id="2" name="Slide Number Placeholder 0"/>
          <p:cNvSpPr>
            <a:spLocks noGrp="1"/>
          </p:cNvSpPr>
          <p:nvPr>
            <p:ph type="sldNum" sz="quarter" idx="4294967295"/>
          </p:nvPr>
        </p:nvSpPr>
        <p:spPr>
          <a:xfrm>
            <a:off x="11247120" y="6419088"/>
            <a:ext cx="457200" cy="201168"/>
          </a:xfrm>
          <a:prstGeom prst="rect">
            <a:avLst/>
          </a:prstGeom>
          <a:extLst>
            <a:ext uri="{C572A759-6A51-4108-AA02-DFA0A04FC94B}">
              <ma14:wrappingTextBoxFlag xmlns="" xmlns:ma14="http://schemas.microsoft.com/office/mac/drawingml/2011/main" val="0"/>
            </a:ext>
          </a:extLst>
        </p:spPr>
        <p:txBody>
          <a:bodyPr lIns="0" tIns="0" rIns="0" bIns="0"/>
          <a:lstStyle>
            <a:lvl1pPr>
              <a:defRPr sz="700">
                <a:solidFill>
                  <a:srgbClr val="89929D"/>
                </a:solidFill>
                <a:latin typeface="Inter"/>
                <a:ea typeface="Inter"/>
                <a:cs typeface="Inter"/>
              </a:defRPr>
            </a:lvl1pPr>
          </a:lstStyle>
          <a:p>
            <a:pPr algn="r"/>
            <a:fld id="{F7021451-1387-4CA6-816F-3879F97B5CBC}" type="slidenum">
              <a:rPr lang="en-US" b="0"/>
              <a:t>9</a:t>
            </a:fld>
            <a:endParaRPr lang="en-US"/>
          </a:p>
        </p:txBody>
      </p:sp>
      <p:sp>
        <p:nvSpPr>
          <p:cNvPr id="3" name="TextBox 2">
            <a:extLst>
              <a:ext uri="{FF2B5EF4-FFF2-40B4-BE49-F238E27FC236}">
                <a16:creationId xmlns:a16="http://schemas.microsoft.com/office/drawing/2014/main" id="{B9F7BD46-976A-AA40-5814-EB1D191D8178}"/>
              </a:ext>
            </a:extLst>
          </p:cNvPr>
          <p:cNvSpPr txBox="1"/>
          <p:nvPr/>
        </p:nvSpPr>
        <p:spPr>
          <a:xfrm>
            <a:off x="467551" y="634722"/>
            <a:ext cx="3345324" cy="369332"/>
          </a:xfrm>
          <a:prstGeom prst="rect">
            <a:avLst/>
          </a:prstGeom>
          <a:noFill/>
        </p:spPr>
        <p:txBody>
          <a:bodyPr wrap="square" rtlCol="0">
            <a:spAutoFit/>
          </a:bodyPr>
          <a:lstStyle/>
          <a:p>
            <a:r>
              <a:rPr lang="en-US" b="1" i="1" dirty="0"/>
              <a:t>Other: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566928" y="850392"/>
            <a:ext cx="11449668" cy="566928"/>
          </a:xfrm>
          <a:prstGeom prst="rect">
            <a:avLst/>
          </a:prstGeom>
          <a:noFill/>
          <a:ln/>
        </p:spPr>
        <p:txBody>
          <a:bodyPr wrap="square" lIns="0" tIns="0" rIns="0" bIns="0" rtlCol="0" anchor="ctr">
            <a:normAutofit/>
          </a:bodyPr>
          <a:lstStyle/>
          <a:p>
            <a:pPr marL="0" indent="0">
              <a:buNone/>
            </a:pPr>
            <a:r>
              <a:rPr lang="en-US" sz="2750" b="1" spc="-150" dirty="0">
                <a:solidFill>
                  <a:srgbClr val="0E2136"/>
                </a:solidFill>
                <a:latin typeface="Inter Display" pitchFamily="34" charset="0"/>
                <a:ea typeface="Inter Display" pitchFamily="34" charset="-122"/>
                <a:cs typeface="Inter Display" pitchFamily="34" charset="-120"/>
              </a:rPr>
              <a:t>The same cleaning task can be performed without direct weigh-pan loading</a:t>
            </a:r>
            <a:endParaRPr lang="en-US" sz="2750" spc="-150" dirty="0"/>
          </a:p>
        </p:txBody>
      </p:sp>
      <p:sp>
        <p:nvSpPr>
          <p:cNvPr id="6" name="Shape 4"/>
          <p:cNvSpPr/>
          <p:nvPr/>
        </p:nvSpPr>
        <p:spPr>
          <a:xfrm>
            <a:off x="566928" y="1847088"/>
            <a:ext cx="11045952" cy="0"/>
          </a:xfrm>
          <a:prstGeom prst="line">
            <a:avLst/>
          </a:prstGeom>
          <a:noFill/>
          <a:ln w="10160">
            <a:solidFill>
              <a:srgbClr val="D7DAD8"/>
            </a:solidFill>
            <a:prstDash val="solid"/>
          </a:ln>
        </p:spPr>
        <p:txBody>
          <a:bodyPr/>
          <a:lstStyle/>
          <a:p>
            <a:endParaRPr sz="2800" b="1"/>
          </a:p>
        </p:txBody>
      </p:sp>
      <p:sp>
        <p:nvSpPr>
          <p:cNvPr id="7" name="Shape 5"/>
          <p:cNvSpPr/>
          <p:nvPr/>
        </p:nvSpPr>
        <p:spPr>
          <a:xfrm>
            <a:off x="658368" y="2176272"/>
            <a:ext cx="3429000" cy="3602736"/>
          </a:xfrm>
          <a:prstGeom prst="roundRect">
            <a:avLst>
              <a:gd name="adj" fmla="val 2133"/>
            </a:avLst>
          </a:prstGeom>
          <a:solidFill>
            <a:srgbClr val="FFFFFF"/>
          </a:solidFill>
          <a:ln w="11430">
            <a:solidFill>
              <a:srgbClr val="D6DCE3"/>
            </a:solidFill>
            <a:prstDash val="solid"/>
          </a:ln>
          <a:effectLst>
            <a:outerShdw algn="bl" rotWithShape="0">
              <a:srgbClr val="73808C">
                <a:alpha val="0"/>
              </a:srgbClr>
            </a:outerShdw>
          </a:effectLst>
        </p:spPr>
        <p:txBody>
          <a:bodyPr/>
          <a:lstStyle/>
          <a:p>
            <a:endParaRPr/>
          </a:p>
        </p:txBody>
      </p:sp>
      <p:sp>
        <p:nvSpPr>
          <p:cNvPr id="8" name="Shape 6"/>
          <p:cNvSpPr/>
          <p:nvPr/>
        </p:nvSpPr>
        <p:spPr>
          <a:xfrm>
            <a:off x="658368" y="2176272"/>
            <a:ext cx="3429000" cy="457200"/>
          </a:xfrm>
          <a:prstGeom prst="rect">
            <a:avLst/>
          </a:prstGeom>
          <a:solidFill>
            <a:srgbClr val="F7E7E5"/>
          </a:solidFill>
          <a:ln w="12700">
            <a:solidFill>
              <a:srgbClr val="F7E7E5"/>
            </a:solidFill>
            <a:prstDash val="solid"/>
          </a:ln>
        </p:spPr>
        <p:txBody>
          <a:bodyPr/>
          <a:lstStyle/>
          <a:p>
            <a:endParaRPr sz="2800" b="1"/>
          </a:p>
        </p:txBody>
      </p:sp>
      <p:sp>
        <p:nvSpPr>
          <p:cNvPr id="9" name="Text 7"/>
          <p:cNvSpPr/>
          <p:nvPr/>
        </p:nvSpPr>
        <p:spPr>
          <a:xfrm>
            <a:off x="704088" y="2176272"/>
            <a:ext cx="3337560" cy="457200"/>
          </a:xfrm>
          <a:prstGeom prst="rect">
            <a:avLst/>
          </a:prstGeom>
          <a:noFill/>
          <a:ln/>
        </p:spPr>
        <p:txBody>
          <a:bodyPr wrap="square" lIns="0" tIns="0" rIns="0" bIns="0" rtlCol="0" anchor="ctr">
            <a:normAutofit lnSpcReduction="10000"/>
          </a:bodyPr>
          <a:lstStyle/>
          <a:p>
            <a:pPr marL="0" indent="0" algn="ctr">
              <a:spcBef>
                <a:spcPts val="0"/>
              </a:spcBef>
              <a:spcAft>
                <a:spcPts val="0"/>
              </a:spcAft>
              <a:buNone/>
            </a:pPr>
            <a:r>
              <a:rPr lang="en-US" sz="1600" b="1" kern="0" spc="30" dirty="0">
                <a:solidFill>
                  <a:srgbClr val="CD433F"/>
                </a:solidFill>
                <a:latin typeface="Aptos" pitchFamily="34" charset="0"/>
                <a:ea typeface="Inter" pitchFamily="34" charset="-122"/>
                <a:cs typeface="Inter" pitchFamily="34" charset="-120"/>
              </a:rPr>
              <a:t>MANUFACTURING </a:t>
            </a:r>
          </a:p>
          <a:p>
            <a:pPr marL="0" indent="0" algn="ctr">
              <a:spcBef>
                <a:spcPts val="0"/>
              </a:spcBef>
              <a:spcAft>
                <a:spcPts val="0"/>
              </a:spcAft>
              <a:buNone/>
            </a:pPr>
            <a:r>
              <a:rPr lang="en-US" sz="1600" b="1" kern="0" spc="30" dirty="0">
                <a:solidFill>
                  <a:srgbClr val="CD433F"/>
                </a:solidFill>
                <a:latin typeface="Aptos" pitchFamily="34" charset="0"/>
                <a:ea typeface="Inter" pitchFamily="34" charset="-122"/>
                <a:cs typeface="Inter" pitchFamily="34" charset="-120"/>
              </a:rPr>
              <a:t>1</a:t>
            </a:r>
            <a:r>
              <a:rPr lang="en-US" sz="1600" b="1" kern="0" spc="30" baseline="30000" dirty="0">
                <a:solidFill>
                  <a:srgbClr val="CD433F"/>
                </a:solidFill>
                <a:latin typeface="Aptos" pitchFamily="34" charset="0"/>
                <a:ea typeface="Inter" pitchFamily="34" charset="-122"/>
                <a:cs typeface="Inter" pitchFamily="34" charset="-120"/>
              </a:rPr>
              <a:t>st</a:t>
            </a:r>
            <a:r>
              <a:rPr lang="en-US" sz="1600" b="1" kern="0" spc="30" dirty="0">
                <a:solidFill>
                  <a:srgbClr val="CD433F"/>
                </a:solidFill>
                <a:latin typeface="Aptos" pitchFamily="34" charset="0"/>
                <a:ea typeface="Inter" pitchFamily="34" charset="-122"/>
                <a:cs typeface="Inter" pitchFamily="34" charset="-120"/>
              </a:rPr>
              <a:t> /2</a:t>
            </a:r>
            <a:r>
              <a:rPr lang="en-US" sz="1600" b="1" kern="0" spc="30" baseline="30000" dirty="0">
                <a:solidFill>
                  <a:srgbClr val="CD433F"/>
                </a:solidFill>
                <a:latin typeface="Aptos" pitchFamily="34" charset="0"/>
                <a:ea typeface="Inter" pitchFamily="34" charset="-122"/>
                <a:cs typeface="Inter" pitchFamily="34" charset="-120"/>
              </a:rPr>
              <a:t>nd</a:t>
            </a:r>
            <a:r>
              <a:rPr lang="en-US" sz="1600" b="1" kern="0" spc="30" dirty="0">
                <a:solidFill>
                  <a:srgbClr val="CD433F"/>
                </a:solidFill>
                <a:latin typeface="Aptos" pitchFamily="34" charset="0"/>
                <a:ea typeface="Inter" pitchFamily="34" charset="-122"/>
                <a:cs typeface="Inter" pitchFamily="34" charset="-120"/>
              </a:rPr>
              <a:t> Shift — 17 / 20 AUG</a:t>
            </a:r>
            <a:endParaRPr lang="en-US" sz="1050" b="1" dirty="0"/>
          </a:p>
        </p:txBody>
      </p:sp>
      <p:sp>
        <p:nvSpPr>
          <p:cNvPr id="10" name="Text 8"/>
          <p:cNvSpPr/>
          <p:nvPr/>
        </p:nvSpPr>
        <p:spPr>
          <a:xfrm>
            <a:off x="877824" y="2770632"/>
            <a:ext cx="1078992" cy="347472"/>
          </a:xfrm>
          <a:prstGeom prst="rect">
            <a:avLst/>
          </a:prstGeom>
          <a:noFill/>
          <a:ln/>
        </p:spPr>
        <p:txBody>
          <a:bodyPr wrap="square" lIns="0" tIns="0" rIns="0" bIns="0" rtlCol="0" anchor="ctr">
            <a:normAutofit/>
          </a:bodyPr>
          <a:lstStyle/>
          <a:p>
            <a:pPr marL="0" indent="0" algn="l">
              <a:spcBef>
                <a:spcPts val="0"/>
              </a:spcBef>
              <a:spcAft>
                <a:spcPts val="0"/>
              </a:spcAft>
              <a:buNone/>
            </a:pPr>
            <a:r>
              <a:rPr lang="en-US" sz="975" b="1" kern="0" dirty="0">
                <a:solidFill>
                  <a:srgbClr val="0E2136"/>
                </a:solidFill>
                <a:latin typeface="Aptos" pitchFamily="34" charset="0"/>
                <a:ea typeface="Inter" pitchFamily="34" charset="-122"/>
                <a:cs typeface="Inter" pitchFamily="34" charset="-120"/>
              </a:rPr>
              <a:t>WEIGH-PAN CONTACT</a:t>
            </a:r>
            <a:endParaRPr lang="en-US" sz="690" dirty="0"/>
          </a:p>
        </p:txBody>
      </p:sp>
      <p:sp>
        <p:nvSpPr>
          <p:cNvPr id="11" name="Text 9"/>
          <p:cNvSpPr/>
          <p:nvPr/>
        </p:nvSpPr>
        <p:spPr>
          <a:xfrm>
            <a:off x="2148840" y="2770632"/>
            <a:ext cx="1892808" cy="347472"/>
          </a:xfrm>
          <a:prstGeom prst="rect">
            <a:avLst/>
          </a:prstGeom>
          <a:noFill/>
          <a:ln/>
        </p:spPr>
        <p:txBody>
          <a:bodyPr wrap="square" lIns="0" tIns="0" rIns="0" bIns="0" rtlCol="0" anchor="ctr">
            <a:normAutofit/>
          </a:bodyPr>
          <a:lstStyle/>
          <a:p>
            <a:pPr marL="0" indent="0" algn="l">
              <a:spcBef>
                <a:spcPts val="0"/>
              </a:spcBef>
              <a:spcAft>
                <a:spcPts val="0"/>
              </a:spcAft>
              <a:buNone/>
            </a:pPr>
            <a:r>
              <a:rPr lang="en-US" sz="1100" dirty="0">
                <a:solidFill>
                  <a:srgbClr val="0E2136"/>
                </a:solidFill>
                <a:latin typeface="Aptos" pitchFamily="34" charset="0"/>
                <a:ea typeface="Inter" pitchFamily="34" charset="-122"/>
                <a:cs typeface="Inter" pitchFamily="34" charset="-120"/>
              </a:rPr>
              <a:t>Direct hand restraint / downward force</a:t>
            </a:r>
            <a:endParaRPr lang="en-US" sz="800" dirty="0"/>
          </a:p>
        </p:txBody>
      </p:sp>
      <p:sp>
        <p:nvSpPr>
          <p:cNvPr id="12" name="Shape 10"/>
          <p:cNvSpPr/>
          <p:nvPr/>
        </p:nvSpPr>
        <p:spPr>
          <a:xfrm>
            <a:off x="859536" y="3246120"/>
            <a:ext cx="3026664" cy="0"/>
          </a:xfrm>
          <a:prstGeom prst="line">
            <a:avLst/>
          </a:prstGeom>
          <a:noFill/>
          <a:ln w="8890">
            <a:solidFill>
              <a:srgbClr val="D6DCE3"/>
            </a:solidFill>
            <a:prstDash val="solid"/>
          </a:ln>
        </p:spPr>
        <p:txBody>
          <a:bodyPr/>
          <a:lstStyle/>
          <a:p>
            <a:endParaRPr/>
          </a:p>
        </p:txBody>
      </p:sp>
      <p:sp>
        <p:nvSpPr>
          <p:cNvPr id="13" name="Text 11"/>
          <p:cNvSpPr/>
          <p:nvPr/>
        </p:nvSpPr>
        <p:spPr>
          <a:xfrm>
            <a:off x="877824" y="3456432"/>
            <a:ext cx="1078992" cy="347472"/>
          </a:xfrm>
          <a:prstGeom prst="rect">
            <a:avLst/>
          </a:prstGeom>
          <a:noFill/>
          <a:ln/>
        </p:spPr>
        <p:txBody>
          <a:bodyPr wrap="square" lIns="0" tIns="0" rIns="0" bIns="0" rtlCol="0" anchor="ctr">
            <a:normAutofit/>
          </a:bodyPr>
          <a:lstStyle/>
          <a:p>
            <a:pPr marL="0" indent="0" algn="l">
              <a:spcBef>
                <a:spcPts val="0"/>
              </a:spcBef>
              <a:spcAft>
                <a:spcPts val="0"/>
              </a:spcAft>
              <a:buNone/>
            </a:pPr>
            <a:r>
              <a:rPr lang="en-US" sz="975" b="1" kern="0" dirty="0">
                <a:solidFill>
                  <a:srgbClr val="0E2136"/>
                </a:solidFill>
                <a:latin typeface="Aptos" pitchFamily="34" charset="0"/>
                <a:ea typeface="Inter" pitchFamily="34" charset="-122"/>
                <a:cs typeface="Inter" pitchFamily="34" charset="-120"/>
              </a:rPr>
              <a:t>EQUIPMENT STATE</a:t>
            </a:r>
            <a:endParaRPr lang="en-US" sz="690" dirty="0"/>
          </a:p>
        </p:txBody>
      </p:sp>
      <p:sp>
        <p:nvSpPr>
          <p:cNvPr id="14" name="Text 12"/>
          <p:cNvSpPr/>
          <p:nvPr/>
        </p:nvSpPr>
        <p:spPr>
          <a:xfrm>
            <a:off x="2148840" y="3456432"/>
            <a:ext cx="1892808" cy="347472"/>
          </a:xfrm>
          <a:prstGeom prst="rect">
            <a:avLst/>
          </a:prstGeom>
          <a:noFill/>
          <a:ln/>
        </p:spPr>
        <p:txBody>
          <a:bodyPr wrap="square" lIns="0" tIns="0" rIns="0" bIns="0" rtlCol="0" anchor="ctr">
            <a:normAutofit fontScale="92500"/>
          </a:bodyPr>
          <a:lstStyle/>
          <a:p>
            <a:pPr marL="0" indent="0" algn="l">
              <a:spcBef>
                <a:spcPts val="0"/>
              </a:spcBef>
              <a:spcAft>
                <a:spcPts val="0"/>
              </a:spcAft>
              <a:buNone/>
            </a:pPr>
            <a:r>
              <a:rPr lang="en-US" sz="1100" dirty="0">
                <a:solidFill>
                  <a:srgbClr val="0E2136"/>
                </a:solidFill>
                <a:latin typeface="Aptos" pitchFamily="34" charset="0"/>
                <a:ea typeface="Inter" pitchFamily="34" charset="-122"/>
                <a:cs typeface="Inter" pitchFamily="34" charset="-120"/>
              </a:rPr>
              <a:t>Energized during observed cleaning, Weigh Pan not removed</a:t>
            </a:r>
          </a:p>
        </p:txBody>
      </p:sp>
      <p:sp>
        <p:nvSpPr>
          <p:cNvPr id="15" name="Shape 13"/>
          <p:cNvSpPr/>
          <p:nvPr/>
        </p:nvSpPr>
        <p:spPr>
          <a:xfrm>
            <a:off x="859536" y="3931920"/>
            <a:ext cx="3026664" cy="0"/>
          </a:xfrm>
          <a:prstGeom prst="line">
            <a:avLst/>
          </a:prstGeom>
          <a:noFill/>
          <a:ln w="8890">
            <a:solidFill>
              <a:srgbClr val="D6DCE3"/>
            </a:solidFill>
            <a:prstDash val="solid"/>
          </a:ln>
        </p:spPr>
        <p:txBody>
          <a:bodyPr/>
          <a:lstStyle/>
          <a:p>
            <a:endParaRPr/>
          </a:p>
        </p:txBody>
      </p:sp>
      <p:sp>
        <p:nvSpPr>
          <p:cNvPr id="16" name="Text 14"/>
          <p:cNvSpPr/>
          <p:nvPr/>
        </p:nvSpPr>
        <p:spPr>
          <a:xfrm>
            <a:off x="877824" y="4142232"/>
            <a:ext cx="1078992" cy="347472"/>
          </a:xfrm>
          <a:prstGeom prst="rect">
            <a:avLst/>
          </a:prstGeom>
          <a:noFill/>
          <a:ln/>
        </p:spPr>
        <p:txBody>
          <a:bodyPr wrap="square" lIns="0" tIns="0" rIns="0" bIns="0" rtlCol="0" anchor="ctr">
            <a:normAutofit/>
          </a:bodyPr>
          <a:lstStyle/>
          <a:p>
            <a:pPr marL="0" indent="0" algn="l">
              <a:spcBef>
                <a:spcPts val="0"/>
              </a:spcBef>
              <a:spcAft>
                <a:spcPts val="0"/>
              </a:spcAft>
              <a:buNone/>
            </a:pPr>
            <a:r>
              <a:rPr lang="en-US" sz="975" b="1" kern="0" dirty="0">
                <a:solidFill>
                  <a:srgbClr val="0E2136"/>
                </a:solidFill>
                <a:latin typeface="Aptos" pitchFamily="34" charset="0"/>
                <a:ea typeface="Inter" pitchFamily="34" charset="-122"/>
                <a:cs typeface="Inter" pitchFamily="34" charset="-120"/>
              </a:rPr>
              <a:t>PUCK CONDITION</a:t>
            </a:r>
            <a:endParaRPr lang="en-US" sz="690" dirty="0"/>
          </a:p>
        </p:txBody>
      </p:sp>
      <p:sp>
        <p:nvSpPr>
          <p:cNvPr id="17" name="Text 15"/>
          <p:cNvSpPr/>
          <p:nvPr/>
        </p:nvSpPr>
        <p:spPr>
          <a:xfrm>
            <a:off x="2148840" y="4133087"/>
            <a:ext cx="1892808" cy="347472"/>
          </a:xfrm>
          <a:prstGeom prst="rect">
            <a:avLst/>
          </a:prstGeom>
          <a:noFill/>
          <a:ln/>
        </p:spPr>
        <p:txBody>
          <a:bodyPr wrap="square" lIns="0" tIns="0" rIns="0" bIns="0" rtlCol="0" anchor="ctr">
            <a:normAutofit/>
          </a:bodyPr>
          <a:lstStyle/>
          <a:p>
            <a:pPr marL="0" indent="0" algn="l">
              <a:spcBef>
                <a:spcPts val="0"/>
              </a:spcBef>
              <a:spcAft>
                <a:spcPts val="0"/>
              </a:spcAft>
              <a:buNone/>
            </a:pPr>
            <a:r>
              <a:rPr lang="en-US" sz="1100" dirty="0">
                <a:solidFill>
                  <a:srgbClr val="0E2136"/>
                </a:solidFill>
                <a:latin typeface="Aptos" pitchFamily="34" charset="0"/>
                <a:ea typeface="Inter" pitchFamily="34" charset="-122"/>
                <a:cs typeface="Inter" pitchFamily="34" charset="-120"/>
              </a:rPr>
              <a:t>Powder buildup observed</a:t>
            </a:r>
            <a:endParaRPr lang="en-US" sz="800" dirty="0"/>
          </a:p>
        </p:txBody>
      </p:sp>
      <p:sp>
        <p:nvSpPr>
          <p:cNvPr id="18" name="Shape 16"/>
          <p:cNvSpPr/>
          <p:nvPr/>
        </p:nvSpPr>
        <p:spPr>
          <a:xfrm>
            <a:off x="859536" y="4617720"/>
            <a:ext cx="3026664" cy="0"/>
          </a:xfrm>
          <a:prstGeom prst="line">
            <a:avLst/>
          </a:prstGeom>
          <a:noFill/>
          <a:ln w="8890">
            <a:solidFill>
              <a:srgbClr val="D6DCE3"/>
            </a:solidFill>
            <a:prstDash val="solid"/>
          </a:ln>
        </p:spPr>
        <p:txBody>
          <a:bodyPr/>
          <a:lstStyle/>
          <a:p>
            <a:endParaRPr/>
          </a:p>
        </p:txBody>
      </p:sp>
      <p:sp>
        <p:nvSpPr>
          <p:cNvPr id="19" name="Text 17"/>
          <p:cNvSpPr/>
          <p:nvPr/>
        </p:nvSpPr>
        <p:spPr>
          <a:xfrm>
            <a:off x="877824" y="4828032"/>
            <a:ext cx="1078992" cy="347472"/>
          </a:xfrm>
          <a:prstGeom prst="rect">
            <a:avLst/>
          </a:prstGeom>
          <a:noFill/>
          <a:ln/>
        </p:spPr>
        <p:txBody>
          <a:bodyPr wrap="square" lIns="0" tIns="0" rIns="0" bIns="0" rtlCol="0" anchor="ctr">
            <a:normAutofit/>
          </a:bodyPr>
          <a:lstStyle/>
          <a:p>
            <a:pPr marL="0" indent="0" algn="l">
              <a:spcBef>
                <a:spcPts val="0"/>
              </a:spcBef>
              <a:spcAft>
                <a:spcPts val="0"/>
              </a:spcAft>
              <a:buNone/>
            </a:pPr>
            <a:r>
              <a:rPr lang="en-US" sz="975" b="1" kern="0" dirty="0">
                <a:solidFill>
                  <a:srgbClr val="0E2136"/>
                </a:solidFill>
                <a:latin typeface="Aptos" pitchFamily="34" charset="0"/>
                <a:ea typeface="Inter" pitchFamily="34" charset="-122"/>
                <a:cs typeface="Inter" pitchFamily="34" charset="-120"/>
              </a:rPr>
              <a:t>RESULTING EVIDENCE</a:t>
            </a:r>
            <a:endParaRPr lang="en-US" sz="690" dirty="0"/>
          </a:p>
        </p:txBody>
      </p:sp>
      <p:sp>
        <p:nvSpPr>
          <p:cNvPr id="20" name="Text 18"/>
          <p:cNvSpPr/>
          <p:nvPr/>
        </p:nvSpPr>
        <p:spPr>
          <a:xfrm>
            <a:off x="2148840" y="4828032"/>
            <a:ext cx="1810512" cy="347472"/>
          </a:xfrm>
          <a:prstGeom prst="rect">
            <a:avLst/>
          </a:prstGeom>
          <a:noFill/>
          <a:ln/>
        </p:spPr>
        <p:txBody>
          <a:bodyPr wrap="square" lIns="0" tIns="0" rIns="0" bIns="0" rtlCol="0" anchor="ctr">
            <a:normAutofit lnSpcReduction="10000"/>
          </a:bodyPr>
          <a:lstStyle/>
          <a:p>
            <a:pPr marL="0" indent="0" algn="l">
              <a:spcBef>
                <a:spcPts val="0"/>
              </a:spcBef>
              <a:spcAft>
                <a:spcPts val="0"/>
              </a:spcAft>
              <a:buNone/>
            </a:pPr>
            <a:r>
              <a:rPr lang="en-US" sz="1200" b="1" dirty="0">
                <a:solidFill>
                  <a:srgbClr val="0E2136"/>
                </a:solidFill>
                <a:latin typeface="Aptos" pitchFamily="34" charset="0"/>
                <a:ea typeface="Inter" pitchFamily="34" charset="-122"/>
                <a:cs typeface="Inter" pitchFamily="34" charset="-120"/>
              </a:rPr>
              <a:t>Credible external load path</a:t>
            </a:r>
            <a:endParaRPr lang="en-US" sz="870" dirty="0"/>
          </a:p>
        </p:txBody>
      </p:sp>
      <p:sp>
        <p:nvSpPr>
          <p:cNvPr id="21" name="Shape 19"/>
          <p:cNvSpPr/>
          <p:nvPr/>
        </p:nvSpPr>
        <p:spPr>
          <a:xfrm>
            <a:off x="4379976" y="2176272"/>
            <a:ext cx="3429000" cy="3602736"/>
          </a:xfrm>
          <a:prstGeom prst="roundRect">
            <a:avLst>
              <a:gd name="adj" fmla="val 2133"/>
            </a:avLst>
          </a:prstGeom>
          <a:solidFill>
            <a:srgbClr val="FFFFFF"/>
          </a:solidFill>
          <a:ln w="11430">
            <a:solidFill>
              <a:srgbClr val="D6DCE3"/>
            </a:solidFill>
            <a:prstDash val="solid"/>
          </a:ln>
          <a:effectLst>
            <a:outerShdw algn="bl" rotWithShape="0">
              <a:srgbClr val="73808C">
                <a:alpha val="0"/>
              </a:srgbClr>
            </a:outerShdw>
          </a:effectLst>
        </p:spPr>
        <p:txBody>
          <a:bodyPr/>
          <a:lstStyle/>
          <a:p>
            <a:endParaRPr/>
          </a:p>
        </p:txBody>
      </p:sp>
      <p:sp>
        <p:nvSpPr>
          <p:cNvPr id="22" name="Shape 20"/>
          <p:cNvSpPr/>
          <p:nvPr/>
        </p:nvSpPr>
        <p:spPr>
          <a:xfrm>
            <a:off x="4379976" y="2176272"/>
            <a:ext cx="3429000" cy="457200"/>
          </a:xfrm>
          <a:prstGeom prst="rect">
            <a:avLst/>
          </a:prstGeom>
          <a:solidFill>
            <a:srgbClr val="E4F0EA"/>
          </a:solidFill>
          <a:ln w="12700">
            <a:solidFill>
              <a:srgbClr val="E4F0EA"/>
            </a:solidFill>
            <a:prstDash val="solid"/>
          </a:ln>
        </p:spPr>
        <p:txBody>
          <a:bodyPr/>
          <a:lstStyle/>
          <a:p>
            <a:endParaRPr sz="2800" b="1"/>
          </a:p>
        </p:txBody>
      </p:sp>
      <p:sp>
        <p:nvSpPr>
          <p:cNvPr id="23" name="Text 21"/>
          <p:cNvSpPr/>
          <p:nvPr/>
        </p:nvSpPr>
        <p:spPr>
          <a:xfrm>
            <a:off x="4425696" y="2176272"/>
            <a:ext cx="3337560" cy="457200"/>
          </a:xfrm>
          <a:prstGeom prst="rect">
            <a:avLst/>
          </a:prstGeom>
          <a:noFill/>
          <a:ln/>
        </p:spPr>
        <p:txBody>
          <a:bodyPr wrap="square" lIns="0" tIns="0" rIns="0" bIns="0" rtlCol="0" anchor="ctr">
            <a:normAutofit/>
          </a:bodyPr>
          <a:lstStyle/>
          <a:p>
            <a:pPr marL="0" indent="0" algn="ctr">
              <a:spcBef>
                <a:spcPts val="0"/>
              </a:spcBef>
              <a:spcAft>
                <a:spcPts val="0"/>
              </a:spcAft>
              <a:buNone/>
            </a:pPr>
            <a:r>
              <a:rPr lang="en-US" sz="1600" b="1" kern="0" spc="30" dirty="0">
                <a:solidFill>
                  <a:srgbClr val="207E60"/>
                </a:solidFill>
                <a:latin typeface="Aptos" pitchFamily="34" charset="0"/>
                <a:ea typeface="Inter" pitchFamily="34" charset="-122"/>
                <a:cs typeface="Inter" pitchFamily="34" charset="-120"/>
              </a:rPr>
              <a:t>THIRD SHIFT — 31 AUG</a:t>
            </a:r>
            <a:endParaRPr lang="en-US" sz="1050" b="1" dirty="0"/>
          </a:p>
        </p:txBody>
      </p:sp>
      <p:sp>
        <p:nvSpPr>
          <p:cNvPr id="24" name="Text 22"/>
          <p:cNvSpPr/>
          <p:nvPr/>
        </p:nvSpPr>
        <p:spPr>
          <a:xfrm>
            <a:off x="4599432" y="2770632"/>
            <a:ext cx="1078992" cy="347472"/>
          </a:xfrm>
          <a:prstGeom prst="rect">
            <a:avLst/>
          </a:prstGeom>
          <a:noFill/>
          <a:ln/>
        </p:spPr>
        <p:txBody>
          <a:bodyPr wrap="square" lIns="0" tIns="0" rIns="0" bIns="0" rtlCol="0" anchor="ctr">
            <a:normAutofit/>
          </a:bodyPr>
          <a:lstStyle/>
          <a:p>
            <a:pPr marL="0" indent="0" algn="l">
              <a:spcBef>
                <a:spcPts val="0"/>
              </a:spcBef>
              <a:spcAft>
                <a:spcPts val="0"/>
              </a:spcAft>
              <a:buNone/>
            </a:pPr>
            <a:r>
              <a:rPr lang="en-US" sz="975" b="1" kern="0" dirty="0">
                <a:solidFill>
                  <a:srgbClr val="0E2136"/>
                </a:solidFill>
                <a:latin typeface="Aptos" pitchFamily="34" charset="0"/>
                <a:ea typeface="Inter" pitchFamily="34" charset="-122"/>
                <a:cs typeface="Inter" pitchFamily="34" charset="-120"/>
              </a:rPr>
              <a:t>WEIGH-PAN CONTACT</a:t>
            </a:r>
            <a:endParaRPr lang="en-US" sz="690" dirty="0"/>
          </a:p>
        </p:txBody>
      </p:sp>
      <p:sp>
        <p:nvSpPr>
          <p:cNvPr id="25" name="Text 23"/>
          <p:cNvSpPr/>
          <p:nvPr/>
        </p:nvSpPr>
        <p:spPr>
          <a:xfrm>
            <a:off x="5715000" y="2770632"/>
            <a:ext cx="1892808" cy="347472"/>
          </a:xfrm>
          <a:prstGeom prst="rect">
            <a:avLst/>
          </a:prstGeom>
          <a:noFill/>
          <a:ln/>
        </p:spPr>
        <p:txBody>
          <a:bodyPr wrap="square" lIns="0" tIns="0" rIns="0" bIns="0" rtlCol="0" anchor="ctr">
            <a:normAutofit lnSpcReduction="10000"/>
          </a:bodyPr>
          <a:lstStyle/>
          <a:p>
            <a:pPr marL="0" indent="0" algn="l">
              <a:spcBef>
                <a:spcPts val="0"/>
              </a:spcBef>
              <a:spcAft>
                <a:spcPts val="0"/>
              </a:spcAft>
              <a:buNone/>
            </a:pPr>
            <a:r>
              <a:rPr lang="en-US" sz="1200" dirty="0">
                <a:solidFill>
                  <a:srgbClr val="0E2136"/>
                </a:solidFill>
                <a:latin typeface="Aptos" pitchFamily="34" charset="0"/>
                <a:ea typeface="Inter" pitchFamily="34" charset="-122"/>
                <a:cs typeface="Inter" pitchFamily="34" charset="-120"/>
              </a:rPr>
              <a:t>No hand / vacuum-nozzle contact</a:t>
            </a:r>
            <a:endParaRPr lang="en-US" sz="870" dirty="0"/>
          </a:p>
        </p:txBody>
      </p:sp>
      <p:sp>
        <p:nvSpPr>
          <p:cNvPr id="26" name="Shape 24"/>
          <p:cNvSpPr/>
          <p:nvPr/>
        </p:nvSpPr>
        <p:spPr>
          <a:xfrm>
            <a:off x="4581144" y="3246120"/>
            <a:ext cx="3026664" cy="0"/>
          </a:xfrm>
          <a:prstGeom prst="line">
            <a:avLst/>
          </a:prstGeom>
          <a:noFill/>
          <a:ln w="8890">
            <a:solidFill>
              <a:srgbClr val="D6DCE3"/>
            </a:solidFill>
            <a:prstDash val="solid"/>
          </a:ln>
        </p:spPr>
        <p:txBody>
          <a:bodyPr/>
          <a:lstStyle/>
          <a:p>
            <a:endParaRPr/>
          </a:p>
        </p:txBody>
      </p:sp>
      <p:sp>
        <p:nvSpPr>
          <p:cNvPr id="27" name="Text 25"/>
          <p:cNvSpPr/>
          <p:nvPr/>
        </p:nvSpPr>
        <p:spPr>
          <a:xfrm>
            <a:off x="4599432" y="3456432"/>
            <a:ext cx="1078992" cy="347472"/>
          </a:xfrm>
          <a:prstGeom prst="rect">
            <a:avLst/>
          </a:prstGeom>
          <a:noFill/>
          <a:ln/>
        </p:spPr>
        <p:txBody>
          <a:bodyPr wrap="square" lIns="0" tIns="0" rIns="0" bIns="0" rtlCol="0" anchor="ctr">
            <a:normAutofit/>
          </a:bodyPr>
          <a:lstStyle/>
          <a:p>
            <a:pPr marL="0" indent="0" algn="l">
              <a:spcBef>
                <a:spcPts val="0"/>
              </a:spcBef>
              <a:spcAft>
                <a:spcPts val="0"/>
              </a:spcAft>
              <a:buNone/>
            </a:pPr>
            <a:r>
              <a:rPr lang="en-US" sz="975" b="1" kern="0" dirty="0">
                <a:solidFill>
                  <a:srgbClr val="0E2136"/>
                </a:solidFill>
                <a:latin typeface="Aptos" pitchFamily="34" charset="0"/>
                <a:ea typeface="Inter" pitchFamily="34" charset="-122"/>
                <a:cs typeface="Inter" pitchFamily="34" charset="-120"/>
              </a:rPr>
              <a:t>REMOVABLE PARTS</a:t>
            </a:r>
            <a:endParaRPr lang="en-US" sz="690" dirty="0"/>
          </a:p>
        </p:txBody>
      </p:sp>
      <p:sp>
        <p:nvSpPr>
          <p:cNvPr id="28" name="Text 26"/>
          <p:cNvSpPr/>
          <p:nvPr/>
        </p:nvSpPr>
        <p:spPr>
          <a:xfrm>
            <a:off x="5715000" y="3456432"/>
            <a:ext cx="1892808" cy="347472"/>
          </a:xfrm>
          <a:prstGeom prst="rect">
            <a:avLst/>
          </a:prstGeom>
          <a:noFill/>
          <a:ln/>
        </p:spPr>
        <p:txBody>
          <a:bodyPr wrap="square" lIns="0" tIns="0" rIns="0" bIns="0" rtlCol="0" anchor="ctr">
            <a:normAutofit lnSpcReduction="10000"/>
          </a:bodyPr>
          <a:lstStyle/>
          <a:p>
            <a:pPr marL="0" indent="0" algn="l">
              <a:spcBef>
                <a:spcPts val="0"/>
              </a:spcBef>
              <a:spcAft>
                <a:spcPts val="0"/>
              </a:spcAft>
              <a:buNone/>
            </a:pPr>
            <a:r>
              <a:rPr lang="en-US" sz="1200" dirty="0">
                <a:solidFill>
                  <a:srgbClr val="0E2136"/>
                </a:solidFill>
                <a:latin typeface="Aptos" pitchFamily="34" charset="0"/>
                <a:ea typeface="Inter" pitchFamily="34" charset="-122"/>
                <a:cs typeface="Inter" pitchFamily="34" charset="-120"/>
              </a:rPr>
              <a:t>Removed, wiped, cleaned later</a:t>
            </a:r>
            <a:endParaRPr lang="en-US" sz="870" dirty="0"/>
          </a:p>
        </p:txBody>
      </p:sp>
      <p:sp>
        <p:nvSpPr>
          <p:cNvPr id="29" name="Shape 27"/>
          <p:cNvSpPr/>
          <p:nvPr/>
        </p:nvSpPr>
        <p:spPr>
          <a:xfrm>
            <a:off x="4581144" y="3931920"/>
            <a:ext cx="3026664" cy="0"/>
          </a:xfrm>
          <a:prstGeom prst="line">
            <a:avLst/>
          </a:prstGeom>
          <a:noFill/>
          <a:ln w="8890">
            <a:solidFill>
              <a:srgbClr val="D6DCE3"/>
            </a:solidFill>
            <a:prstDash val="solid"/>
          </a:ln>
        </p:spPr>
        <p:txBody>
          <a:bodyPr/>
          <a:lstStyle/>
          <a:p>
            <a:endParaRPr/>
          </a:p>
        </p:txBody>
      </p:sp>
      <p:sp>
        <p:nvSpPr>
          <p:cNvPr id="30" name="Text 28"/>
          <p:cNvSpPr/>
          <p:nvPr/>
        </p:nvSpPr>
        <p:spPr>
          <a:xfrm>
            <a:off x="4599432" y="4142232"/>
            <a:ext cx="1078992" cy="347472"/>
          </a:xfrm>
          <a:prstGeom prst="rect">
            <a:avLst/>
          </a:prstGeom>
          <a:noFill/>
          <a:ln/>
        </p:spPr>
        <p:txBody>
          <a:bodyPr wrap="square" lIns="0" tIns="0" rIns="0" bIns="0" rtlCol="0" anchor="ctr">
            <a:normAutofit/>
          </a:bodyPr>
          <a:lstStyle/>
          <a:p>
            <a:pPr marL="0" indent="0" algn="l">
              <a:spcBef>
                <a:spcPts val="0"/>
              </a:spcBef>
              <a:spcAft>
                <a:spcPts val="0"/>
              </a:spcAft>
              <a:buNone/>
            </a:pPr>
            <a:r>
              <a:rPr lang="en-US" sz="975" b="1" kern="0" dirty="0">
                <a:solidFill>
                  <a:srgbClr val="0E2136"/>
                </a:solidFill>
                <a:latin typeface="Aptos" pitchFamily="34" charset="0"/>
                <a:ea typeface="Inter" pitchFamily="34" charset="-122"/>
                <a:cs typeface="Inter" pitchFamily="34" charset="-120"/>
              </a:rPr>
              <a:t>ALARMS</a:t>
            </a:r>
            <a:endParaRPr lang="en-US" sz="690" dirty="0"/>
          </a:p>
        </p:txBody>
      </p:sp>
      <p:sp>
        <p:nvSpPr>
          <p:cNvPr id="31" name="Text 29"/>
          <p:cNvSpPr/>
          <p:nvPr/>
        </p:nvSpPr>
        <p:spPr>
          <a:xfrm>
            <a:off x="5715000" y="4142232"/>
            <a:ext cx="1892808" cy="347472"/>
          </a:xfrm>
          <a:prstGeom prst="rect">
            <a:avLst/>
          </a:prstGeom>
          <a:noFill/>
          <a:ln/>
        </p:spPr>
        <p:txBody>
          <a:bodyPr wrap="square" lIns="0" tIns="0" rIns="0" bIns="0" rtlCol="0" anchor="ctr">
            <a:normAutofit lnSpcReduction="10000"/>
          </a:bodyPr>
          <a:lstStyle/>
          <a:p>
            <a:pPr marL="0" indent="0" algn="l">
              <a:spcBef>
                <a:spcPts val="0"/>
              </a:spcBef>
              <a:spcAft>
                <a:spcPts val="0"/>
              </a:spcAft>
              <a:buNone/>
            </a:pPr>
            <a:r>
              <a:rPr lang="en-US" sz="1200" dirty="0">
                <a:solidFill>
                  <a:srgbClr val="0E2136"/>
                </a:solidFill>
                <a:latin typeface="Aptos" pitchFamily="34" charset="0"/>
                <a:ea typeface="Inter" pitchFamily="34" charset="-122"/>
                <a:cs typeface="Inter" pitchFamily="34" charset="-120"/>
              </a:rPr>
              <a:t>None observed during cleaning</a:t>
            </a:r>
            <a:endParaRPr lang="en-US" sz="870" dirty="0"/>
          </a:p>
        </p:txBody>
      </p:sp>
      <p:sp>
        <p:nvSpPr>
          <p:cNvPr id="32" name="Shape 30"/>
          <p:cNvSpPr/>
          <p:nvPr/>
        </p:nvSpPr>
        <p:spPr>
          <a:xfrm>
            <a:off x="4581144" y="4617720"/>
            <a:ext cx="3026664" cy="0"/>
          </a:xfrm>
          <a:prstGeom prst="line">
            <a:avLst/>
          </a:prstGeom>
          <a:noFill/>
          <a:ln w="8890">
            <a:solidFill>
              <a:srgbClr val="D6DCE3"/>
            </a:solidFill>
            <a:prstDash val="solid"/>
          </a:ln>
        </p:spPr>
        <p:txBody>
          <a:bodyPr/>
          <a:lstStyle/>
          <a:p>
            <a:endParaRPr/>
          </a:p>
        </p:txBody>
      </p:sp>
      <p:sp>
        <p:nvSpPr>
          <p:cNvPr id="33" name="Text 31"/>
          <p:cNvSpPr/>
          <p:nvPr/>
        </p:nvSpPr>
        <p:spPr>
          <a:xfrm>
            <a:off x="4599432" y="4828032"/>
            <a:ext cx="1078992" cy="347472"/>
          </a:xfrm>
          <a:prstGeom prst="rect">
            <a:avLst/>
          </a:prstGeom>
          <a:noFill/>
          <a:ln/>
        </p:spPr>
        <p:txBody>
          <a:bodyPr wrap="square" lIns="0" tIns="0" rIns="0" bIns="0" rtlCol="0" anchor="ctr">
            <a:normAutofit/>
          </a:bodyPr>
          <a:lstStyle/>
          <a:p>
            <a:pPr marL="0" indent="0" algn="l">
              <a:spcBef>
                <a:spcPts val="0"/>
              </a:spcBef>
              <a:spcAft>
                <a:spcPts val="0"/>
              </a:spcAft>
              <a:buNone/>
            </a:pPr>
            <a:r>
              <a:rPr lang="en-US" sz="975" b="1" kern="0" dirty="0">
                <a:solidFill>
                  <a:srgbClr val="0E2136"/>
                </a:solidFill>
                <a:latin typeface="Aptos" pitchFamily="34" charset="0"/>
                <a:ea typeface="Inter" pitchFamily="34" charset="-122"/>
                <a:cs typeface="Inter" pitchFamily="34" charset="-120"/>
              </a:rPr>
              <a:t>VALUE OF COMPARISON</a:t>
            </a:r>
            <a:endParaRPr lang="en-US" sz="690" dirty="0"/>
          </a:p>
        </p:txBody>
      </p:sp>
      <p:sp>
        <p:nvSpPr>
          <p:cNvPr id="34" name="Text 32"/>
          <p:cNvSpPr/>
          <p:nvPr/>
        </p:nvSpPr>
        <p:spPr>
          <a:xfrm>
            <a:off x="5715000" y="4828032"/>
            <a:ext cx="1892808" cy="347472"/>
          </a:xfrm>
          <a:prstGeom prst="rect">
            <a:avLst/>
          </a:prstGeom>
          <a:noFill/>
          <a:ln/>
        </p:spPr>
        <p:txBody>
          <a:bodyPr wrap="square" lIns="0" tIns="0" rIns="0" bIns="0" rtlCol="0" anchor="ctr">
            <a:normAutofit lnSpcReduction="10000"/>
          </a:bodyPr>
          <a:lstStyle/>
          <a:p>
            <a:pPr marL="0" indent="0" algn="l">
              <a:spcBef>
                <a:spcPts val="0"/>
              </a:spcBef>
              <a:spcAft>
                <a:spcPts val="0"/>
              </a:spcAft>
              <a:buNone/>
            </a:pPr>
            <a:r>
              <a:rPr lang="en-US" sz="1200" b="1" dirty="0">
                <a:solidFill>
                  <a:srgbClr val="0E2136"/>
                </a:solidFill>
                <a:latin typeface="Aptos" pitchFamily="34" charset="0"/>
                <a:ea typeface="Inter" pitchFamily="34" charset="-122"/>
                <a:cs typeface="Inter" pitchFamily="34" charset="-120"/>
              </a:rPr>
              <a:t>Shows no-contact method is feasible</a:t>
            </a:r>
            <a:endParaRPr lang="en-US" sz="870" dirty="0"/>
          </a:p>
        </p:txBody>
      </p:sp>
      <p:sp>
        <p:nvSpPr>
          <p:cNvPr id="35" name="Shape 33"/>
          <p:cNvSpPr/>
          <p:nvPr/>
        </p:nvSpPr>
        <p:spPr>
          <a:xfrm>
            <a:off x="8101584" y="2176272"/>
            <a:ext cx="3429000" cy="3602736"/>
          </a:xfrm>
          <a:prstGeom prst="roundRect">
            <a:avLst>
              <a:gd name="adj" fmla="val 2133"/>
            </a:avLst>
          </a:prstGeom>
          <a:solidFill>
            <a:srgbClr val="FFFFFF"/>
          </a:solidFill>
          <a:ln w="11430">
            <a:solidFill>
              <a:srgbClr val="D6DCE3"/>
            </a:solidFill>
            <a:prstDash val="solid"/>
          </a:ln>
          <a:effectLst>
            <a:outerShdw algn="bl" rotWithShape="0">
              <a:srgbClr val="73808C">
                <a:alpha val="0"/>
              </a:srgbClr>
            </a:outerShdw>
          </a:effectLst>
        </p:spPr>
        <p:txBody>
          <a:bodyPr/>
          <a:lstStyle/>
          <a:p>
            <a:endParaRPr/>
          </a:p>
        </p:txBody>
      </p:sp>
      <p:sp>
        <p:nvSpPr>
          <p:cNvPr id="36" name="Shape 34"/>
          <p:cNvSpPr/>
          <p:nvPr/>
        </p:nvSpPr>
        <p:spPr>
          <a:xfrm>
            <a:off x="8101584" y="2176272"/>
            <a:ext cx="3429000" cy="457200"/>
          </a:xfrm>
          <a:prstGeom prst="rect">
            <a:avLst/>
          </a:prstGeom>
          <a:solidFill>
            <a:srgbClr val="DFEBFA"/>
          </a:solidFill>
          <a:ln w="12700">
            <a:solidFill>
              <a:srgbClr val="DFEBFA"/>
            </a:solidFill>
            <a:prstDash val="solid"/>
          </a:ln>
        </p:spPr>
        <p:txBody>
          <a:bodyPr/>
          <a:lstStyle/>
          <a:p>
            <a:endParaRPr sz="2800" b="1"/>
          </a:p>
        </p:txBody>
      </p:sp>
      <p:sp>
        <p:nvSpPr>
          <p:cNvPr id="37" name="Text 35"/>
          <p:cNvSpPr/>
          <p:nvPr/>
        </p:nvSpPr>
        <p:spPr>
          <a:xfrm>
            <a:off x="8147304" y="2176272"/>
            <a:ext cx="3337560" cy="457200"/>
          </a:xfrm>
          <a:prstGeom prst="rect">
            <a:avLst/>
          </a:prstGeom>
          <a:noFill/>
          <a:ln/>
        </p:spPr>
        <p:txBody>
          <a:bodyPr wrap="square" lIns="0" tIns="0" rIns="0" bIns="0" rtlCol="0" anchor="ctr">
            <a:normAutofit/>
          </a:bodyPr>
          <a:lstStyle/>
          <a:p>
            <a:pPr marL="0" indent="0" algn="ctr">
              <a:spcBef>
                <a:spcPts val="0"/>
              </a:spcBef>
              <a:spcAft>
                <a:spcPts val="0"/>
              </a:spcAft>
              <a:buNone/>
            </a:pPr>
            <a:r>
              <a:rPr lang="en-US" sz="1600" b="1" kern="0" spc="30" dirty="0">
                <a:solidFill>
                  <a:srgbClr val="1554A9"/>
                </a:solidFill>
                <a:latin typeface="Aptos" pitchFamily="34" charset="0"/>
                <a:ea typeface="Inter" pitchFamily="34" charset="-122"/>
                <a:cs typeface="Inter" pitchFamily="34" charset="-120"/>
              </a:rPr>
              <a:t>PRODUCT DEVELOPMENT</a:t>
            </a:r>
            <a:endParaRPr lang="en-US" sz="1050" b="1" dirty="0"/>
          </a:p>
        </p:txBody>
      </p:sp>
      <p:sp>
        <p:nvSpPr>
          <p:cNvPr id="38" name="Text 36"/>
          <p:cNvSpPr/>
          <p:nvPr/>
        </p:nvSpPr>
        <p:spPr>
          <a:xfrm>
            <a:off x="8321040" y="2770632"/>
            <a:ext cx="1078992" cy="347472"/>
          </a:xfrm>
          <a:prstGeom prst="rect">
            <a:avLst/>
          </a:prstGeom>
          <a:noFill/>
          <a:ln/>
        </p:spPr>
        <p:txBody>
          <a:bodyPr wrap="square" lIns="0" tIns="0" rIns="0" bIns="0" rtlCol="0" anchor="ctr">
            <a:normAutofit/>
          </a:bodyPr>
          <a:lstStyle/>
          <a:p>
            <a:pPr marL="0" indent="0" algn="l">
              <a:spcBef>
                <a:spcPts val="0"/>
              </a:spcBef>
              <a:spcAft>
                <a:spcPts val="0"/>
              </a:spcAft>
              <a:buNone/>
            </a:pPr>
            <a:r>
              <a:rPr lang="en-US" sz="975" b="1" kern="0" dirty="0">
                <a:solidFill>
                  <a:srgbClr val="0E2136"/>
                </a:solidFill>
                <a:latin typeface="Aptos" pitchFamily="34" charset="0"/>
                <a:ea typeface="Inter" pitchFamily="34" charset="-122"/>
                <a:cs typeface="Inter" pitchFamily="34" charset="-120"/>
              </a:rPr>
              <a:t>WEIGH-PAN CONTACT</a:t>
            </a:r>
            <a:endParaRPr lang="en-US" sz="690" dirty="0"/>
          </a:p>
        </p:txBody>
      </p:sp>
      <p:sp>
        <p:nvSpPr>
          <p:cNvPr id="39" name="Text 37"/>
          <p:cNvSpPr/>
          <p:nvPr/>
        </p:nvSpPr>
        <p:spPr>
          <a:xfrm>
            <a:off x="9436608" y="2770632"/>
            <a:ext cx="1892808" cy="347472"/>
          </a:xfrm>
          <a:prstGeom prst="rect">
            <a:avLst/>
          </a:prstGeom>
          <a:noFill/>
          <a:ln/>
        </p:spPr>
        <p:txBody>
          <a:bodyPr wrap="square" lIns="0" tIns="0" rIns="0" bIns="0" rtlCol="0" anchor="ctr">
            <a:normAutofit lnSpcReduction="10000"/>
          </a:bodyPr>
          <a:lstStyle/>
          <a:p>
            <a:pPr marL="0" indent="0" algn="l">
              <a:spcBef>
                <a:spcPts val="0"/>
              </a:spcBef>
              <a:spcAft>
                <a:spcPts val="0"/>
              </a:spcAft>
              <a:buNone/>
            </a:pPr>
            <a:r>
              <a:rPr lang="en-US" sz="1200" dirty="0">
                <a:solidFill>
                  <a:srgbClr val="0E2136"/>
                </a:solidFill>
                <a:latin typeface="Aptos" pitchFamily="34" charset="0"/>
                <a:ea typeface="Inter" pitchFamily="34" charset="-122"/>
                <a:cs typeface="Inter" pitchFamily="34" charset="-120"/>
              </a:rPr>
              <a:t>No abnormal contact observed</a:t>
            </a:r>
            <a:endParaRPr lang="en-US" sz="870" dirty="0"/>
          </a:p>
        </p:txBody>
      </p:sp>
      <p:sp>
        <p:nvSpPr>
          <p:cNvPr id="40" name="Shape 38"/>
          <p:cNvSpPr/>
          <p:nvPr/>
        </p:nvSpPr>
        <p:spPr>
          <a:xfrm>
            <a:off x="8302752" y="3246120"/>
            <a:ext cx="3026664" cy="0"/>
          </a:xfrm>
          <a:prstGeom prst="line">
            <a:avLst/>
          </a:prstGeom>
          <a:noFill/>
          <a:ln w="8890">
            <a:solidFill>
              <a:srgbClr val="D6DCE3"/>
            </a:solidFill>
            <a:prstDash val="solid"/>
          </a:ln>
        </p:spPr>
        <p:txBody>
          <a:bodyPr/>
          <a:lstStyle/>
          <a:p>
            <a:endParaRPr/>
          </a:p>
        </p:txBody>
      </p:sp>
      <p:sp>
        <p:nvSpPr>
          <p:cNvPr id="41" name="Text 39"/>
          <p:cNvSpPr/>
          <p:nvPr/>
        </p:nvSpPr>
        <p:spPr>
          <a:xfrm>
            <a:off x="8321040" y="3456432"/>
            <a:ext cx="1078992" cy="347472"/>
          </a:xfrm>
          <a:prstGeom prst="rect">
            <a:avLst/>
          </a:prstGeom>
          <a:noFill/>
          <a:ln/>
        </p:spPr>
        <p:txBody>
          <a:bodyPr wrap="square" lIns="0" tIns="0" rIns="0" bIns="0" rtlCol="0" anchor="ctr">
            <a:normAutofit/>
          </a:bodyPr>
          <a:lstStyle/>
          <a:p>
            <a:pPr marL="0" indent="0" algn="l">
              <a:spcBef>
                <a:spcPts val="0"/>
              </a:spcBef>
              <a:spcAft>
                <a:spcPts val="0"/>
              </a:spcAft>
              <a:buNone/>
            </a:pPr>
            <a:r>
              <a:rPr lang="en-US" sz="975" b="1" kern="0" dirty="0">
                <a:solidFill>
                  <a:srgbClr val="0E2136"/>
                </a:solidFill>
                <a:latin typeface="Aptos" pitchFamily="34" charset="0"/>
                <a:ea typeface="Inter" pitchFamily="34" charset="-122"/>
                <a:cs typeface="Inter" pitchFamily="34" charset="-120"/>
              </a:rPr>
              <a:t>CLEANING METHOD</a:t>
            </a:r>
            <a:endParaRPr lang="en-US" sz="690" dirty="0"/>
          </a:p>
        </p:txBody>
      </p:sp>
      <p:sp>
        <p:nvSpPr>
          <p:cNvPr id="42" name="Text 40"/>
          <p:cNvSpPr/>
          <p:nvPr/>
        </p:nvSpPr>
        <p:spPr>
          <a:xfrm>
            <a:off x="9436608" y="3456432"/>
            <a:ext cx="1892808" cy="347472"/>
          </a:xfrm>
          <a:prstGeom prst="rect">
            <a:avLst/>
          </a:prstGeom>
          <a:noFill/>
          <a:ln/>
        </p:spPr>
        <p:txBody>
          <a:bodyPr wrap="square" lIns="0" tIns="0" rIns="0" bIns="0" rtlCol="0" anchor="ctr">
            <a:normAutofit lnSpcReduction="10000"/>
          </a:bodyPr>
          <a:lstStyle/>
          <a:p>
            <a:pPr marL="0" indent="0" algn="l">
              <a:spcBef>
                <a:spcPts val="0"/>
              </a:spcBef>
              <a:spcAft>
                <a:spcPts val="0"/>
              </a:spcAft>
              <a:buNone/>
            </a:pPr>
            <a:r>
              <a:rPr lang="en-US" sz="1200" dirty="0">
                <a:solidFill>
                  <a:srgbClr val="0E2136"/>
                </a:solidFill>
                <a:latin typeface="Aptos" pitchFamily="34" charset="0"/>
                <a:ea typeface="Inter" pitchFamily="34" charset="-122"/>
                <a:cs typeface="Inter" pitchFamily="34" charset="-120"/>
              </a:rPr>
              <a:t>Weigh pan removed before cleaning</a:t>
            </a:r>
            <a:endParaRPr lang="en-US" sz="870" dirty="0"/>
          </a:p>
        </p:txBody>
      </p:sp>
      <p:sp>
        <p:nvSpPr>
          <p:cNvPr id="43" name="Shape 41"/>
          <p:cNvSpPr/>
          <p:nvPr/>
        </p:nvSpPr>
        <p:spPr>
          <a:xfrm>
            <a:off x="8302752" y="3931920"/>
            <a:ext cx="3026664" cy="0"/>
          </a:xfrm>
          <a:prstGeom prst="line">
            <a:avLst/>
          </a:prstGeom>
          <a:noFill/>
          <a:ln w="8890">
            <a:solidFill>
              <a:srgbClr val="D6DCE3"/>
            </a:solidFill>
            <a:prstDash val="solid"/>
          </a:ln>
        </p:spPr>
        <p:txBody>
          <a:bodyPr/>
          <a:lstStyle/>
          <a:p>
            <a:endParaRPr/>
          </a:p>
        </p:txBody>
      </p:sp>
      <p:sp>
        <p:nvSpPr>
          <p:cNvPr id="44" name="Text 42"/>
          <p:cNvSpPr/>
          <p:nvPr/>
        </p:nvSpPr>
        <p:spPr>
          <a:xfrm>
            <a:off x="8321040" y="4142232"/>
            <a:ext cx="1078992" cy="347472"/>
          </a:xfrm>
          <a:prstGeom prst="rect">
            <a:avLst/>
          </a:prstGeom>
          <a:noFill/>
          <a:ln/>
        </p:spPr>
        <p:txBody>
          <a:bodyPr wrap="square" lIns="0" tIns="0" rIns="0" bIns="0" rtlCol="0" anchor="ctr">
            <a:normAutofit/>
          </a:bodyPr>
          <a:lstStyle/>
          <a:p>
            <a:pPr marL="0" indent="0" algn="l">
              <a:spcBef>
                <a:spcPts val="0"/>
              </a:spcBef>
              <a:spcAft>
                <a:spcPts val="0"/>
              </a:spcAft>
              <a:buNone/>
            </a:pPr>
            <a:r>
              <a:rPr lang="en-US" sz="925" b="1" kern="0" dirty="0">
                <a:solidFill>
                  <a:srgbClr val="0E2136"/>
                </a:solidFill>
                <a:latin typeface="Aptos" pitchFamily="34" charset="0"/>
                <a:ea typeface="Inter" pitchFamily="34" charset="-122"/>
                <a:cs typeface="Inter" pitchFamily="34" charset="-120"/>
              </a:rPr>
              <a:t>SME INTERPRETATION</a:t>
            </a:r>
            <a:endParaRPr lang="en-US" sz="690" dirty="0"/>
          </a:p>
        </p:txBody>
      </p:sp>
      <p:sp>
        <p:nvSpPr>
          <p:cNvPr id="45" name="Text 43"/>
          <p:cNvSpPr/>
          <p:nvPr/>
        </p:nvSpPr>
        <p:spPr>
          <a:xfrm>
            <a:off x="9436608" y="4142232"/>
            <a:ext cx="1892808" cy="347472"/>
          </a:xfrm>
          <a:prstGeom prst="rect">
            <a:avLst/>
          </a:prstGeom>
          <a:noFill/>
          <a:ln/>
        </p:spPr>
        <p:txBody>
          <a:bodyPr wrap="square" lIns="0" tIns="0" rIns="0" bIns="0" rtlCol="0" anchor="ctr">
            <a:normAutofit fontScale="92500"/>
          </a:bodyPr>
          <a:lstStyle/>
          <a:p>
            <a:pPr marL="0" indent="0" algn="l">
              <a:spcBef>
                <a:spcPts val="0"/>
              </a:spcBef>
              <a:spcAft>
                <a:spcPts val="0"/>
              </a:spcAft>
              <a:buNone/>
            </a:pPr>
            <a:r>
              <a:rPr lang="en-US" sz="1125" dirty="0">
                <a:solidFill>
                  <a:srgbClr val="0E2136"/>
                </a:solidFill>
                <a:latin typeface="Aptos" pitchFamily="34" charset="0"/>
                <a:ea typeface="Inter" pitchFamily="34" charset="-122"/>
                <a:cs typeface="Inter" pitchFamily="34" charset="-120"/>
              </a:rPr>
              <a:t>Operational failure most likely when pan is contacted / loaded</a:t>
            </a:r>
            <a:endParaRPr lang="en-US" sz="870" dirty="0"/>
          </a:p>
        </p:txBody>
      </p:sp>
      <p:sp>
        <p:nvSpPr>
          <p:cNvPr id="46" name="Shape 44"/>
          <p:cNvSpPr/>
          <p:nvPr/>
        </p:nvSpPr>
        <p:spPr>
          <a:xfrm>
            <a:off x="8302752" y="4617720"/>
            <a:ext cx="3026664" cy="0"/>
          </a:xfrm>
          <a:prstGeom prst="line">
            <a:avLst/>
          </a:prstGeom>
          <a:noFill/>
          <a:ln w="8890">
            <a:solidFill>
              <a:srgbClr val="D6DCE3"/>
            </a:solidFill>
            <a:prstDash val="solid"/>
          </a:ln>
        </p:spPr>
        <p:txBody>
          <a:bodyPr/>
          <a:lstStyle/>
          <a:p>
            <a:endParaRPr/>
          </a:p>
        </p:txBody>
      </p:sp>
      <p:sp>
        <p:nvSpPr>
          <p:cNvPr id="47" name="Text 45"/>
          <p:cNvSpPr/>
          <p:nvPr/>
        </p:nvSpPr>
        <p:spPr>
          <a:xfrm>
            <a:off x="8321040" y="4828032"/>
            <a:ext cx="1078992" cy="347472"/>
          </a:xfrm>
          <a:prstGeom prst="rect">
            <a:avLst/>
          </a:prstGeom>
          <a:noFill/>
          <a:ln/>
        </p:spPr>
        <p:txBody>
          <a:bodyPr wrap="square" lIns="0" tIns="0" rIns="0" bIns="0" rtlCol="0" anchor="ctr">
            <a:normAutofit/>
          </a:bodyPr>
          <a:lstStyle/>
          <a:p>
            <a:pPr marL="0" indent="0" algn="l">
              <a:spcBef>
                <a:spcPts val="0"/>
              </a:spcBef>
              <a:spcAft>
                <a:spcPts val="0"/>
              </a:spcAft>
              <a:buNone/>
            </a:pPr>
            <a:r>
              <a:rPr lang="en-US" sz="975" b="1" kern="0" dirty="0">
                <a:solidFill>
                  <a:srgbClr val="0E2136"/>
                </a:solidFill>
                <a:latin typeface="Aptos" pitchFamily="34" charset="0"/>
                <a:ea typeface="Inter" pitchFamily="34" charset="-122"/>
                <a:cs typeface="Inter" pitchFamily="34" charset="-120"/>
              </a:rPr>
              <a:t>VALUE OF COMPARISON</a:t>
            </a:r>
            <a:endParaRPr lang="en-US" sz="690" dirty="0"/>
          </a:p>
        </p:txBody>
      </p:sp>
      <p:sp>
        <p:nvSpPr>
          <p:cNvPr id="48" name="Text 46"/>
          <p:cNvSpPr/>
          <p:nvPr/>
        </p:nvSpPr>
        <p:spPr>
          <a:xfrm>
            <a:off x="9436608" y="4828032"/>
            <a:ext cx="1892808" cy="347472"/>
          </a:xfrm>
          <a:prstGeom prst="rect">
            <a:avLst/>
          </a:prstGeom>
          <a:noFill/>
          <a:ln/>
        </p:spPr>
        <p:txBody>
          <a:bodyPr wrap="square" lIns="0" tIns="0" rIns="0" bIns="0" rtlCol="0" anchor="ctr">
            <a:normAutofit lnSpcReduction="10000"/>
          </a:bodyPr>
          <a:lstStyle/>
          <a:p>
            <a:pPr marL="0" indent="0" algn="l">
              <a:spcBef>
                <a:spcPts val="0"/>
              </a:spcBef>
              <a:spcAft>
                <a:spcPts val="0"/>
              </a:spcAft>
              <a:buNone/>
            </a:pPr>
            <a:r>
              <a:rPr lang="en-US" sz="1200" b="1" dirty="0">
                <a:solidFill>
                  <a:srgbClr val="0E2136"/>
                </a:solidFill>
                <a:latin typeface="Aptos" pitchFamily="34" charset="0"/>
                <a:ea typeface="Inter" pitchFamily="34" charset="-122"/>
                <a:cs typeface="Inter" pitchFamily="34" charset="-120"/>
              </a:rPr>
              <a:t>Reduces opportunity for direct loading</a:t>
            </a:r>
            <a:endParaRPr lang="en-US" sz="870" dirty="0"/>
          </a:p>
        </p:txBody>
      </p:sp>
      <p:sp>
        <p:nvSpPr>
          <p:cNvPr id="49" name="Shape 47"/>
          <p:cNvSpPr/>
          <p:nvPr/>
        </p:nvSpPr>
        <p:spPr>
          <a:xfrm>
            <a:off x="658368" y="5934456"/>
            <a:ext cx="10872216" cy="310896"/>
          </a:xfrm>
          <a:prstGeom prst="roundRect">
            <a:avLst>
              <a:gd name="adj" fmla="val 23529"/>
            </a:avLst>
          </a:prstGeom>
          <a:solidFill>
            <a:srgbClr val="0E2136"/>
          </a:solidFill>
          <a:ln w="10160">
            <a:solidFill>
              <a:srgbClr val="0E2136"/>
            </a:solidFill>
            <a:prstDash val="solid"/>
          </a:ln>
        </p:spPr>
        <p:txBody>
          <a:bodyPr/>
          <a:lstStyle/>
          <a:p>
            <a:endParaRPr/>
          </a:p>
        </p:txBody>
      </p:sp>
      <p:sp>
        <p:nvSpPr>
          <p:cNvPr id="50" name="Text 48"/>
          <p:cNvSpPr/>
          <p:nvPr/>
        </p:nvSpPr>
        <p:spPr>
          <a:xfrm>
            <a:off x="704088" y="5934456"/>
            <a:ext cx="10780776" cy="310896"/>
          </a:xfrm>
          <a:prstGeom prst="rect">
            <a:avLst/>
          </a:prstGeom>
          <a:noFill/>
          <a:ln/>
        </p:spPr>
        <p:txBody>
          <a:bodyPr wrap="square" lIns="0" tIns="0" rIns="0" bIns="0" rtlCol="0" anchor="ctr"/>
          <a:lstStyle/>
          <a:p>
            <a:pPr marL="0" indent="0" algn="ctr">
              <a:buNone/>
            </a:pPr>
            <a:r>
              <a:rPr lang="en-US" sz="840" b="1" dirty="0">
                <a:solidFill>
                  <a:srgbClr val="FFFFFF"/>
                </a:solidFill>
                <a:latin typeface="Inter" pitchFamily="34" charset="0"/>
                <a:ea typeface="Inter" pitchFamily="34" charset="-122"/>
                <a:cs typeface="Inter" pitchFamily="34" charset="-120"/>
              </a:rPr>
              <a:t>CONTROLLED LEARNING  →  Direct pan contact is not required to perform the cleaning activity.</a:t>
            </a:r>
            <a:endParaRPr lang="en-US" sz="840" dirty="0"/>
          </a:p>
        </p:txBody>
      </p:sp>
      <p:sp>
        <p:nvSpPr>
          <p:cNvPr id="2" name="Slide Number Placeholder 0"/>
          <p:cNvSpPr>
            <a:spLocks noGrp="1"/>
          </p:cNvSpPr>
          <p:nvPr>
            <p:ph type="sldNum" sz="quarter" idx="4294967295"/>
          </p:nvPr>
        </p:nvSpPr>
        <p:spPr>
          <a:xfrm>
            <a:off x="11247120" y="6419088"/>
            <a:ext cx="457200" cy="201168"/>
          </a:xfrm>
          <a:prstGeom prst="rect">
            <a:avLst/>
          </a:prstGeom>
          <a:extLst>
            <a:ext uri="{C572A759-6A51-4108-AA02-DFA0A04FC94B}">
              <ma14:wrappingTextBoxFlag xmlns="" xmlns:ma14="http://schemas.microsoft.com/office/mac/drawingml/2011/main" val="0"/>
            </a:ext>
          </a:extLst>
        </p:spPr>
        <p:txBody>
          <a:bodyPr lIns="0" tIns="0" rIns="0" bIns="0"/>
          <a:lstStyle>
            <a:lvl1pPr>
              <a:defRPr sz="700">
                <a:solidFill>
                  <a:srgbClr val="89929D"/>
                </a:solidFill>
                <a:latin typeface="Inter"/>
                <a:ea typeface="Inter"/>
                <a:cs typeface="Inter"/>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520719" y="868680"/>
            <a:ext cx="12811722" cy="566928"/>
          </a:xfrm>
          <a:prstGeom prst="rect">
            <a:avLst/>
          </a:prstGeom>
          <a:noFill/>
          <a:ln/>
        </p:spPr>
        <p:txBody>
          <a:bodyPr wrap="square" lIns="0" tIns="0" rIns="0" bIns="0" rtlCol="0" anchor="ctr">
            <a:normAutofit lnSpcReduction="10000"/>
          </a:bodyPr>
          <a:lstStyle/>
          <a:p>
            <a:pPr marL="0" indent="0">
              <a:buNone/>
            </a:pPr>
            <a:r>
              <a:rPr lang="en-US" sz="2750" b="1" spc="-150" dirty="0">
                <a:solidFill>
                  <a:srgbClr val="0C1B2A"/>
                </a:solidFill>
                <a:latin typeface="Inter Display" pitchFamily="34" charset="0"/>
                <a:ea typeface="Inter Display" pitchFamily="34" charset="-122"/>
                <a:cs typeface="Inter Display" pitchFamily="34" charset="-120"/>
              </a:rPr>
              <a:t>Three observed gaps matter because each changes the mechanical risk during cleaning</a:t>
            </a:r>
            <a:endParaRPr lang="en-US" sz="2750" spc="-150" dirty="0"/>
          </a:p>
        </p:txBody>
      </p:sp>
      <p:sp>
        <p:nvSpPr>
          <p:cNvPr id="6" name="Shape 4"/>
          <p:cNvSpPr/>
          <p:nvPr/>
        </p:nvSpPr>
        <p:spPr>
          <a:xfrm>
            <a:off x="566928" y="1755648"/>
            <a:ext cx="11045952" cy="0"/>
          </a:xfrm>
          <a:prstGeom prst="line">
            <a:avLst/>
          </a:prstGeom>
          <a:noFill/>
          <a:ln w="10160">
            <a:solidFill>
              <a:srgbClr val="D7DAD8"/>
            </a:solidFill>
            <a:prstDash val="solid"/>
          </a:ln>
        </p:spPr>
        <p:txBody>
          <a:bodyPr/>
          <a:lstStyle/>
          <a:p>
            <a:endParaRPr/>
          </a:p>
        </p:txBody>
      </p:sp>
      <p:sp>
        <p:nvSpPr>
          <p:cNvPr id="7" name="Shape 5"/>
          <p:cNvSpPr/>
          <p:nvPr/>
        </p:nvSpPr>
        <p:spPr>
          <a:xfrm>
            <a:off x="713232" y="2276856"/>
            <a:ext cx="475488" cy="475488"/>
          </a:xfrm>
          <a:prstGeom prst="ellipse">
            <a:avLst/>
          </a:prstGeom>
          <a:solidFill>
            <a:srgbClr val="B67724"/>
          </a:solidFill>
          <a:ln w="12700">
            <a:solidFill>
              <a:srgbClr val="B67724"/>
            </a:solidFill>
            <a:prstDash val="solid"/>
          </a:ln>
        </p:spPr>
        <p:txBody>
          <a:bodyPr/>
          <a:lstStyle/>
          <a:p>
            <a:endParaRPr sz="4800"/>
          </a:p>
        </p:txBody>
      </p:sp>
      <p:sp>
        <p:nvSpPr>
          <p:cNvPr id="8" name="Text 6"/>
          <p:cNvSpPr/>
          <p:nvPr/>
        </p:nvSpPr>
        <p:spPr>
          <a:xfrm>
            <a:off x="713232" y="2276856"/>
            <a:ext cx="47548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Inter" pitchFamily="34" charset="0"/>
                <a:ea typeface="Inter" pitchFamily="34" charset="-122"/>
                <a:cs typeface="Inter" pitchFamily="34" charset="-120"/>
              </a:rPr>
              <a:t>01</a:t>
            </a:r>
            <a:endParaRPr lang="en-US" sz="1600" dirty="0"/>
          </a:p>
        </p:txBody>
      </p:sp>
      <p:sp>
        <p:nvSpPr>
          <p:cNvPr id="9" name="Shape 7"/>
          <p:cNvSpPr/>
          <p:nvPr/>
        </p:nvSpPr>
        <p:spPr>
          <a:xfrm>
            <a:off x="1444752" y="2176272"/>
            <a:ext cx="10076688" cy="841248"/>
          </a:xfrm>
          <a:prstGeom prst="roundRect">
            <a:avLst>
              <a:gd name="adj" fmla="val 8696"/>
            </a:avLst>
          </a:prstGeom>
          <a:solidFill>
            <a:srgbClr val="FFFFFF"/>
          </a:solidFill>
          <a:ln w="10160">
            <a:solidFill>
              <a:srgbClr val="E0E3E5"/>
            </a:solidFill>
            <a:prstDash val="solid"/>
          </a:ln>
        </p:spPr>
        <p:txBody>
          <a:bodyPr/>
          <a:lstStyle/>
          <a:p>
            <a:endParaRPr sz="2800"/>
          </a:p>
        </p:txBody>
      </p:sp>
      <p:sp>
        <p:nvSpPr>
          <p:cNvPr id="10" name="Text 8"/>
          <p:cNvSpPr/>
          <p:nvPr/>
        </p:nvSpPr>
        <p:spPr>
          <a:xfrm>
            <a:off x="1682496" y="2350008"/>
            <a:ext cx="1170432" cy="100584"/>
          </a:xfrm>
          <a:prstGeom prst="rect">
            <a:avLst/>
          </a:prstGeom>
          <a:noFill/>
          <a:ln/>
        </p:spPr>
        <p:txBody>
          <a:bodyPr wrap="square" lIns="0" tIns="0" rIns="0" bIns="0" rtlCol="0" anchor="ctr"/>
          <a:lstStyle/>
          <a:p>
            <a:pPr marL="0" indent="0">
              <a:buNone/>
            </a:pPr>
            <a:r>
              <a:rPr lang="en-US" sz="1000" b="1" kern="0" spc="60" dirty="0">
                <a:solidFill>
                  <a:srgbClr val="0D4C9D"/>
                </a:solidFill>
                <a:latin typeface="Inter" pitchFamily="34" charset="0"/>
                <a:ea typeface="Inter" pitchFamily="34" charset="-122"/>
                <a:cs typeface="Inter" pitchFamily="34" charset="-120"/>
              </a:rPr>
              <a:t>CONTROL</a:t>
            </a:r>
            <a:endParaRPr lang="en-US" sz="1000" dirty="0"/>
          </a:p>
        </p:txBody>
      </p:sp>
      <p:sp>
        <p:nvSpPr>
          <p:cNvPr id="11" name="Text 9"/>
          <p:cNvSpPr/>
          <p:nvPr/>
        </p:nvSpPr>
        <p:spPr>
          <a:xfrm>
            <a:off x="1682496" y="2523744"/>
            <a:ext cx="2249424" cy="228600"/>
          </a:xfrm>
          <a:prstGeom prst="rect">
            <a:avLst/>
          </a:prstGeom>
          <a:noFill/>
          <a:ln/>
        </p:spPr>
        <p:txBody>
          <a:bodyPr wrap="square" lIns="0" tIns="0" rIns="0" bIns="0" rtlCol="0" anchor="ctr">
            <a:normAutofit/>
          </a:bodyPr>
          <a:lstStyle/>
          <a:p>
            <a:pPr marL="0" indent="0">
              <a:buNone/>
            </a:pPr>
            <a:r>
              <a:rPr lang="en-US" sz="1400" b="1" dirty="0">
                <a:solidFill>
                  <a:srgbClr val="0C1B2A"/>
                </a:solidFill>
                <a:latin typeface="Inter" pitchFamily="34" charset="0"/>
                <a:ea typeface="Inter" pitchFamily="34" charset="-122"/>
                <a:cs typeface="Inter" pitchFamily="34" charset="-120"/>
              </a:rPr>
              <a:t>Dry wipe + vacuum</a:t>
            </a:r>
            <a:endParaRPr lang="en-US" sz="1400" dirty="0"/>
          </a:p>
        </p:txBody>
      </p:sp>
      <p:sp>
        <p:nvSpPr>
          <p:cNvPr id="12" name="Shape 10"/>
          <p:cNvSpPr/>
          <p:nvPr/>
        </p:nvSpPr>
        <p:spPr>
          <a:xfrm>
            <a:off x="4069080" y="2331720"/>
            <a:ext cx="0" cy="530352"/>
          </a:xfrm>
          <a:prstGeom prst="line">
            <a:avLst/>
          </a:prstGeom>
          <a:noFill/>
          <a:ln w="10160">
            <a:solidFill>
              <a:srgbClr val="E0E3E5"/>
            </a:solidFill>
            <a:prstDash val="solid"/>
          </a:ln>
        </p:spPr>
        <p:txBody>
          <a:bodyPr/>
          <a:lstStyle/>
          <a:p>
            <a:endParaRPr sz="2800"/>
          </a:p>
        </p:txBody>
      </p:sp>
      <p:sp>
        <p:nvSpPr>
          <p:cNvPr id="13" name="Text 11"/>
          <p:cNvSpPr/>
          <p:nvPr/>
        </p:nvSpPr>
        <p:spPr>
          <a:xfrm>
            <a:off x="4315967" y="2304288"/>
            <a:ext cx="1197061" cy="146304"/>
          </a:xfrm>
          <a:prstGeom prst="rect">
            <a:avLst/>
          </a:prstGeom>
          <a:noFill/>
          <a:ln/>
        </p:spPr>
        <p:txBody>
          <a:bodyPr wrap="square" lIns="0" tIns="0" rIns="0" bIns="0" rtlCol="0" anchor="ctr"/>
          <a:lstStyle/>
          <a:p>
            <a:pPr marL="0" indent="0">
              <a:buNone/>
            </a:pPr>
            <a:r>
              <a:rPr lang="en-US" sz="1000" b="1" kern="0" spc="60" dirty="0">
                <a:solidFill>
                  <a:srgbClr val="B67724"/>
                </a:solidFill>
                <a:latin typeface="Inter" pitchFamily="34" charset="0"/>
                <a:ea typeface="Inter" pitchFamily="34" charset="-122"/>
                <a:cs typeface="Inter" pitchFamily="34" charset="-120"/>
              </a:rPr>
              <a:t>OBSERVED</a:t>
            </a:r>
            <a:endParaRPr lang="en-US" sz="1000" dirty="0"/>
          </a:p>
        </p:txBody>
      </p:sp>
      <p:sp>
        <p:nvSpPr>
          <p:cNvPr id="14" name="Text 12"/>
          <p:cNvSpPr/>
          <p:nvPr/>
        </p:nvSpPr>
        <p:spPr>
          <a:xfrm>
            <a:off x="4315968" y="2505456"/>
            <a:ext cx="2999232" cy="310896"/>
          </a:xfrm>
          <a:prstGeom prst="rect">
            <a:avLst/>
          </a:prstGeom>
          <a:noFill/>
          <a:ln/>
        </p:spPr>
        <p:txBody>
          <a:bodyPr wrap="square" lIns="0" tIns="0" rIns="0" bIns="0" rtlCol="0" anchor="ctr">
            <a:noAutofit/>
          </a:bodyPr>
          <a:lstStyle/>
          <a:p>
            <a:pPr marL="0" indent="0">
              <a:buNone/>
            </a:pPr>
            <a:r>
              <a:rPr lang="en-US" sz="1100" b="1" dirty="0">
                <a:solidFill>
                  <a:srgbClr val="0C1B2A"/>
                </a:solidFill>
                <a:latin typeface="Inter" pitchFamily="34" charset="0"/>
                <a:ea typeface="Inter" pitchFamily="34" charset="-122"/>
                <a:cs typeface="Inter" pitchFamily="34" charset="-120"/>
              </a:rPr>
              <a:t>Vacuum-only cleaning, weigh pan not removed observed on 14-AUG</a:t>
            </a:r>
            <a:endParaRPr lang="en-US" sz="1100" dirty="0"/>
          </a:p>
        </p:txBody>
      </p:sp>
      <p:sp>
        <p:nvSpPr>
          <p:cNvPr id="15" name="Shape 13"/>
          <p:cNvSpPr/>
          <p:nvPr/>
        </p:nvSpPr>
        <p:spPr>
          <a:xfrm>
            <a:off x="7470648" y="2331720"/>
            <a:ext cx="0" cy="530352"/>
          </a:xfrm>
          <a:prstGeom prst="line">
            <a:avLst/>
          </a:prstGeom>
          <a:noFill/>
          <a:ln w="10160">
            <a:solidFill>
              <a:srgbClr val="E0E3E5"/>
            </a:solidFill>
            <a:prstDash val="solid"/>
          </a:ln>
        </p:spPr>
        <p:txBody>
          <a:bodyPr/>
          <a:lstStyle/>
          <a:p>
            <a:endParaRPr sz="2800"/>
          </a:p>
        </p:txBody>
      </p:sp>
      <p:sp>
        <p:nvSpPr>
          <p:cNvPr id="16" name="Text 14"/>
          <p:cNvSpPr/>
          <p:nvPr/>
        </p:nvSpPr>
        <p:spPr>
          <a:xfrm>
            <a:off x="7708391" y="2304288"/>
            <a:ext cx="1355707" cy="146304"/>
          </a:xfrm>
          <a:prstGeom prst="rect">
            <a:avLst/>
          </a:prstGeom>
          <a:noFill/>
          <a:ln/>
        </p:spPr>
        <p:txBody>
          <a:bodyPr wrap="square" lIns="0" tIns="0" rIns="0" bIns="0" rtlCol="0" anchor="ctr"/>
          <a:lstStyle/>
          <a:p>
            <a:pPr marL="0" indent="0">
              <a:buNone/>
            </a:pPr>
            <a:r>
              <a:rPr lang="en-US" sz="1000" b="1" kern="0" spc="60" dirty="0">
                <a:solidFill>
                  <a:srgbClr val="1554A9"/>
                </a:solidFill>
                <a:latin typeface="Inter" pitchFamily="34" charset="0"/>
                <a:ea typeface="Inter" pitchFamily="34" charset="-122"/>
                <a:cs typeface="Inter" pitchFamily="34" charset="-120"/>
              </a:rPr>
              <a:t>RISK LINK</a:t>
            </a:r>
            <a:endParaRPr lang="en-US" sz="1000" dirty="0"/>
          </a:p>
        </p:txBody>
      </p:sp>
      <p:sp>
        <p:nvSpPr>
          <p:cNvPr id="17" name="Text 15"/>
          <p:cNvSpPr/>
          <p:nvPr/>
        </p:nvSpPr>
        <p:spPr>
          <a:xfrm>
            <a:off x="7708392" y="2487168"/>
            <a:ext cx="3529584" cy="347472"/>
          </a:xfrm>
          <a:prstGeom prst="rect">
            <a:avLst/>
          </a:prstGeom>
          <a:noFill/>
          <a:ln/>
        </p:spPr>
        <p:txBody>
          <a:bodyPr wrap="square" lIns="0" tIns="0" rIns="0" bIns="0" rtlCol="0" anchor="ctr">
            <a:normAutofit/>
          </a:bodyPr>
          <a:lstStyle/>
          <a:p>
            <a:pPr marL="0" indent="0">
              <a:buNone/>
            </a:pPr>
            <a:r>
              <a:rPr lang="en-US" sz="1050" dirty="0">
                <a:solidFill>
                  <a:srgbClr val="244365"/>
                </a:solidFill>
                <a:latin typeface="Inter" pitchFamily="34" charset="0"/>
                <a:ea typeface="Inter" pitchFamily="34" charset="-122"/>
                <a:cs typeface="Inter" pitchFamily="34" charset="-120"/>
              </a:rPr>
              <a:t>Leaves a greater chance of powder remaining on / around removable parts</a:t>
            </a:r>
            <a:endParaRPr lang="en-US" sz="1050" dirty="0"/>
          </a:p>
        </p:txBody>
      </p:sp>
      <p:sp>
        <p:nvSpPr>
          <p:cNvPr id="18" name="Shape 16"/>
          <p:cNvSpPr/>
          <p:nvPr/>
        </p:nvSpPr>
        <p:spPr>
          <a:xfrm>
            <a:off x="713232" y="3419856"/>
            <a:ext cx="475488" cy="475488"/>
          </a:xfrm>
          <a:prstGeom prst="ellipse">
            <a:avLst/>
          </a:prstGeom>
          <a:solidFill>
            <a:schemeClr val="accent2">
              <a:lumMod val="75000"/>
            </a:schemeClr>
          </a:solidFill>
          <a:ln w="12700">
            <a:solidFill>
              <a:schemeClr val="accent2">
                <a:lumMod val="75000"/>
              </a:schemeClr>
            </a:solidFill>
            <a:prstDash val="solid"/>
          </a:ln>
        </p:spPr>
        <p:txBody>
          <a:bodyPr/>
          <a:lstStyle/>
          <a:p>
            <a:endParaRPr sz="4800"/>
          </a:p>
        </p:txBody>
      </p:sp>
      <p:sp>
        <p:nvSpPr>
          <p:cNvPr id="19" name="Text 17"/>
          <p:cNvSpPr/>
          <p:nvPr/>
        </p:nvSpPr>
        <p:spPr>
          <a:xfrm>
            <a:off x="713232" y="3419856"/>
            <a:ext cx="47548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Inter" pitchFamily="34" charset="0"/>
                <a:ea typeface="Inter" pitchFamily="34" charset="-122"/>
                <a:cs typeface="Inter" pitchFamily="34" charset="-120"/>
              </a:rPr>
              <a:t>02</a:t>
            </a:r>
            <a:endParaRPr lang="en-US" sz="1600" dirty="0"/>
          </a:p>
        </p:txBody>
      </p:sp>
      <p:sp>
        <p:nvSpPr>
          <p:cNvPr id="20" name="Shape 18"/>
          <p:cNvSpPr/>
          <p:nvPr/>
        </p:nvSpPr>
        <p:spPr>
          <a:xfrm>
            <a:off x="1444752" y="3319272"/>
            <a:ext cx="10076688" cy="841248"/>
          </a:xfrm>
          <a:prstGeom prst="roundRect">
            <a:avLst>
              <a:gd name="adj" fmla="val 8696"/>
            </a:avLst>
          </a:prstGeom>
          <a:solidFill>
            <a:srgbClr val="FFFFFF"/>
          </a:solidFill>
          <a:ln w="10160">
            <a:solidFill>
              <a:srgbClr val="E0E3E5"/>
            </a:solidFill>
            <a:prstDash val="solid"/>
          </a:ln>
        </p:spPr>
        <p:txBody>
          <a:bodyPr/>
          <a:lstStyle/>
          <a:p>
            <a:endParaRPr sz="2800"/>
          </a:p>
        </p:txBody>
      </p:sp>
      <p:sp>
        <p:nvSpPr>
          <p:cNvPr id="21" name="Text 19"/>
          <p:cNvSpPr/>
          <p:nvPr/>
        </p:nvSpPr>
        <p:spPr>
          <a:xfrm>
            <a:off x="1682495" y="3364992"/>
            <a:ext cx="1353663" cy="228600"/>
          </a:xfrm>
          <a:prstGeom prst="rect">
            <a:avLst/>
          </a:prstGeom>
          <a:noFill/>
          <a:ln/>
        </p:spPr>
        <p:txBody>
          <a:bodyPr wrap="square" lIns="0" tIns="0" rIns="0" bIns="0" rtlCol="0" anchor="ctr"/>
          <a:lstStyle/>
          <a:p>
            <a:pPr marL="0" indent="0">
              <a:buNone/>
            </a:pPr>
            <a:r>
              <a:rPr lang="en-US" sz="1000" b="1" kern="0" spc="60" dirty="0">
                <a:solidFill>
                  <a:srgbClr val="0D4C9D"/>
                </a:solidFill>
                <a:latin typeface="Inter" pitchFamily="34" charset="0"/>
                <a:ea typeface="Inter" pitchFamily="34" charset="-122"/>
                <a:cs typeface="Inter" pitchFamily="34" charset="-120"/>
              </a:rPr>
              <a:t>CONTROL</a:t>
            </a:r>
            <a:endParaRPr lang="en-US" sz="1000" dirty="0"/>
          </a:p>
        </p:txBody>
      </p:sp>
      <p:sp>
        <p:nvSpPr>
          <p:cNvPr id="22" name="Text 20"/>
          <p:cNvSpPr/>
          <p:nvPr/>
        </p:nvSpPr>
        <p:spPr>
          <a:xfrm>
            <a:off x="1682496" y="3666744"/>
            <a:ext cx="2249424" cy="228600"/>
          </a:xfrm>
          <a:prstGeom prst="rect">
            <a:avLst/>
          </a:prstGeom>
          <a:noFill/>
          <a:ln/>
        </p:spPr>
        <p:txBody>
          <a:bodyPr wrap="square" lIns="0" tIns="0" rIns="0" bIns="0" rtlCol="0" anchor="ctr">
            <a:noAutofit/>
          </a:bodyPr>
          <a:lstStyle/>
          <a:p>
            <a:pPr marL="0" indent="0">
              <a:buNone/>
            </a:pPr>
            <a:r>
              <a:rPr lang="en-US" sz="1100" b="1" dirty="0">
                <a:solidFill>
                  <a:srgbClr val="0C1B2A"/>
                </a:solidFill>
                <a:latin typeface="Inter" pitchFamily="34" charset="0"/>
                <a:ea typeface="Inter" pitchFamily="34" charset="-122"/>
                <a:cs typeface="Inter" pitchFamily="34" charset="-120"/>
              </a:rPr>
              <a:t>Protect fragile weigh pan from contact</a:t>
            </a:r>
            <a:endParaRPr lang="en-US" sz="1100" dirty="0"/>
          </a:p>
        </p:txBody>
      </p:sp>
      <p:sp>
        <p:nvSpPr>
          <p:cNvPr id="23" name="Shape 21"/>
          <p:cNvSpPr/>
          <p:nvPr/>
        </p:nvSpPr>
        <p:spPr>
          <a:xfrm>
            <a:off x="4069080" y="3474720"/>
            <a:ext cx="0" cy="530352"/>
          </a:xfrm>
          <a:prstGeom prst="line">
            <a:avLst/>
          </a:prstGeom>
          <a:noFill/>
          <a:ln w="10160">
            <a:solidFill>
              <a:srgbClr val="E0E3E5"/>
            </a:solidFill>
            <a:prstDash val="solid"/>
          </a:ln>
        </p:spPr>
        <p:txBody>
          <a:bodyPr/>
          <a:lstStyle/>
          <a:p>
            <a:endParaRPr sz="2800"/>
          </a:p>
        </p:txBody>
      </p:sp>
      <p:sp>
        <p:nvSpPr>
          <p:cNvPr id="24" name="Text 22"/>
          <p:cNvSpPr/>
          <p:nvPr/>
        </p:nvSpPr>
        <p:spPr>
          <a:xfrm>
            <a:off x="4315968" y="3447288"/>
            <a:ext cx="1197060" cy="146304"/>
          </a:xfrm>
          <a:prstGeom prst="rect">
            <a:avLst/>
          </a:prstGeom>
          <a:noFill/>
          <a:ln/>
        </p:spPr>
        <p:txBody>
          <a:bodyPr wrap="square" lIns="0" tIns="0" rIns="0" bIns="0" rtlCol="0" anchor="ctr"/>
          <a:lstStyle/>
          <a:p>
            <a:pPr marL="0" indent="0">
              <a:buNone/>
            </a:pPr>
            <a:r>
              <a:rPr lang="en-US" sz="1000" b="1" kern="0" spc="60" dirty="0">
                <a:solidFill>
                  <a:srgbClr val="C94848"/>
                </a:solidFill>
                <a:latin typeface="Inter" pitchFamily="34" charset="0"/>
                <a:ea typeface="Inter" pitchFamily="34" charset="-122"/>
                <a:cs typeface="Inter" pitchFamily="34" charset="-120"/>
              </a:rPr>
              <a:t>OBSERVED</a:t>
            </a:r>
            <a:endParaRPr lang="en-US" sz="1000" dirty="0"/>
          </a:p>
        </p:txBody>
      </p:sp>
      <p:sp>
        <p:nvSpPr>
          <p:cNvPr id="25" name="Text 23"/>
          <p:cNvSpPr/>
          <p:nvPr/>
        </p:nvSpPr>
        <p:spPr>
          <a:xfrm>
            <a:off x="4315968" y="3648456"/>
            <a:ext cx="2999232" cy="310896"/>
          </a:xfrm>
          <a:prstGeom prst="rect">
            <a:avLst/>
          </a:prstGeom>
          <a:noFill/>
          <a:ln/>
        </p:spPr>
        <p:txBody>
          <a:bodyPr wrap="square" lIns="0" tIns="0" rIns="0" bIns="0" rtlCol="0" anchor="ctr">
            <a:noAutofit/>
          </a:bodyPr>
          <a:lstStyle/>
          <a:p>
            <a:pPr marL="0" indent="0">
              <a:buNone/>
            </a:pPr>
            <a:r>
              <a:rPr lang="en-US" sz="1100" b="1" dirty="0">
                <a:solidFill>
                  <a:srgbClr val="0C1B2A"/>
                </a:solidFill>
                <a:latin typeface="Inter" pitchFamily="34" charset="0"/>
                <a:ea typeface="Inter" pitchFamily="34" charset="-122"/>
                <a:cs typeface="Inter" pitchFamily="34" charset="-120"/>
              </a:rPr>
              <a:t>Pan held / pressed instead of removal during cleaning on 17-AUG and 20-AUG</a:t>
            </a:r>
            <a:endParaRPr lang="en-US" sz="1100" dirty="0"/>
          </a:p>
        </p:txBody>
      </p:sp>
      <p:sp>
        <p:nvSpPr>
          <p:cNvPr id="26" name="Shape 24"/>
          <p:cNvSpPr/>
          <p:nvPr/>
        </p:nvSpPr>
        <p:spPr>
          <a:xfrm>
            <a:off x="7470648" y="3474720"/>
            <a:ext cx="0" cy="530352"/>
          </a:xfrm>
          <a:prstGeom prst="line">
            <a:avLst/>
          </a:prstGeom>
          <a:noFill/>
          <a:ln w="10160">
            <a:solidFill>
              <a:srgbClr val="E0E3E5"/>
            </a:solidFill>
            <a:prstDash val="solid"/>
          </a:ln>
        </p:spPr>
        <p:txBody>
          <a:bodyPr/>
          <a:lstStyle/>
          <a:p>
            <a:endParaRPr sz="2800"/>
          </a:p>
        </p:txBody>
      </p:sp>
      <p:sp>
        <p:nvSpPr>
          <p:cNvPr id="27" name="Text 25"/>
          <p:cNvSpPr/>
          <p:nvPr/>
        </p:nvSpPr>
        <p:spPr>
          <a:xfrm>
            <a:off x="7708391" y="3447288"/>
            <a:ext cx="1206203" cy="146304"/>
          </a:xfrm>
          <a:prstGeom prst="rect">
            <a:avLst/>
          </a:prstGeom>
          <a:noFill/>
          <a:ln/>
        </p:spPr>
        <p:txBody>
          <a:bodyPr wrap="square" lIns="0" tIns="0" rIns="0" bIns="0" rtlCol="0" anchor="ctr"/>
          <a:lstStyle/>
          <a:p>
            <a:pPr marL="0" indent="0">
              <a:buNone/>
            </a:pPr>
            <a:r>
              <a:rPr lang="en-US" sz="1000" b="1" kern="0" spc="60" dirty="0">
                <a:solidFill>
                  <a:srgbClr val="1554A9"/>
                </a:solidFill>
                <a:latin typeface="Inter" pitchFamily="34" charset="0"/>
                <a:ea typeface="Inter" pitchFamily="34" charset="-122"/>
                <a:cs typeface="Inter" pitchFamily="34" charset="-120"/>
              </a:rPr>
              <a:t>RISK LINK</a:t>
            </a:r>
            <a:endParaRPr lang="en-US" sz="1000" dirty="0"/>
          </a:p>
        </p:txBody>
      </p:sp>
      <p:sp>
        <p:nvSpPr>
          <p:cNvPr id="28" name="Text 26"/>
          <p:cNvSpPr/>
          <p:nvPr/>
        </p:nvSpPr>
        <p:spPr>
          <a:xfrm>
            <a:off x="7708392" y="3630168"/>
            <a:ext cx="3529584" cy="347472"/>
          </a:xfrm>
          <a:prstGeom prst="rect">
            <a:avLst/>
          </a:prstGeom>
          <a:noFill/>
          <a:ln/>
        </p:spPr>
        <p:txBody>
          <a:bodyPr wrap="square" lIns="0" tIns="0" rIns="0" bIns="0" rtlCol="0" anchor="ctr">
            <a:normAutofit/>
          </a:bodyPr>
          <a:lstStyle/>
          <a:p>
            <a:pPr marL="0" indent="0">
              <a:buNone/>
            </a:pPr>
            <a:r>
              <a:rPr lang="en-US" sz="1050" dirty="0">
                <a:solidFill>
                  <a:srgbClr val="244365"/>
                </a:solidFill>
                <a:latin typeface="Inter" pitchFamily="34" charset="0"/>
                <a:ea typeface="Inter" pitchFamily="34" charset="-122"/>
                <a:cs typeface="Inter" pitchFamily="34" charset="-120"/>
              </a:rPr>
              <a:t>Creates a direct external mechanical load path</a:t>
            </a:r>
            <a:endParaRPr lang="en-US" sz="1050" dirty="0"/>
          </a:p>
        </p:txBody>
      </p:sp>
      <p:sp>
        <p:nvSpPr>
          <p:cNvPr id="29" name="Shape 27"/>
          <p:cNvSpPr/>
          <p:nvPr/>
        </p:nvSpPr>
        <p:spPr>
          <a:xfrm>
            <a:off x="713232" y="4562856"/>
            <a:ext cx="475488" cy="475488"/>
          </a:xfrm>
          <a:prstGeom prst="ellipse">
            <a:avLst/>
          </a:prstGeom>
          <a:solidFill>
            <a:srgbClr val="C00000"/>
          </a:solidFill>
          <a:ln w="12700">
            <a:solidFill>
              <a:srgbClr val="C94848"/>
            </a:solidFill>
            <a:prstDash val="solid"/>
          </a:ln>
        </p:spPr>
        <p:txBody>
          <a:bodyPr/>
          <a:lstStyle/>
          <a:p>
            <a:endParaRPr sz="4800"/>
          </a:p>
        </p:txBody>
      </p:sp>
      <p:sp>
        <p:nvSpPr>
          <p:cNvPr id="30" name="Text 28"/>
          <p:cNvSpPr/>
          <p:nvPr/>
        </p:nvSpPr>
        <p:spPr>
          <a:xfrm>
            <a:off x="713232" y="4562856"/>
            <a:ext cx="47548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Inter" pitchFamily="34" charset="0"/>
                <a:ea typeface="Inter" pitchFamily="34" charset="-122"/>
                <a:cs typeface="Inter" pitchFamily="34" charset="-120"/>
              </a:rPr>
              <a:t>03</a:t>
            </a:r>
            <a:endParaRPr lang="en-US" sz="1600" dirty="0"/>
          </a:p>
        </p:txBody>
      </p:sp>
      <p:sp>
        <p:nvSpPr>
          <p:cNvPr id="31" name="Shape 29"/>
          <p:cNvSpPr/>
          <p:nvPr/>
        </p:nvSpPr>
        <p:spPr>
          <a:xfrm>
            <a:off x="1444752" y="4462272"/>
            <a:ext cx="10076688" cy="841248"/>
          </a:xfrm>
          <a:prstGeom prst="roundRect">
            <a:avLst>
              <a:gd name="adj" fmla="val 8696"/>
            </a:avLst>
          </a:prstGeom>
          <a:solidFill>
            <a:srgbClr val="FFFFFF"/>
          </a:solidFill>
          <a:ln w="10160">
            <a:solidFill>
              <a:srgbClr val="E0E3E5"/>
            </a:solidFill>
            <a:prstDash val="solid"/>
          </a:ln>
        </p:spPr>
        <p:txBody>
          <a:bodyPr/>
          <a:lstStyle/>
          <a:p>
            <a:endParaRPr sz="2800"/>
          </a:p>
        </p:txBody>
      </p:sp>
      <p:sp>
        <p:nvSpPr>
          <p:cNvPr id="32" name="Text 30"/>
          <p:cNvSpPr/>
          <p:nvPr/>
        </p:nvSpPr>
        <p:spPr>
          <a:xfrm>
            <a:off x="1682496" y="4590288"/>
            <a:ext cx="1126044" cy="146304"/>
          </a:xfrm>
          <a:prstGeom prst="rect">
            <a:avLst/>
          </a:prstGeom>
          <a:noFill/>
          <a:ln/>
        </p:spPr>
        <p:txBody>
          <a:bodyPr wrap="square" lIns="0" tIns="0" rIns="0" bIns="0" rtlCol="0" anchor="ctr"/>
          <a:lstStyle/>
          <a:p>
            <a:pPr marL="0" indent="0">
              <a:buNone/>
            </a:pPr>
            <a:r>
              <a:rPr lang="en-US" sz="1000" b="1" kern="0" spc="60" dirty="0">
                <a:solidFill>
                  <a:srgbClr val="0D4C9D"/>
                </a:solidFill>
                <a:latin typeface="Inter" pitchFamily="34" charset="0"/>
                <a:ea typeface="Inter" pitchFamily="34" charset="-122"/>
                <a:cs typeface="Inter" pitchFamily="34" charset="-120"/>
              </a:rPr>
              <a:t>CONTROL</a:t>
            </a:r>
            <a:endParaRPr lang="en-US" sz="1000" dirty="0"/>
          </a:p>
        </p:txBody>
      </p:sp>
      <p:sp>
        <p:nvSpPr>
          <p:cNvPr id="33" name="Text 31"/>
          <p:cNvSpPr/>
          <p:nvPr/>
        </p:nvSpPr>
        <p:spPr>
          <a:xfrm>
            <a:off x="1682496" y="4809744"/>
            <a:ext cx="2249424" cy="228600"/>
          </a:xfrm>
          <a:prstGeom prst="rect">
            <a:avLst/>
          </a:prstGeom>
          <a:noFill/>
          <a:ln/>
        </p:spPr>
        <p:txBody>
          <a:bodyPr wrap="square" lIns="0" tIns="0" rIns="0" bIns="0" rtlCol="0" anchor="ctr">
            <a:noAutofit/>
          </a:bodyPr>
          <a:lstStyle/>
          <a:p>
            <a:pPr marL="0" indent="0">
              <a:buNone/>
            </a:pPr>
            <a:r>
              <a:rPr lang="en-US" sz="1100" b="1" dirty="0">
                <a:solidFill>
                  <a:srgbClr val="0C1B2A"/>
                </a:solidFill>
                <a:latin typeface="Inter" pitchFamily="34" charset="0"/>
                <a:ea typeface="Inter" pitchFamily="34" charset="-122"/>
                <a:cs typeface="Inter" pitchFamily="34" charset="-120"/>
              </a:rPr>
              <a:t>Clean in required de-energized state</a:t>
            </a:r>
            <a:endParaRPr lang="en-US" sz="1100" dirty="0"/>
          </a:p>
        </p:txBody>
      </p:sp>
      <p:sp>
        <p:nvSpPr>
          <p:cNvPr id="34" name="Shape 32"/>
          <p:cNvSpPr/>
          <p:nvPr/>
        </p:nvSpPr>
        <p:spPr>
          <a:xfrm>
            <a:off x="4069080" y="4617720"/>
            <a:ext cx="0" cy="530352"/>
          </a:xfrm>
          <a:prstGeom prst="line">
            <a:avLst/>
          </a:prstGeom>
          <a:noFill/>
          <a:ln w="10160">
            <a:solidFill>
              <a:srgbClr val="E0E3E5"/>
            </a:solidFill>
            <a:prstDash val="solid"/>
          </a:ln>
        </p:spPr>
        <p:txBody>
          <a:bodyPr/>
          <a:lstStyle/>
          <a:p>
            <a:endParaRPr sz="2800"/>
          </a:p>
        </p:txBody>
      </p:sp>
      <p:sp>
        <p:nvSpPr>
          <p:cNvPr id="35" name="Text 33"/>
          <p:cNvSpPr/>
          <p:nvPr/>
        </p:nvSpPr>
        <p:spPr>
          <a:xfrm>
            <a:off x="4315968" y="4590288"/>
            <a:ext cx="1126044" cy="182880"/>
          </a:xfrm>
          <a:prstGeom prst="rect">
            <a:avLst/>
          </a:prstGeom>
          <a:noFill/>
          <a:ln/>
        </p:spPr>
        <p:txBody>
          <a:bodyPr wrap="square" lIns="0" tIns="0" rIns="0" bIns="0" rtlCol="0" anchor="ctr"/>
          <a:lstStyle/>
          <a:p>
            <a:pPr marL="0" indent="0">
              <a:buNone/>
            </a:pPr>
            <a:r>
              <a:rPr lang="en-US" sz="1000" b="1" kern="0" spc="60" dirty="0">
                <a:solidFill>
                  <a:srgbClr val="C94848"/>
                </a:solidFill>
                <a:latin typeface="Inter" pitchFamily="34" charset="0"/>
                <a:ea typeface="Inter" pitchFamily="34" charset="-122"/>
                <a:cs typeface="Inter" pitchFamily="34" charset="-120"/>
              </a:rPr>
              <a:t>OBSERVED</a:t>
            </a:r>
            <a:endParaRPr lang="en-US" sz="1000" dirty="0"/>
          </a:p>
        </p:txBody>
      </p:sp>
      <p:sp>
        <p:nvSpPr>
          <p:cNvPr id="36" name="Text 34"/>
          <p:cNvSpPr/>
          <p:nvPr/>
        </p:nvSpPr>
        <p:spPr>
          <a:xfrm>
            <a:off x="4315968" y="4791456"/>
            <a:ext cx="2999232" cy="310896"/>
          </a:xfrm>
          <a:prstGeom prst="rect">
            <a:avLst/>
          </a:prstGeom>
          <a:noFill/>
          <a:ln/>
        </p:spPr>
        <p:txBody>
          <a:bodyPr wrap="square" lIns="0" tIns="0" rIns="0" bIns="0" rtlCol="0" anchor="ctr">
            <a:normAutofit lnSpcReduction="10000"/>
          </a:bodyPr>
          <a:lstStyle/>
          <a:p>
            <a:pPr marL="0" indent="0">
              <a:buNone/>
            </a:pPr>
            <a:r>
              <a:rPr lang="en-US" sz="1100" b="1" dirty="0">
                <a:solidFill>
                  <a:srgbClr val="0C1B2A"/>
                </a:solidFill>
                <a:latin typeface="Inter" pitchFamily="34" charset="0"/>
                <a:ea typeface="Inter" pitchFamily="34" charset="-122"/>
                <a:cs typeface="Inter" pitchFamily="34" charset="-120"/>
              </a:rPr>
              <a:t>Observed vacuum cleaning while energized</a:t>
            </a:r>
          </a:p>
          <a:p>
            <a:pPr marL="0" indent="0">
              <a:buNone/>
            </a:pPr>
            <a:r>
              <a:rPr lang="en-US" sz="1100" b="1" dirty="0">
                <a:solidFill>
                  <a:srgbClr val="0C1B2A"/>
                </a:solidFill>
                <a:latin typeface="Inter" pitchFamily="34" charset="0"/>
                <a:ea typeface="Inter" pitchFamily="34" charset="-122"/>
              </a:rPr>
              <a:t>(6.13.1 USTP-608)</a:t>
            </a:r>
            <a:endParaRPr lang="en-US" sz="1100" dirty="0"/>
          </a:p>
        </p:txBody>
      </p:sp>
      <p:sp>
        <p:nvSpPr>
          <p:cNvPr id="37" name="Shape 35"/>
          <p:cNvSpPr/>
          <p:nvPr/>
        </p:nvSpPr>
        <p:spPr>
          <a:xfrm>
            <a:off x="7470648" y="4617720"/>
            <a:ext cx="0" cy="530352"/>
          </a:xfrm>
          <a:prstGeom prst="line">
            <a:avLst/>
          </a:prstGeom>
          <a:noFill/>
          <a:ln w="10160">
            <a:solidFill>
              <a:srgbClr val="E0E3E5"/>
            </a:solidFill>
            <a:prstDash val="solid"/>
          </a:ln>
        </p:spPr>
        <p:txBody>
          <a:bodyPr/>
          <a:lstStyle/>
          <a:p>
            <a:endParaRPr sz="2800"/>
          </a:p>
        </p:txBody>
      </p:sp>
      <p:sp>
        <p:nvSpPr>
          <p:cNvPr id="38" name="Text 36"/>
          <p:cNvSpPr/>
          <p:nvPr/>
        </p:nvSpPr>
        <p:spPr>
          <a:xfrm>
            <a:off x="7708391" y="4590288"/>
            <a:ext cx="823047" cy="146304"/>
          </a:xfrm>
          <a:prstGeom prst="rect">
            <a:avLst/>
          </a:prstGeom>
          <a:noFill/>
          <a:ln/>
        </p:spPr>
        <p:txBody>
          <a:bodyPr wrap="square" lIns="0" tIns="0" rIns="0" bIns="0" rtlCol="0" anchor="ctr"/>
          <a:lstStyle/>
          <a:p>
            <a:pPr marL="0" indent="0">
              <a:buNone/>
            </a:pPr>
            <a:r>
              <a:rPr lang="en-US" sz="1000" b="1" kern="0" spc="60" dirty="0">
                <a:solidFill>
                  <a:srgbClr val="1554A9"/>
                </a:solidFill>
                <a:latin typeface="Inter" pitchFamily="34" charset="0"/>
                <a:ea typeface="Inter" pitchFamily="34" charset="-122"/>
                <a:cs typeface="Inter" pitchFamily="34" charset="-120"/>
              </a:rPr>
              <a:t>RISK LINK</a:t>
            </a:r>
            <a:endParaRPr lang="en-US" sz="1000" dirty="0"/>
          </a:p>
        </p:txBody>
      </p:sp>
      <p:sp>
        <p:nvSpPr>
          <p:cNvPr id="39" name="Text 37"/>
          <p:cNvSpPr/>
          <p:nvPr/>
        </p:nvSpPr>
        <p:spPr>
          <a:xfrm>
            <a:off x="7708392" y="4773168"/>
            <a:ext cx="3529584" cy="347472"/>
          </a:xfrm>
          <a:prstGeom prst="rect">
            <a:avLst/>
          </a:prstGeom>
          <a:noFill/>
          <a:ln/>
        </p:spPr>
        <p:txBody>
          <a:bodyPr wrap="square" lIns="0" tIns="0" rIns="0" bIns="0" rtlCol="0" anchor="ctr">
            <a:normAutofit/>
          </a:bodyPr>
          <a:lstStyle/>
          <a:p>
            <a:pPr marL="0" indent="0">
              <a:buNone/>
            </a:pPr>
            <a:r>
              <a:rPr lang="en-US" sz="1050" dirty="0">
                <a:solidFill>
                  <a:srgbClr val="244365"/>
                </a:solidFill>
                <a:latin typeface="Inter" pitchFamily="34" charset="0"/>
                <a:ea typeface="Inter" pitchFamily="34" charset="-122"/>
                <a:cs typeface="Inter" pitchFamily="34" charset="-120"/>
              </a:rPr>
              <a:t>Adds unnecessary interaction with the live mechanism during handling</a:t>
            </a:r>
            <a:endParaRPr lang="en-US" sz="1050" dirty="0"/>
          </a:p>
        </p:txBody>
      </p:sp>
      <p:sp>
        <p:nvSpPr>
          <p:cNvPr id="40" name="Shape 38"/>
          <p:cNvSpPr/>
          <p:nvPr/>
        </p:nvSpPr>
        <p:spPr>
          <a:xfrm>
            <a:off x="713232" y="5824728"/>
            <a:ext cx="10808208" cy="420624"/>
          </a:xfrm>
          <a:prstGeom prst="roundRect">
            <a:avLst>
              <a:gd name="adj" fmla="val 17391"/>
            </a:avLst>
          </a:prstGeom>
          <a:solidFill>
            <a:srgbClr val="E4F0EA"/>
          </a:solidFill>
          <a:ln w="10160">
            <a:solidFill>
              <a:srgbClr val="E4F0EA"/>
            </a:solidFill>
            <a:prstDash val="solid"/>
          </a:ln>
        </p:spPr>
        <p:txBody>
          <a:bodyPr/>
          <a:lstStyle/>
          <a:p>
            <a:endParaRPr/>
          </a:p>
        </p:txBody>
      </p:sp>
      <p:sp>
        <p:nvSpPr>
          <p:cNvPr id="41" name="Text 39"/>
          <p:cNvSpPr/>
          <p:nvPr/>
        </p:nvSpPr>
        <p:spPr>
          <a:xfrm>
            <a:off x="932688" y="5952744"/>
            <a:ext cx="1920240" cy="164592"/>
          </a:xfrm>
          <a:prstGeom prst="rect">
            <a:avLst/>
          </a:prstGeom>
          <a:noFill/>
          <a:ln/>
        </p:spPr>
        <p:txBody>
          <a:bodyPr wrap="square" lIns="0" tIns="0" rIns="0" bIns="0" rtlCol="0" anchor="ctr"/>
          <a:lstStyle/>
          <a:p>
            <a:pPr marL="0" indent="0">
              <a:buNone/>
            </a:pPr>
            <a:r>
              <a:rPr lang="en-US" sz="800" b="1" dirty="0">
                <a:solidFill>
                  <a:srgbClr val="287A60"/>
                </a:solidFill>
                <a:latin typeface="Inter" pitchFamily="34" charset="0"/>
                <a:ea typeface="Inter" pitchFamily="34" charset="-122"/>
                <a:cs typeface="Inter" pitchFamily="34" charset="-120"/>
              </a:rPr>
              <a:t>Positive practice to formalize</a:t>
            </a:r>
            <a:endParaRPr lang="en-US" sz="800" dirty="0"/>
          </a:p>
        </p:txBody>
      </p:sp>
      <p:sp>
        <p:nvSpPr>
          <p:cNvPr id="42" name="Text 40"/>
          <p:cNvSpPr/>
          <p:nvPr/>
        </p:nvSpPr>
        <p:spPr>
          <a:xfrm>
            <a:off x="2834640" y="5907024"/>
            <a:ext cx="8183880" cy="246888"/>
          </a:xfrm>
          <a:prstGeom prst="rect">
            <a:avLst/>
          </a:prstGeom>
          <a:noFill/>
          <a:ln/>
        </p:spPr>
        <p:txBody>
          <a:bodyPr wrap="square" lIns="0" tIns="0" rIns="0" bIns="0" rtlCol="0" anchor="ctr">
            <a:normAutofit/>
          </a:bodyPr>
          <a:lstStyle/>
          <a:p>
            <a:pPr marL="0" indent="0">
              <a:buNone/>
            </a:pPr>
            <a:r>
              <a:rPr lang="en-US" sz="920" b="1" dirty="0">
                <a:solidFill>
                  <a:srgbClr val="0C1B2A"/>
                </a:solidFill>
                <a:latin typeface="Inter" pitchFamily="34" charset="0"/>
                <a:ea typeface="Inter" pitchFamily="34" charset="-122"/>
                <a:cs typeface="Inter" pitchFamily="34" charset="-120"/>
              </a:rPr>
              <a:t>2nd-shift pre-alignment and no-contact cleaning technique provide practical controls worth standardizing</a:t>
            </a:r>
            <a:endParaRPr lang="en-US" sz="920" dirty="0"/>
          </a:p>
        </p:txBody>
      </p:sp>
      <p:sp>
        <p:nvSpPr>
          <p:cNvPr id="2" name="Slide Number Placeholder 0"/>
          <p:cNvSpPr>
            <a:spLocks noGrp="1"/>
          </p:cNvSpPr>
          <p:nvPr>
            <p:ph type="sldNum" sz="quarter" idx="4294967295"/>
          </p:nvPr>
        </p:nvSpPr>
        <p:spPr>
          <a:xfrm>
            <a:off x="11247120" y="6419088"/>
            <a:ext cx="457200" cy="201168"/>
          </a:xfrm>
          <a:prstGeom prst="rect">
            <a:avLst/>
          </a:prstGeom>
          <a:extLst>
            <a:ext uri="{C572A759-6A51-4108-AA02-DFA0A04FC94B}">
              <ma14:wrappingTextBoxFlag xmlns="" xmlns:ma14="http://schemas.microsoft.com/office/mac/drawingml/2011/main" val="0"/>
            </a:ext>
          </a:extLst>
        </p:spPr>
        <p:txBody>
          <a:bodyPr lIns="0" tIns="0" rIns="0" bIns="0"/>
          <a:lstStyle>
            <a:lvl1pPr>
              <a:defRPr sz="700">
                <a:solidFill>
                  <a:srgbClr val="89929D"/>
                </a:solidFill>
                <a:latin typeface="Inter"/>
                <a:ea typeface="Inter"/>
                <a:cs typeface="Inter"/>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566928" y="850392"/>
            <a:ext cx="10972800" cy="566928"/>
          </a:xfrm>
          <a:prstGeom prst="rect">
            <a:avLst/>
          </a:prstGeom>
          <a:noFill/>
          <a:ln/>
        </p:spPr>
        <p:txBody>
          <a:bodyPr wrap="square" lIns="0" tIns="0" rIns="0" bIns="0" rtlCol="0" anchor="ctr">
            <a:normAutofit/>
          </a:bodyPr>
          <a:lstStyle/>
          <a:p>
            <a:pPr marL="0" indent="0">
              <a:buNone/>
            </a:pPr>
            <a:r>
              <a:rPr lang="en-US" sz="2750" b="1" spc="-150" dirty="0">
                <a:solidFill>
                  <a:srgbClr val="0C1B2A"/>
                </a:solidFill>
                <a:latin typeface="Inter Display" pitchFamily="34" charset="0"/>
                <a:ea typeface="Inter Display" pitchFamily="34" charset="-122"/>
                <a:cs typeface="Inter Display" pitchFamily="34" charset="-120"/>
              </a:rPr>
              <a:t>The hypotheses do not carry equal weight</a:t>
            </a:r>
            <a:endParaRPr lang="en-US" sz="2750" spc="-150" dirty="0"/>
          </a:p>
        </p:txBody>
      </p:sp>
      <p:sp>
        <p:nvSpPr>
          <p:cNvPr id="7" name="Shape 5"/>
          <p:cNvSpPr/>
          <p:nvPr/>
        </p:nvSpPr>
        <p:spPr>
          <a:xfrm>
            <a:off x="609600" y="1691044"/>
            <a:ext cx="10972800" cy="384048"/>
          </a:xfrm>
          <a:prstGeom prst="rect">
            <a:avLst/>
          </a:prstGeom>
          <a:solidFill>
            <a:srgbClr val="0E2136"/>
          </a:solidFill>
          <a:ln w="12700">
            <a:solidFill>
              <a:srgbClr val="0E2136"/>
            </a:solidFill>
            <a:prstDash val="solid"/>
          </a:ln>
          <a:effectLst>
            <a:softEdge rad="31750"/>
          </a:effectLst>
        </p:spPr>
        <p:txBody>
          <a:bodyPr/>
          <a:lstStyle/>
          <a:p>
            <a:endParaRPr sz="2800" b="1" i="1">
              <a:latin typeface="Aptos Display" panose="020B0004020202020204" pitchFamily="34" charset="0"/>
            </a:endParaRPr>
          </a:p>
        </p:txBody>
      </p:sp>
      <p:sp>
        <p:nvSpPr>
          <p:cNvPr id="8" name="Text 6"/>
          <p:cNvSpPr/>
          <p:nvPr/>
        </p:nvSpPr>
        <p:spPr>
          <a:xfrm>
            <a:off x="819912" y="1796200"/>
            <a:ext cx="3154680" cy="109728"/>
          </a:xfrm>
          <a:prstGeom prst="rect">
            <a:avLst/>
          </a:prstGeom>
          <a:noFill/>
          <a:ln/>
        </p:spPr>
        <p:txBody>
          <a:bodyPr wrap="square" lIns="0" tIns="0" rIns="0" bIns="0" rtlCol="0" anchor="ctr"/>
          <a:lstStyle/>
          <a:p>
            <a:pPr marL="0" indent="0">
              <a:buNone/>
            </a:pPr>
            <a:r>
              <a:rPr lang="en-US" sz="1200" b="1" i="1" kern="0" spc="80" dirty="0">
                <a:solidFill>
                  <a:srgbClr val="FFFFFF"/>
                </a:solidFill>
                <a:latin typeface="Aptos Display" panose="020B0004020202020204" pitchFamily="34" charset="0"/>
                <a:ea typeface="Inter" pitchFamily="34" charset="-122"/>
                <a:cs typeface="Inter" pitchFamily="34" charset="-120"/>
              </a:rPr>
              <a:t>HYPOTHESIS</a:t>
            </a:r>
            <a:endParaRPr lang="en-US" sz="1200" b="1" i="1" dirty="0">
              <a:latin typeface="Aptos Display" panose="020B0004020202020204" pitchFamily="34" charset="0"/>
            </a:endParaRPr>
          </a:p>
        </p:txBody>
      </p:sp>
      <p:sp>
        <p:nvSpPr>
          <p:cNvPr id="9" name="Text 7"/>
          <p:cNvSpPr/>
          <p:nvPr/>
        </p:nvSpPr>
        <p:spPr>
          <a:xfrm>
            <a:off x="4130040" y="1796200"/>
            <a:ext cx="1417320" cy="109728"/>
          </a:xfrm>
          <a:prstGeom prst="rect">
            <a:avLst/>
          </a:prstGeom>
          <a:noFill/>
          <a:ln/>
        </p:spPr>
        <p:txBody>
          <a:bodyPr wrap="square" lIns="0" tIns="0" rIns="0" bIns="0" rtlCol="0" anchor="ctr"/>
          <a:lstStyle/>
          <a:p>
            <a:pPr marL="0" indent="0">
              <a:buNone/>
            </a:pPr>
            <a:r>
              <a:rPr lang="en-US" sz="1000" b="1" i="1" kern="0" spc="80" dirty="0">
                <a:solidFill>
                  <a:srgbClr val="FFFFFF"/>
                </a:solidFill>
                <a:latin typeface="Aptos Display" panose="020B0004020202020204" pitchFamily="34" charset="0"/>
                <a:ea typeface="Inter" pitchFamily="34" charset="-122"/>
                <a:cs typeface="Inter" pitchFamily="34" charset="-120"/>
              </a:rPr>
              <a:t>STATUS</a:t>
            </a:r>
            <a:endParaRPr lang="en-US" sz="1000" b="1" i="1" dirty="0">
              <a:latin typeface="Aptos Display" panose="020B0004020202020204" pitchFamily="34" charset="0"/>
            </a:endParaRPr>
          </a:p>
        </p:txBody>
      </p:sp>
      <p:sp>
        <p:nvSpPr>
          <p:cNvPr id="10" name="Text 8"/>
          <p:cNvSpPr/>
          <p:nvPr/>
        </p:nvSpPr>
        <p:spPr>
          <a:xfrm>
            <a:off x="5711952" y="1796200"/>
            <a:ext cx="5413248" cy="109728"/>
          </a:xfrm>
          <a:prstGeom prst="rect">
            <a:avLst/>
          </a:prstGeom>
          <a:noFill/>
          <a:ln/>
        </p:spPr>
        <p:txBody>
          <a:bodyPr wrap="square" lIns="0" tIns="0" rIns="0" bIns="0" rtlCol="0" anchor="ctr"/>
          <a:lstStyle/>
          <a:p>
            <a:pPr marL="0" indent="0">
              <a:buNone/>
            </a:pPr>
            <a:r>
              <a:rPr lang="en-US" sz="1000" b="1" i="1" kern="0" spc="80" dirty="0">
                <a:solidFill>
                  <a:srgbClr val="FFFFFF"/>
                </a:solidFill>
                <a:latin typeface="Aptos Display" panose="020B0004020202020204" pitchFamily="34" charset="0"/>
                <a:ea typeface="Inter" pitchFamily="34" charset="-122"/>
                <a:cs typeface="Inter" pitchFamily="34" charset="-120"/>
              </a:rPr>
              <a:t>WHY</a:t>
            </a:r>
            <a:endParaRPr lang="en-US" sz="1000" b="1" i="1" dirty="0">
              <a:latin typeface="Aptos Display" panose="020B0004020202020204" pitchFamily="34" charset="0"/>
            </a:endParaRPr>
          </a:p>
        </p:txBody>
      </p:sp>
      <p:sp>
        <p:nvSpPr>
          <p:cNvPr id="11" name="Shape 9"/>
          <p:cNvSpPr/>
          <p:nvPr/>
        </p:nvSpPr>
        <p:spPr>
          <a:xfrm>
            <a:off x="655320" y="2052232"/>
            <a:ext cx="10881360" cy="566928"/>
          </a:xfrm>
          <a:prstGeom prst="rect">
            <a:avLst/>
          </a:prstGeom>
          <a:solidFill>
            <a:srgbClr val="FFFFFF"/>
          </a:solidFill>
          <a:ln w="6350">
            <a:solidFill>
              <a:srgbClr val="E4E6E6"/>
            </a:solidFill>
            <a:prstDash val="solid"/>
          </a:ln>
        </p:spPr>
        <p:txBody>
          <a:bodyPr/>
          <a:lstStyle/>
          <a:p>
            <a:endParaRPr/>
          </a:p>
        </p:txBody>
      </p:sp>
      <p:sp>
        <p:nvSpPr>
          <p:cNvPr id="12" name="Text 10"/>
          <p:cNvSpPr/>
          <p:nvPr/>
        </p:nvSpPr>
        <p:spPr>
          <a:xfrm>
            <a:off x="819912" y="2216824"/>
            <a:ext cx="3090672" cy="182880"/>
          </a:xfrm>
          <a:prstGeom prst="rect">
            <a:avLst/>
          </a:prstGeom>
          <a:noFill/>
          <a:ln/>
        </p:spPr>
        <p:txBody>
          <a:bodyPr wrap="square" lIns="0" tIns="0" rIns="0" bIns="0" rtlCol="0" anchor="ctr">
            <a:normAutofit/>
          </a:bodyPr>
          <a:lstStyle/>
          <a:p>
            <a:pPr marL="0" indent="0">
              <a:buNone/>
            </a:pPr>
            <a:r>
              <a:rPr lang="en-US" sz="1100" b="1" dirty="0">
                <a:solidFill>
                  <a:srgbClr val="0C1B2A"/>
                </a:solidFill>
                <a:latin typeface="Inter" pitchFamily="34" charset="0"/>
                <a:ea typeface="Inter" pitchFamily="34" charset="-122"/>
                <a:cs typeface="Inter" pitchFamily="34" charset="-120"/>
              </a:rPr>
              <a:t>Direct external load on weigh pan</a:t>
            </a:r>
            <a:endParaRPr lang="en-US" sz="1100" dirty="0"/>
          </a:p>
        </p:txBody>
      </p:sp>
      <p:sp>
        <p:nvSpPr>
          <p:cNvPr id="13" name="Shape 11"/>
          <p:cNvSpPr/>
          <p:nvPr/>
        </p:nvSpPr>
        <p:spPr>
          <a:xfrm>
            <a:off x="4130040" y="2189392"/>
            <a:ext cx="1307592" cy="292608"/>
          </a:xfrm>
          <a:prstGeom prst="roundRect">
            <a:avLst>
              <a:gd name="adj" fmla="val 25000"/>
            </a:avLst>
          </a:prstGeom>
          <a:solidFill>
            <a:srgbClr val="F7E7E5"/>
          </a:solidFill>
          <a:ln w="12700">
            <a:solidFill>
              <a:srgbClr val="F7E7E5">
                <a:alpha val="0"/>
              </a:srgbClr>
            </a:solidFill>
            <a:prstDash val="solid"/>
          </a:ln>
        </p:spPr>
        <p:txBody>
          <a:bodyPr/>
          <a:lstStyle/>
          <a:p>
            <a:endParaRPr sz="2800"/>
          </a:p>
        </p:txBody>
      </p:sp>
      <p:sp>
        <p:nvSpPr>
          <p:cNvPr id="14" name="Text 12"/>
          <p:cNvSpPr/>
          <p:nvPr/>
        </p:nvSpPr>
        <p:spPr>
          <a:xfrm>
            <a:off x="4175760" y="2189392"/>
            <a:ext cx="1216152" cy="292608"/>
          </a:xfrm>
          <a:prstGeom prst="rect">
            <a:avLst/>
          </a:prstGeom>
          <a:noFill/>
          <a:ln/>
        </p:spPr>
        <p:txBody>
          <a:bodyPr wrap="square" lIns="0" tIns="0" rIns="0" bIns="0" rtlCol="0" anchor="ctr">
            <a:noAutofit/>
          </a:bodyPr>
          <a:lstStyle/>
          <a:p>
            <a:pPr marL="0" indent="0" algn="ctr">
              <a:buNone/>
            </a:pPr>
            <a:r>
              <a:rPr lang="en-US" sz="1000" b="1" dirty="0">
                <a:solidFill>
                  <a:srgbClr val="C94848"/>
                </a:solidFill>
                <a:latin typeface="Inter" pitchFamily="34" charset="0"/>
                <a:ea typeface="Inter" pitchFamily="34" charset="-122"/>
                <a:cs typeface="Inter" pitchFamily="34" charset="-120"/>
              </a:rPr>
              <a:t>Evidence-supported</a:t>
            </a:r>
            <a:endParaRPr lang="en-US" sz="1000" dirty="0"/>
          </a:p>
        </p:txBody>
      </p:sp>
      <p:sp>
        <p:nvSpPr>
          <p:cNvPr id="15" name="Text 13"/>
          <p:cNvSpPr/>
          <p:nvPr/>
        </p:nvSpPr>
        <p:spPr>
          <a:xfrm>
            <a:off x="5711952" y="2171104"/>
            <a:ext cx="5413248" cy="283464"/>
          </a:xfrm>
          <a:prstGeom prst="rect">
            <a:avLst/>
          </a:prstGeom>
          <a:noFill/>
          <a:ln/>
        </p:spPr>
        <p:txBody>
          <a:bodyPr wrap="square" lIns="0" tIns="0" rIns="0" bIns="0" rtlCol="0" anchor="ctr">
            <a:normAutofit/>
          </a:bodyPr>
          <a:lstStyle/>
          <a:p>
            <a:pPr marL="0" indent="0">
              <a:buNone/>
            </a:pPr>
            <a:r>
              <a:rPr lang="en-US" sz="1050" dirty="0">
                <a:solidFill>
                  <a:srgbClr val="244365"/>
                </a:solidFill>
                <a:latin typeface="Inter" pitchFamily="34" charset="0"/>
                <a:ea typeface="Inter" pitchFamily="34" charset="-122"/>
                <a:cs typeface="Inter" pitchFamily="34" charset="-120"/>
              </a:rPr>
              <a:t>Repeated current observations + historical event</a:t>
            </a:r>
            <a:endParaRPr lang="en-US" sz="1050" dirty="0"/>
          </a:p>
        </p:txBody>
      </p:sp>
      <p:sp>
        <p:nvSpPr>
          <p:cNvPr id="16" name="Shape 14"/>
          <p:cNvSpPr/>
          <p:nvPr/>
        </p:nvSpPr>
        <p:spPr>
          <a:xfrm>
            <a:off x="655320" y="2619160"/>
            <a:ext cx="10881360" cy="566928"/>
          </a:xfrm>
          <a:prstGeom prst="rect">
            <a:avLst/>
          </a:prstGeom>
          <a:solidFill>
            <a:srgbClr val="F9F8F5"/>
          </a:solidFill>
          <a:ln w="6350">
            <a:solidFill>
              <a:srgbClr val="E4E6E6"/>
            </a:solidFill>
            <a:prstDash val="solid"/>
          </a:ln>
        </p:spPr>
        <p:txBody>
          <a:bodyPr/>
          <a:lstStyle/>
          <a:p>
            <a:endParaRPr/>
          </a:p>
        </p:txBody>
      </p:sp>
      <p:sp>
        <p:nvSpPr>
          <p:cNvPr id="17" name="Text 15"/>
          <p:cNvSpPr/>
          <p:nvPr/>
        </p:nvSpPr>
        <p:spPr>
          <a:xfrm>
            <a:off x="819912" y="2783752"/>
            <a:ext cx="3090672" cy="182880"/>
          </a:xfrm>
          <a:prstGeom prst="rect">
            <a:avLst/>
          </a:prstGeom>
          <a:noFill/>
          <a:ln/>
        </p:spPr>
        <p:txBody>
          <a:bodyPr wrap="square" lIns="0" tIns="0" rIns="0" bIns="0" rtlCol="0" anchor="ctr">
            <a:normAutofit/>
          </a:bodyPr>
          <a:lstStyle/>
          <a:p>
            <a:pPr marL="0" indent="0">
              <a:buNone/>
            </a:pPr>
            <a:r>
              <a:rPr lang="en-US" sz="1100" dirty="0">
                <a:solidFill>
                  <a:srgbClr val="0C1B2A"/>
                </a:solidFill>
                <a:latin typeface="Inter" pitchFamily="34" charset="0"/>
                <a:ea typeface="Inter" pitchFamily="34" charset="-122"/>
                <a:cs typeface="Inter" pitchFamily="34" charset="-120"/>
              </a:rPr>
              <a:t>Puck / prodger misalignment</a:t>
            </a:r>
            <a:endParaRPr lang="en-US" sz="1100" dirty="0"/>
          </a:p>
        </p:txBody>
      </p:sp>
      <p:sp>
        <p:nvSpPr>
          <p:cNvPr id="18" name="Shape 16"/>
          <p:cNvSpPr/>
          <p:nvPr/>
        </p:nvSpPr>
        <p:spPr>
          <a:xfrm>
            <a:off x="4130040" y="2756320"/>
            <a:ext cx="1307592" cy="292608"/>
          </a:xfrm>
          <a:prstGeom prst="roundRect">
            <a:avLst>
              <a:gd name="adj" fmla="val 25000"/>
            </a:avLst>
          </a:prstGeom>
          <a:solidFill>
            <a:srgbClr val="F6EBD9"/>
          </a:solidFill>
          <a:ln w="12700">
            <a:solidFill>
              <a:srgbClr val="F6EBD9">
                <a:alpha val="0"/>
              </a:srgbClr>
            </a:solidFill>
            <a:prstDash val="solid"/>
          </a:ln>
        </p:spPr>
        <p:txBody>
          <a:bodyPr/>
          <a:lstStyle/>
          <a:p>
            <a:endParaRPr sz="2800"/>
          </a:p>
        </p:txBody>
      </p:sp>
      <p:sp>
        <p:nvSpPr>
          <p:cNvPr id="19" name="Text 17"/>
          <p:cNvSpPr/>
          <p:nvPr/>
        </p:nvSpPr>
        <p:spPr>
          <a:xfrm>
            <a:off x="4175760" y="2756320"/>
            <a:ext cx="1216152" cy="292608"/>
          </a:xfrm>
          <a:prstGeom prst="rect">
            <a:avLst/>
          </a:prstGeom>
          <a:noFill/>
          <a:ln/>
        </p:spPr>
        <p:txBody>
          <a:bodyPr wrap="square" lIns="0" tIns="0" rIns="0" bIns="0" rtlCol="0" anchor="ctr">
            <a:normAutofit/>
          </a:bodyPr>
          <a:lstStyle/>
          <a:p>
            <a:pPr marL="0" indent="0" algn="ctr">
              <a:buNone/>
            </a:pPr>
            <a:r>
              <a:rPr lang="en-US" sz="1000" b="1" dirty="0">
                <a:solidFill>
                  <a:srgbClr val="B67724"/>
                </a:solidFill>
                <a:latin typeface="Inter" pitchFamily="34" charset="0"/>
                <a:ea typeface="Inter" pitchFamily="34" charset="-122"/>
                <a:cs typeface="Inter" pitchFamily="34" charset="-120"/>
              </a:rPr>
              <a:t>Supported</a:t>
            </a:r>
            <a:endParaRPr lang="en-US" sz="1000" dirty="0"/>
          </a:p>
        </p:txBody>
      </p:sp>
      <p:sp>
        <p:nvSpPr>
          <p:cNvPr id="20" name="Text 18"/>
          <p:cNvSpPr/>
          <p:nvPr/>
        </p:nvSpPr>
        <p:spPr>
          <a:xfrm>
            <a:off x="5711952" y="2738032"/>
            <a:ext cx="5413248" cy="283464"/>
          </a:xfrm>
          <a:prstGeom prst="rect">
            <a:avLst/>
          </a:prstGeom>
          <a:noFill/>
          <a:ln/>
        </p:spPr>
        <p:txBody>
          <a:bodyPr wrap="square" lIns="0" tIns="0" rIns="0" bIns="0" rtlCol="0" anchor="ctr">
            <a:normAutofit/>
          </a:bodyPr>
          <a:lstStyle/>
          <a:p>
            <a:pPr marL="0" indent="0">
              <a:buNone/>
            </a:pPr>
            <a:r>
              <a:rPr lang="en-US" sz="1050" dirty="0">
                <a:solidFill>
                  <a:srgbClr val="244365"/>
                </a:solidFill>
                <a:latin typeface="Inter" pitchFamily="34" charset="0"/>
                <a:ea typeface="Inter" pitchFamily="34" charset="-122"/>
                <a:cs typeface="Inter" pitchFamily="34" charset="-120"/>
              </a:rPr>
              <a:t>Alignment downtime, pre-alignment, SME / operator input</a:t>
            </a:r>
            <a:endParaRPr lang="en-US" sz="1050" dirty="0"/>
          </a:p>
        </p:txBody>
      </p:sp>
      <p:sp>
        <p:nvSpPr>
          <p:cNvPr id="21" name="Shape 19"/>
          <p:cNvSpPr/>
          <p:nvPr/>
        </p:nvSpPr>
        <p:spPr>
          <a:xfrm>
            <a:off x="655320" y="3186088"/>
            <a:ext cx="10881360" cy="566928"/>
          </a:xfrm>
          <a:prstGeom prst="rect">
            <a:avLst/>
          </a:prstGeom>
          <a:solidFill>
            <a:srgbClr val="FFFFFF"/>
          </a:solidFill>
          <a:ln w="6350">
            <a:solidFill>
              <a:srgbClr val="E4E6E6"/>
            </a:solidFill>
            <a:prstDash val="solid"/>
          </a:ln>
        </p:spPr>
        <p:txBody>
          <a:bodyPr/>
          <a:lstStyle/>
          <a:p>
            <a:endParaRPr/>
          </a:p>
        </p:txBody>
      </p:sp>
      <p:sp>
        <p:nvSpPr>
          <p:cNvPr id="22" name="Text 20"/>
          <p:cNvSpPr/>
          <p:nvPr/>
        </p:nvSpPr>
        <p:spPr>
          <a:xfrm>
            <a:off x="819912" y="3350680"/>
            <a:ext cx="3090672" cy="182880"/>
          </a:xfrm>
          <a:prstGeom prst="rect">
            <a:avLst/>
          </a:prstGeom>
          <a:noFill/>
          <a:ln/>
        </p:spPr>
        <p:txBody>
          <a:bodyPr wrap="square" lIns="0" tIns="0" rIns="0" bIns="0" rtlCol="0" anchor="ctr">
            <a:normAutofit/>
          </a:bodyPr>
          <a:lstStyle/>
          <a:p>
            <a:pPr marL="0" indent="0">
              <a:buNone/>
            </a:pPr>
            <a:r>
              <a:rPr lang="en-US" sz="1100" dirty="0">
                <a:solidFill>
                  <a:srgbClr val="0C1B2A"/>
                </a:solidFill>
                <a:latin typeface="Inter" pitchFamily="34" charset="0"/>
                <a:ea typeface="Inter" pitchFamily="34" charset="-122"/>
                <a:cs typeface="Inter" pitchFamily="34" charset="-120"/>
              </a:rPr>
              <a:t>Powder buildup → improper seating</a:t>
            </a:r>
            <a:endParaRPr lang="en-US" sz="1100" dirty="0"/>
          </a:p>
        </p:txBody>
      </p:sp>
      <p:sp>
        <p:nvSpPr>
          <p:cNvPr id="23" name="Shape 21"/>
          <p:cNvSpPr/>
          <p:nvPr/>
        </p:nvSpPr>
        <p:spPr>
          <a:xfrm>
            <a:off x="4130040" y="3323248"/>
            <a:ext cx="1307592" cy="292608"/>
          </a:xfrm>
          <a:prstGeom prst="roundRect">
            <a:avLst>
              <a:gd name="adj" fmla="val 25000"/>
            </a:avLst>
          </a:prstGeom>
          <a:solidFill>
            <a:srgbClr val="F6EBD9"/>
          </a:solidFill>
          <a:ln w="12700">
            <a:solidFill>
              <a:srgbClr val="F6EBD9">
                <a:alpha val="0"/>
              </a:srgbClr>
            </a:solidFill>
            <a:prstDash val="solid"/>
          </a:ln>
        </p:spPr>
        <p:txBody>
          <a:bodyPr/>
          <a:lstStyle/>
          <a:p>
            <a:endParaRPr sz="2800"/>
          </a:p>
        </p:txBody>
      </p:sp>
      <p:sp>
        <p:nvSpPr>
          <p:cNvPr id="24" name="Text 22"/>
          <p:cNvSpPr/>
          <p:nvPr/>
        </p:nvSpPr>
        <p:spPr>
          <a:xfrm>
            <a:off x="4175760" y="3323248"/>
            <a:ext cx="1216152" cy="292608"/>
          </a:xfrm>
          <a:prstGeom prst="rect">
            <a:avLst/>
          </a:prstGeom>
          <a:noFill/>
          <a:ln/>
        </p:spPr>
        <p:txBody>
          <a:bodyPr wrap="square" lIns="0" tIns="0" rIns="0" bIns="0" rtlCol="0" anchor="ctr">
            <a:normAutofit/>
          </a:bodyPr>
          <a:lstStyle/>
          <a:p>
            <a:pPr marL="0" indent="0" algn="ctr">
              <a:buNone/>
            </a:pPr>
            <a:r>
              <a:rPr lang="en-US" sz="1000" b="1" dirty="0">
                <a:solidFill>
                  <a:srgbClr val="B67724"/>
                </a:solidFill>
                <a:latin typeface="Inter" pitchFamily="34" charset="0"/>
                <a:ea typeface="Inter" pitchFamily="34" charset="-122"/>
                <a:cs typeface="Inter" pitchFamily="34" charset="-120"/>
              </a:rPr>
              <a:t>Supported</a:t>
            </a:r>
            <a:endParaRPr lang="en-US" sz="1000" dirty="0"/>
          </a:p>
        </p:txBody>
      </p:sp>
      <p:sp>
        <p:nvSpPr>
          <p:cNvPr id="25" name="Text 23"/>
          <p:cNvSpPr/>
          <p:nvPr/>
        </p:nvSpPr>
        <p:spPr>
          <a:xfrm>
            <a:off x="5711952" y="3304960"/>
            <a:ext cx="5413248" cy="283464"/>
          </a:xfrm>
          <a:prstGeom prst="rect">
            <a:avLst/>
          </a:prstGeom>
          <a:noFill/>
          <a:ln/>
        </p:spPr>
        <p:txBody>
          <a:bodyPr wrap="square" lIns="0" tIns="0" rIns="0" bIns="0" rtlCol="0" anchor="ctr">
            <a:normAutofit/>
          </a:bodyPr>
          <a:lstStyle/>
          <a:p>
            <a:pPr marL="0" indent="0">
              <a:buNone/>
            </a:pPr>
            <a:r>
              <a:rPr lang="en-US" sz="1050" dirty="0">
                <a:solidFill>
                  <a:srgbClr val="244365"/>
                </a:solidFill>
                <a:latin typeface="Inter" pitchFamily="34" charset="0"/>
                <a:ea typeface="Inter" pitchFamily="34" charset="-122"/>
                <a:cs typeface="Inter" pitchFamily="34" charset="-120"/>
              </a:rPr>
              <a:t>Caked / stuck powder observed on pucks</a:t>
            </a:r>
            <a:endParaRPr lang="en-US" sz="1050" dirty="0"/>
          </a:p>
        </p:txBody>
      </p:sp>
      <p:sp>
        <p:nvSpPr>
          <p:cNvPr id="26" name="Shape 24"/>
          <p:cNvSpPr/>
          <p:nvPr/>
        </p:nvSpPr>
        <p:spPr>
          <a:xfrm>
            <a:off x="655320" y="3753016"/>
            <a:ext cx="10881360" cy="566928"/>
          </a:xfrm>
          <a:prstGeom prst="rect">
            <a:avLst/>
          </a:prstGeom>
          <a:solidFill>
            <a:srgbClr val="F9F8F5"/>
          </a:solidFill>
          <a:ln w="6350">
            <a:solidFill>
              <a:srgbClr val="E4E6E6"/>
            </a:solidFill>
            <a:prstDash val="solid"/>
          </a:ln>
        </p:spPr>
        <p:txBody>
          <a:bodyPr/>
          <a:lstStyle/>
          <a:p>
            <a:endParaRPr/>
          </a:p>
        </p:txBody>
      </p:sp>
      <p:sp>
        <p:nvSpPr>
          <p:cNvPr id="27" name="Text 25"/>
          <p:cNvSpPr/>
          <p:nvPr/>
        </p:nvSpPr>
        <p:spPr>
          <a:xfrm>
            <a:off x="819912" y="3917608"/>
            <a:ext cx="3090672" cy="182880"/>
          </a:xfrm>
          <a:prstGeom prst="rect">
            <a:avLst/>
          </a:prstGeom>
          <a:noFill/>
          <a:ln/>
        </p:spPr>
        <p:txBody>
          <a:bodyPr wrap="square" lIns="0" tIns="0" rIns="0" bIns="0" rtlCol="0" anchor="ctr">
            <a:normAutofit/>
          </a:bodyPr>
          <a:lstStyle/>
          <a:p>
            <a:pPr marL="0" indent="0">
              <a:buNone/>
            </a:pPr>
            <a:r>
              <a:rPr lang="en-US" sz="1100" dirty="0">
                <a:solidFill>
                  <a:srgbClr val="0C1B2A"/>
                </a:solidFill>
                <a:latin typeface="Inter" pitchFamily="34" charset="0"/>
                <a:ea typeface="Inter" pitchFamily="34" charset="-122"/>
                <a:cs typeface="Inter" pitchFamily="34" charset="-120"/>
              </a:rPr>
              <a:t>Operational vibration / contact</a:t>
            </a:r>
            <a:endParaRPr lang="en-US" sz="1100" dirty="0"/>
          </a:p>
        </p:txBody>
      </p:sp>
      <p:sp>
        <p:nvSpPr>
          <p:cNvPr id="28" name="Shape 26"/>
          <p:cNvSpPr/>
          <p:nvPr/>
        </p:nvSpPr>
        <p:spPr>
          <a:xfrm>
            <a:off x="4130040" y="3890176"/>
            <a:ext cx="1307592" cy="292608"/>
          </a:xfrm>
          <a:prstGeom prst="roundRect">
            <a:avLst>
              <a:gd name="adj" fmla="val 25000"/>
            </a:avLst>
          </a:prstGeom>
          <a:solidFill>
            <a:srgbClr val="DFEBFA"/>
          </a:solidFill>
          <a:ln w="12700">
            <a:solidFill>
              <a:srgbClr val="DFEBFA">
                <a:alpha val="0"/>
              </a:srgbClr>
            </a:solidFill>
            <a:prstDash val="solid"/>
          </a:ln>
        </p:spPr>
        <p:txBody>
          <a:bodyPr/>
          <a:lstStyle/>
          <a:p>
            <a:endParaRPr sz="2800"/>
          </a:p>
        </p:txBody>
      </p:sp>
      <p:sp>
        <p:nvSpPr>
          <p:cNvPr id="29" name="Text 27"/>
          <p:cNvSpPr/>
          <p:nvPr/>
        </p:nvSpPr>
        <p:spPr>
          <a:xfrm>
            <a:off x="4175760" y="3890176"/>
            <a:ext cx="1216152" cy="292608"/>
          </a:xfrm>
          <a:prstGeom prst="rect">
            <a:avLst/>
          </a:prstGeom>
          <a:noFill/>
          <a:ln/>
        </p:spPr>
        <p:txBody>
          <a:bodyPr wrap="square" lIns="0" tIns="0" rIns="0" bIns="0" rtlCol="0" anchor="ctr">
            <a:normAutofit/>
          </a:bodyPr>
          <a:lstStyle/>
          <a:p>
            <a:pPr marL="0" indent="0" algn="ctr">
              <a:buNone/>
            </a:pPr>
            <a:r>
              <a:rPr lang="en-US" sz="1000" b="1" dirty="0">
                <a:solidFill>
                  <a:srgbClr val="0D4C9D"/>
                </a:solidFill>
                <a:latin typeface="Inter" pitchFamily="34" charset="0"/>
                <a:ea typeface="Inter" pitchFamily="34" charset="-122"/>
                <a:cs typeface="Inter" pitchFamily="34" charset="-120"/>
              </a:rPr>
              <a:t>Possible</a:t>
            </a:r>
            <a:endParaRPr lang="en-US" sz="1000" dirty="0"/>
          </a:p>
        </p:txBody>
      </p:sp>
      <p:sp>
        <p:nvSpPr>
          <p:cNvPr id="30" name="Text 28"/>
          <p:cNvSpPr/>
          <p:nvPr/>
        </p:nvSpPr>
        <p:spPr>
          <a:xfrm>
            <a:off x="5711952" y="3871888"/>
            <a:ext cx="5413248" cy="283464"/>
          </a:xfrm>
          <a:prstGeom prst="rect">
            <a:avLst/>
          </a:prstGeom>
          <a:noFill/>
          <a:ln/>
        </p:spPr>
        <p:txBody>
          <a:bodyPr wrap="square" lIns="0" tIns="0" rIns="0" bIns="0" rtlCol="0" anchor="ctr">
            <a:normAutofit/>
          </a:bodyPr>
          <a:lstStyle/>
          <a:p>
            <a:pPr marL="0" indent="0">
              <a:buNone/>
            </a:pPr>
            <a:r>
              <a:rPr lang="en-US" sz="1050" dirty="0">
                <a:solidFill>
                  <a:srgbClr val="244365"/>
                </a:solidFill>
                <a:latin typeface="Inter" pitchFamily="34" charset="0"/>
                <a:ea typeface="Inter" pitchFamily="34" charset="-122"/>
                <a:cs typeface="Inter" pitchFamily="34" charset="-120"/>
              </a:rPr>
              <a:t>Size 4 slippage + scuff evidence; causal link not fully proven</a:t>
            </a:r>
            <a:endParaRPr lang="en-US" sz="1050" dirty="0"/>
          </a:p>
        </p:txBody>
      </p:sp>
      <p:sp>
        <p:nvSpPr>
          <p:cNvPr id="31" name="Shape 29"/>
          <p:cNvSpPr/>
          <p:nvPr/>
        </p:nvSpPr>
        <p:spPr>
          <a:xfrm>
            <a:off x="655320" y="4319944"/>
            <a:ext cx="10881360" cy="566928"/>
          </a:xfrm>
          <a:prstGeom prst="rect">
            <a:avLst/>
          </a:prstGeom>
          <a:solidFill>
            <a:srgbClr val="FFFFFF"/>
          </a:solidFill>
          <a:ln w="6350">
            <a:solidFill>
              <a:srgbClr val="E4E6E6"/>
            </a:solidFill>
            <a:prstDash val="solid"/>
          </a:ln>
        </p:spPr>
        <p:txBody>
          <a:bodyPr/>
          <a:lstStyle/>
          <a:p>
            <a:endParaRPr/>
          </a:p>
        </p:txBody>
      </p:sp>
      <p:sp>
        <p:nvSpPr>
          <p:cNvPr id="32" name="Text 30"/>
          <p:cNvSpPr/>
          <p:nvPr/>
        </p:nvSpPr>
        <p:spPr>
          <a:xfrm>
            <a:off x="819912" y="4484536"/>
            <a:ext cx="3090672" cy="182880"/>
          </a:xfrm>
          <a:prstGeom prst="rect">
            <a:avLst/>
          </a:prstGeom>
          <a:noFill/>
          <a:ln/>
        </p:spPr>
        <p:txBody>
          <a:bodyPr wrap="square" lIns="0" tIns="0" rIns="0" bIns="0" rtlCol="0" anchor="ctr">
            <a:normAutofit/>
          </a:bodyPr>
          <a:lstStyle/>
          <a:p>
            <a:pPr marL="0" indent="0">
              <a:buNone/>
            </a:pPr>
            <a:r>
              <a:rPr lang="en-US" sz="1100" dirty="0">
                <a:solidFill>
                  <a:srgbClr val="0C1B2A"/>
                </a:solidFill>
                <a:latin typeface="Inter" pitchFamily="34" charset="0"/>
                <a:ea typeface="Inter" pitchFamily="34" charset="-122"/>
                <a:cs typeface="Inter" pitchFamily="34" charset="-120"/>
              </a:rPr>
              <a:t>Vacuum-related loading / static</a:t>
            </a:r>
            <a:endParaRPr lang="en-US" sz="1100" dirty="0"/>
          </a:p>
        </p:txBody>
      </p:sp>
      <p:sp>
        <p:nvSpPr>
          <p:cNvPr id="33" name="Shape 31"/>
          <p:cNvSpPr/>
          <p:nvPr/>
        </p:nvSpPr>
        <p:spPr>
          <a:xfrm>
            <a:off x="4130040" y="4457104"/>
            <a:ext cx="1307592" cy="292608"/>
          </a:xfrm>
          <a:prstGeom prst="roundRect">
            <a:avLst>
              <a:gd name="adj" fmla="val 25000"/>
            </a:avLst>
          </a:prstGeom>
          <a:solidFill>
            <a:srgbClr val="DFEBFA"/>
          </a:solidFill>
          <a:ln w="12700">
            <a:solidFill>
              <a:srgbClr val="DFEBFA">
                <a:alpha val="0"/>
              </a:srgbClr>
            </a:solidFill>
            <a:prstDash val="solid"/>
          </a:ln>
        </p:spPr>
        <p:txBody>
          <a:bodyPr/>
          <a:lstStyle/>
          <a:p>
            <a:endParaRPr sz="2800"/>
          </a:p>
        </p:txBody>
      </p:sp>
      <p:sp>
        <p:nvSpPr>
          <p:cNvPr id="34" name="Text 32"/>
          <p:cNvSpPr/>
          <p:nvPr/>
        </p:nvSpPr>
        <p:spPr>
          <a:xfrm>
            <a:off x="4175760" y="4457104"/>
            <a:ext cx="1216152" cy="292608"/>
          </a:xfrm>
          <a:prstGeom prst="rect">
            <a:avLst/>
          </a:prstGeom>
          <a:noFill/>
          <a:ln/>
        </p:spPr>
        <p:txBody>
          <a:bodyPr wrap="square" lIns="0" tIns="0" rIns="0" bIns="0" rtlCol="0" anchor="ctr">
            <a:normAutofit/>
          </a:bodyPr>
          <a:lstStyle/>
          <a:p>
            <a:pPr marL="0" indent="0" algn="ctr">
              <a:buNone/>
            </a:pPr>
            <a:r>
              <a:rPr lang="en-US" sz="1000" b="1" dirty="0">
                <a:solidFill>
                  <a:srgbClr val="0D4C9D"/>
                </a:solidFill>
                <a:latin typeface="Inter" pitchFamily="34" charset="0"/>
                <a:ea typeface="Inter" pitchFamily="34" charset="-122"/>
                <a:cs typeface="Inter" pitchFamily="34" charset="-120"/>
              </a:rPr>
              <a:t>Possible</a:t>
            </a:r>
            <a:endParaRPr lang="en-US" sz="1000" dirty="0"/>
          </a:p>
        </p:txBody>
      </p:sp>
      <p:sp>
        <p:nvSpPr>
          <p:cNvPr id="35" name="Text 33"/>
          <p:cNvSpPr/>
          <p:nvPr/>
        </p:nvSpPr>
        <p:spPr>
          <a:xfrm>
            <a:off x="5711952" y="4438816"/>
            <a:ext cx="5413248" cy="283464"/>
          </a:xfrm>
          <a:prstGeom prst="rect">
            <a:avLst/>
          </a:prstGeom>
          <a:noFill/>
          <a:ln/>
        </p:spPr>
        <p:txBody>
          <a:bodyPr wrap="square" lIns="0" tIns="0" rIns="0" bIns="0" rtlCol="0" anchor="ctr">
            <a:normAutofit/>
          </a:bodyPr>
          <a:lstStyle/>
          <a:p>
            <a:pPr marL="0" indent="0">
              <a:buNone/>
            </a:pPr>
            <a:r>
              <a:rPr lang="en-US" sz="1050" dirty="0">
                <a:solidFill>
                  <a:srgbClr val="244365"/>
                </a:solidFill>
                <a:latin typeface="Inter" pitchFamily="34" charset="0"/>
                <a:ea typeface="Inter" pitchFamily="34" charset="-122"/>
                <a:cs typeface="Inter" pitchFamily="34" charset="-120"/>
              </a:rPr>
              <a:t>Static alarms temporally associated with one cleaning event</a:t>
            </a:r>
            <a:endParaRPr lang="en-US" sz="1050" dirty="0"/>
          </a:p>
        </p:txBody>
      </p:sp>
      <p:sp>
        <p:nvSpPr>
          <p:cNvPr id="41" name="Shape 39"/>
          <p:cNvSpPr/>
          <p:nvPr/>
        </p:nvSpPr>
        <p:spPr>
          <a:xfrm>
            <a:off x="658368" y="5875020"/>
            <a:ext cx="10881360" cy="406908"/>
          </a:xfrm>
          <a:prstGeom prst="roundRect">
            <a:avLst>
              <a:gd name="adj" fmla="val 36364"/>
            </a:avLst>
          </a:prstGeom>
          <a:solidFill>
            <a:srgbClr val="DFEBFA"/>
          </a:solidFill>
          <a:ln w="10160">
            <a:solidFill>
              <a:srgbClr val="DFEBFA"/>
            </a:solidFill>
            <a:prstDash val="solid"/>
          </a:ln>
        </p:spPr>
        <p:txBody>
          <a:bodyPr/>
          <a:lstStyle/>
          <a:p>
            <a:endParaRPr sz="2400"/>
          </a:p>
        </p:txBody>
      </p:sp>
      <p:sp>
        <p:nvSpPr>
          <p:cNvPr id="42" name="Text 40"/>
          <p:cNvSpPr/>
          <p:nvPr/>
        </p:nvSpPr>
        <p:spPr>
          <a:xfrm>
            <a:off x="704088" y="5875020"/>
            <a:ext cx="10789920" cy="406908"/>
          </a:xfrm>
          <a:prstGeom prst="rect">
            <a:avLst/>
          </a:prstGeom>
          <a:noFill/>
          <a:ln/>
        </p:spPr>
        <p:txBody>
          <a:bodyPr wrap="square" lIns="0" tIns="0" rIns="0" bIns="0" rtlCol="0" anchor="ctr"/>
          <a:lstStyle/>
          <a:p>
            <a:pPr marL="0" indent="0" algn="ctr">
              <a:buNone/>
            </a:pPr>
            <a:r>
              <a:rPr lang="en-US" sz="900" b="1" dirty="0">
                <a:solidFill>
                  <a:srgbClr val="0D4C9D"/>
                </a:solidFill>
                <a:latin typeface="Inter" pitchFamily="34" charset="0"/>
                <a:ea typeface="Inter" pitchFamily="34" charset="-122"/>
                <a:cs typeface="Inter" pitchFamily="34" charset="-120"/>
              </a:rPr>
              <a:t>Use this ranking to focus CAPA on the supported load path while continuing to trend the secondary contributors.</a:t>
            </a:r>
            <a:endParaRPr lang="en-US" sz="900" dirty="0"/>
          </a:p>
        </p:txBody>
      </p:sp>
      <p:sp>
        <p:nvSpPr>
          <p:cNvPr id="2" name="Slide Number Placeholder 0"/>
          <p:cNvSpPr>
            <a:spLocks noGrp="1"/>
          </p:cNvSpPr>
          <p:nvPr>
            <p:ph type="sldNum" sz="quarter" idx="4294967295"/>
          </p:nvPr>
        </p:nvSpPr>
        <p:spPr>
          <a:xfrm>
            <a:off x="11247120" y="6419088"/>
            <a:ext cx="457200" cy="201168"/>
          </a:xfrm>
          <a:prstGeom prst="rect">
            <a:avLst/>
          </a:prstGeom>
          <a:extLst>
            <a:ext uri="{C572A759-6A51-4108-AA02-DFA0A04FC94B}">
              <ma14:wrappingTextBoxFlag xmlns="" xmlns:ma14="http://schemas.microsoft.com/office/mac/drawingml/2011/main" val="0"/>
            </a:ext>
          </a:extLst>
        </p:spPr>
        <p:txBody>
          <a:bodyPr lIns="0" tIns="0" rIns="0" bIns="0"/>
          <a:lstStyle>
            <a:lvl1pPr>
              <a:defRPr sz="700">
                <a:solidFill>
                  <a:srgbClr val="89929D"/>
                </a:solidFill>
                <a:latin typeface="Inter"/>
                <a:ea typeface="Inter"/>
                <a:cs typeface="Inter"/>
              </a:defRPr>
            </a:lvl1pPr>
          </a:lstStyle>
          <a:p>
            <a:pPr algn="r"/>
            <a:fld id="{F7021451-1387-4CA6-816F-3879F97B5CBC}" type="slidenum">
              <a:rPr lang="en-US" b="0"/>
              <a:t>12</a:t>
            </a:fld>
            <a:endParaRPr lang="en-US"/>
          </a:p>
        </p:txBody>
      </p:sp>
      <p:pic>
        <p:nvPicPr>
          <p:cNvPr id="4" name="Picture 3" descr="ranking_pulse.gif">
            <a:extLst>
              <a:ext uri="{FF2B5EF4-FFF2-40B4-BE49-F238E27FC236}">
                <a16:creationId xmlns:a16="http://schemas.microsoft.com/office/drawing/2014/main" id="{3F8B0E1D-8529-DF2A-8321-33BD24CBDD89}"/>
              </a:ext>
            </a:extLst>
          </p:cNvPr>
          <p:cNvPicPr>
            <a:picLocks noChangeAspect="1"/>
          </p:cNvPicPr>
          <p:nvPr/>
        </p:nvPicPr>
        <p:blipFill>
          <a:blip r:embed="rId3"/>
          <a:stretch>
            <a:fillRect/>
          </a:stretch>
        </p:blipFill>
        <p:spPr>
          <a:xfrm>
            <a:off x="10553700" y="1361860"/>
            <a:ext cx="1143000" cy="384048"/>
          </a:xfrm>
          <a:prstGeom prst="rect">
            <a:avLst/>
          </a:prstGeom>
          <a:effectLst>
            <a:glow rad="63500">
              <a:schemeClr val="accent2">
                <a:satMod val="175000"/>
                <a:alpha val="40000"/>
              </a:schemeClr>
            </a:glo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566928" y="850392"/>
            <a:ext cx="10972800" cy="566928"/>
          </a:xfrm>
          <a:prstGeom prst="rect">
            <a:avLst/>
          </a:prstGeom>
          <a:noFill/>
          <a:ln/>
        </p:spPr>
        <p:txBody>
          <a:bodyPr wrap="square" lIns="0" tIns="0" rIns="0" bIns="0" rtlCol="0" anchor="ctr">
            <a:normAutofit fontScale="85000" lnSpcReduction="10000"/>
          </a:bodyPr>
          <a:lstStyle/>
          <a:p>
            <a:pPr marL="0" indent="0">
              <a:buNone/>
            </a:pPr>
            <a:r>
              <a:rPr lang="en-US" sz="2750" b="1" spc="-100" dirty="0">
                <a:solidFill>
                  <a:srgbClr val="0C1B2A"/>
                </a:solidFill>
                <a:latin typeface="Inter Display" pitchFamily="34" charset="0"/>
                <a:ea typeface="Inter Display" pitchFamily="34" charset="-122"/>
                <a:cs typeface="Inter Display" pitchFamily="34" charset="-120"/>
              </a:rPr>
              <a:t>The 5-Why moves from the failed balance to the control that allowed repeat loading</a:t>
            </a:r>
            <a:endParaRPr lang="en-US" sz="2750" spc="-100" dirty="0"/>
          </a:p>
        </p:txBody>
      </p:sp>
      <p:sp>
        <p:nvSpPr>
          <p:cNvPr id="6" name="Shape 4"/>
          <p:cNvSpPr/>
          <p:nvPr/>
        </p:nvSpPr>
        <p:spPr>
          <a:xfrm>
            <a:off x="566928" y="1536902"/>
            <a:ext cx="10944146" cy="0"/>
          </a:xfrm>
          <a:prstGeom prst="line">
            <a:avLst/>
          </a:prstGeom>
          <a:noFill/>
          <a:ln w="10160">
            <a:solidFill>
              <a:srgbClr val="D7DAD8"/>
            </a:solidFill>
            <a:prstDash val="solid"/>
          </a:ln>
        </p:spPr>
        <p:txBody>
          <a:bodyPr/>
          <a:lstStyle/>
          <a:p>
            <a:endParaRPr/>
          </a:p>
        </p:txBody>
      </p:sp>
      <p:sp>
        <p:nvSpPr>
          <p:cNvPr id="7" name="Shape 5"/>
          <p:cNvSpPr/>
          <p:nvPr/>
        </p:nvSpPr>
        <p:spPr>
          <a:xfrm>
            <a:off x="694944" y="1939238"/>
            <a:ext cx="471106" cy="475488"/>
          </a:xfrm>
          <a:prstGeom prst="ellipse">
            <a:avLst/>
          </a:prstGeom>
          <a:solidFill>
            <a:srgbClr val="1859B6"/>
          </a:solidFill>
          <a:ln w="15875">
            <a:solidFill>
              <a:srgbClr val="FFFFFF"/>
            </a:solidFill>
            <a:prstDash val="solid"/>
          </a:ln>
        </p:spPr>
        <p:txBody>
          <a:bodyPr/>
          <a:lstStyle/>
          <a:p>
            <a:endParaRPr/>
          </a:p>
        </p:txBody>
      </p:sp>
      <p:sp>
        <p:nvSpPr>
          <p:cNvPr id="8" name="Text 6"/>
          <p:cNvSpPr/>
          <p:nvPr/>
        </p:nvSpPr>
        <p:spPr>
          <a:xfrm>
            <a:off x="694944" y="1939238"/>
            <a:ext cx="471106" cy="475488"/>
          </a:xfrm>
          <a:prstGeom prst="rect">
            <a:avLst/>
          </a:prstGeom>
          <a:noFill/>
          <a:ln/>
        </p:spPr>
        <p:txBody>
          <a:bodyPr wrap="square" lIns="0" tIns="0" rIns="0" bIns="0" rtlCol="0" anchor="ctr"/>
          <a:lstStyle/>
          <a:p>
            <a:pPr algn="ctr"/>
            <a:r>
              <a:rPr sz="1500" b="1">
                <a:solidFill>
                  <a:srgbClr val="FFFFFF"/>
                </a:solidFill>
                <a:latin typeface="Aptos"/>
              </a:rPr>
              <a:t>1</a:t>
            </a:r>
          </a:p>
        </p:txBody>
      </p:sp>
      <p:sp>
        <p:nvSpPr>
          <p:cNvPr id="9" name="Shape 7"/>
          <p:cNvSpPr/>
          <p:nvPr/>
        </p:nvSpPr>
        <p:spPr>
          <a:xfrm>
            <a:off x="1371600" y="1866086"/>
            <a:ext cx="9920397" cy="621792"/>
          </a:xfrm>
          <a:prstGeom prst="roundRect">
            <a:avLst>
              <a:gd name="adj" fmla="val 11765"/>
            </a:avLst>
          </a:prstGeom>
          <a:solidFill>
            <a:srgbClr val="FCFCFD"/>
          </a:solidFill>
          <a:ln w="12700">
            <a:solidFill>
              <a:srgbClr val="D2D8E0"/>
            </a:solidFill>
            <a:prstDash val="solid"/>
          </a:ln>
        </p:spPr>
        <p:txBody>
          <a:bodyPr/>
          <a:lstStyle/>
          <a:p>
            <a:endParaRPr/>
          </a:p>
        </p:txBody>
      </p:sp>
      <p:sp>
        <p:nvSpPr>
          <p:cNvPr id="10" name="Text 8"/>
          <p:cNvSpPr/>
          <p:nvPr/>
        </p:nvSpPr>
        <p:spPr>
          <a:xfrm>
            <a:off x="1417320" y="1866086"/>
            <a:ext cx="9829800" cy="621792"/>
          </a:xfrm>
          <a:prstGeom prst="rect">
            <a:avLst/>
          </a:prstGeom>
          <a:noFill/>
          <a:ln/>
        </p:spPr>
        <p:txBody>
          <a:bodyPr wrap="square" lIns="0" tIns="0" rIns="0" bIns="0" rtlCol="0" anchor="ctr">
            <a:normAutofit/>
          </a:bodyPr>
          <a:lstStyle/>
          <a:p>
            <a:r>
              <a:rPr lang="en-US" sz="1600" b="1" i="1" dirty="0">
                <a:latin typeface="Inter" panose="020B0502030000000004" pitchFamily="34" charset="0"/>
                <a:ea typeface="Inter" panose="020B0502030000000004" pitchFamily="34" charset="0"/>
              </a:rPr>
              <a:t>Why did the scales stop functioning?</a:t>
            </a:r>
          </a:p>
          <a:p>
            <a:r>
              <a:rPr lang="en-US" sz="1400" b="0" dirty="0">
                <a:solidFill>
                  <a:srgbClr val="182333"/>
                </a:solidFill>
                <a:latin typeface="Aptos" pitchFamily="34" charset="0"/>
                <a:ea typeface="Inter" pitchFamily="34" charset="-122"/>
                <a:cs typeface="Inter" pitchFamily="34" charset="-120"/>
              </a:rPr>
              <a:t>Corner-load / linearity performance failed because the weighing mechanism became mechanically misaligned or deformed.</a:t>
            </a:r>
            <a:endParaRPr lang="en-US" sz="900" dirty="0"/>
          </a:p>
        </p:txBody>
      </p:sp>
      <p:sp>
        <p:nvSpPr>
          <p:cNvPr id="11" name="Shape 9"/>
          <p:cNvSpPr/>
          <p:nvPr/>
        </p:nvSpPr>
        <p:spPr>
          <a:xfrm>
            <a:off x="932688" y="2414726"/>
            <a:ext cx="0" cy="256032"/>
          </a:xfrm>
          <a:prstGeom prst="line">
            <a:avLst/>
          </a:prstGeom>
          <a:noFill/>
          <a:ln w="15875">
            <a:solidFill>
              <a:srgbClr val="BEC6D0"/>
            </a:solidFill>
            <a:prstDash val="solid"/>
            <a:headEnd type="none"/>
            <a:tailEnd type="triangle"/>
          </a:ln>
        </p:spPr>
        <p:txBody>
          <a:bodyPr/>
          <a:lstStyle/>
          <a:p>
            <a:endParaRPr/>
          </a:p>
        </p:txBody>
      </p:sp>
      <p:sp>
        <p:nvSpPr>
          <p:cNvPr id="12" name="Shape 10"/>
          <p:cNvSpPr/>
          <p:nvPr/>
        </p:nvSpPr>
        <p:spPr>
          <a:xfrm>
            <a:off x="694944" y="2670758"/>
            <a:ext cx="471106" cy="475488"/>
          </a:xfrm>
          <a:prstGeom prst="ellipse">
            <a:avLst/>
          </a:prstGeom>
          <a:solidFill>
            <a:srgbClr val="1859B6"/>
          </a:solidFill>
          <a:ln w="15875">
            <a:solidFill>
              <a:srgbClr val="FFFFFF"/>
            </a:solidFill>
            <a:prstDash val="solid"/>
          </a:ln>
        </p:spPr>
        <p:txBody>
          <a:bodyPr/>
          <a:lstStyle/>
          <a:p>
            <a:endParaRPr/>
          </a:p>
        </p:txBody>
      </p:sp>
      <p:sp>
        <p:nvSpPr>
          <p:cNvPr id="13" name="Text 11"/>
          <p:cNvSpPr/>
          <p:nvPr/>
        </p:nvSpPr>
        <p:spPr>
          <a:xfrm>
            <a:off x="694944" y="2670758"/>
            <a:ext cx="471106" cy="475488"/>
          </a:xfrm>
          <a:prstGeom prst="rect">
            <a:avLst/>
          </a:prstGeom>
          <a:noFill/>
          <a:ln/>
        </p:spPr>
        <p:txBody>
          <a:bodyPr wrap="square" lIns="0" tIns="0" rIns="0" bIns="0" rtlCol="0" anchor="ctr"/>
          <a:lstStyle/>
          <a:p>
            <a:pPr algn="ctr"/>
            <a:r>
              <a:rPr sz="1500" b="1">
                <a:solidFill>
                  <a:srgbClr val="FFFFFF"/>
                </a:solidFill>
                <a:latin typeface="Aptos"/>
              </a:rPr>
              <a:t>2</a:t>
            </a:r>
          </a:p>
        </p:txBody>
      </p:sp>
      <p:sp>
        <p:nvSpPr>
          <p:cNvPr id="14" name="Shape 12"/>
          <p:cNvSpPr/>
          <p:nvPr/>
        </p:nvSpPr>
        <p:spPr>
          <a:xfrm>
            <a:off x="1371600" y="2597606"/>
            <a:ext cx="9920397" cy="621792"/>
          </a:xfrm>
          <a:prstGeom prst="roundRect">
            <a:avLst>
              <a:gd name="adj" fmla="val 11765"/>
            </a:avLst>
          </a:prstGeom>
          <a:solidFill>
            <a:srgbClr val="FCFCFD"/>
          </a:solidFill>
          <a:ln w="12700">
            <a:solidFill>
              <a:srgbClr val="D2D8E0"/>
            </a:solidFill>
            <a:prstDash val="solid"/>
          </a:ln>
        </p:spPr>
        <p:txBody>
          <a:bodyPr/>
          <a:lstStyle/>
          <a:p>
            <a:endParaRPr/>
          </a:p>
        </p:txBody>
      </p:sp>
      <p:sp>
        <p:nvSpPr>
          <p:cNvPr id="15" name="Text 13"/>
          <p:cNvSpPr/>
          <p:nvPr/>
        </p:nvSpPr>
        <p:spPr>
          <a:xfrm>
            <a:off x="1417320" y="2597606"/>
            <a:ext cx="9829800" cy="621792"/>
          </a:xfrm>
          <a:prstGeom prst="rect">
            <a:avLst/>
          </a:prstGeom>
          <a:noFill/>
          <a:ln/>
        </p:spPr>
        <p:txBody>
          <a:bodyPr wrap="square" lIns="0" tIns="0" rIns="0" bIns="0" rtlCol="0" anchor="ctr">
            <a:normAutofit/>
          </a:bodyPr>
          <a:lstStyle/>
          <a:p>
            <a:r>
              <a:rPr lang="en-US" sz="1600" b="1" i="1" dirty="0">
                <a:latin typeface="Inter" panose="020B0502030000000004" pitchFamily="34" charset="0"/>
                <a:ea typeface="Inter" panose="020B0502030000000004" pitchFamily="34" charset="0"/>
              </a:rPr>
              <a:t>Why did the weighing mechanism become deformed or misaligned?</a:t>
            </a:r>
            <a:endParaRPr lang="en-US" sz="1600" i="1" dirty="0">
              <a:latin typeface="Inter" panose="020B0502030000000004" pitchFamily="34" charset="0"/>
              <a:ea typeface="Inter" panose="020B0502030000000004" pitchFamily="34" charset="0"/>
            </a:endParaRPr>
          </a:p>
          <a:p>
            <a:pPr marL="0" indent="0" algn="l">
              <a:buNone/>
            </a:pPr>
            <a:r>
              <a:rPr lang="en-US" sz="1400" b="0" dirty="0">
                <a:solidFill>
                  <a:srgbClr val="182333"/>
                </a:solidFill>
                <a:latin typeface="Aptos" pitchFamily="34" charset="0"/>
                <a:ea typeface="Inter" pitchFamily="34" charset="-122"/>
                <a:cs typeface="Inter" pitchFamily="34" charset="-120"/>
              </a:rPr>
              <a:t>The mechanism was exposed to an abnormal external mechanical load.</a:t>
            </a:r>
            <a:endParaRPr lang="en-US" sz="900" dirty="0"/>
          </a:p>
        </p:txBody>
      </p:sp>
      <p:sp>
        <p:nvSpPr>
          <p:cNvPr id="16" name="Shape 14"/>
          <p:cNvSpPr/>
          <p:nvPr/>
        </p:nvSpPr>
        <p:spPr>
          <a:xfrm>
            <a:off x="932688" y="3146246"/>
            <a:ext cx="0" cy="256032"/>
          </a:xfrm>
          <a:prstGeom prst="line">
            <a:avLst/>
          </a:prstGeom>
          <a:noFill/>
          <a:ln w="15875">
            <a:solidFill>
              <a:srgbClr val="BEC6D0"/>
            </a:solidFill>
            <a:prstDash val="solid"/>
            <a:headEnd type="none"/>
            <a:tailEnd type="triangle"/>
          </a:ln>
        </p:spPr>
        <p:txBody>
          <a:bodyPr/>
          <a:lstStyle/>
          <a:p>
            <a:endParaRPr/>
          </a:p>
        </p:txBody>
      </p:sp>
      <p:sp>
        <p:nvSpPr>
          <p:cNvPr id="17" name="Shape 15"/>
          <p:cNvSpPr/>
          <p:nvPr/>
        </p:nvSpPr>
        <p:spPr>
          <a:xfrm>
            <a:off x="694944" y="3402278"/>
            <a:ext cx="471106" cy="475488"/>
          </a:xfrm>
          <a:prstGeom prst="ellipse">
            <a:avLst/>
          </a:prstGeom>
          <a:solidFill>
            <a:srgbClr val="D64949"/>
          </a:solidFill>
          <a:ln w="15875">
            <a:solidFill>
              <a:srgbClr val="FFFFFF"/>
            </a:solidFill>
            <a:prstDash val="solid"/>
          </a:ln>
        </p:spPr>
        <p:txBody>
          <a:bodyPr/>
          <a:lstStyle/>
          <a:p>
            <a:endParaRPr/>
          </a:p>
        </p:txBody>
      </p:sp>
      <p:sp>
        <p:nvSpPr>
          <p:cNvPr id="18" name="Text 16"/>
          <p:cNvSpPr/>
          <p:nvPr/>
        </p:nvSpPr>
        <p:spPr>
          <a:xfrm>
            <a:off x="694944" y="3402278"/>
            <a:ext cx="471106" cy="475488"/>
          </a:xfrm>
          <a:prstGeom prst="rect">
            <a:avLst/>
          </a:prstGeom>
          <a:noFill/>
          <a:ln/>
        </p:spPr>
        <p:txBody>
          <a:bodyPr wrap="square" lIns="0" tIns="0" rIns="0" bIns="0" rtlCol="0" anchor="ctr"/>
          <a:lstStyle/>
          <a:p>
            <a:pPr algn="ctr"/>
            <a:r>
              <a:rPr sz="1500" b="1">
                <a:solidFill>
                  <a:srgbClr val="FFFFFF"/>
                </a:solidFill>
                <a:latin typeface="Aptos"/>
              </a:rPr>
              <a:t>3</a:t>
            </a:r>
          </a:p>
        </p:txBody>
      </p:sp>
      <p:sp>
        <p:nvSpPr>
          <p:cNvPr id="19" name="Shape 17"/>
          <p:cNvSpPr/>
          <p:nvPr/>
        </p:nvSpPr>
        <p:spPr>
          <a:xfrm>
            <a:off x="1371600" y="3329126"/>
            <a:ext cx="9920397" cy="621792"/>
          </a:xfrm>
          <a:prstGeom prst="roundRect">
            <a:avLst>
              <a:gd name="adj" fmla="val 11765"/>
            </a:avLst>
          </a:prstGeom>
          <a:solidFill>
            <a:srgbClr val="FCFCFD"/>
          </a:solidFill>
          <a:ln w="12700">
            <a:solidFill>
              <a:srgbClr val="D2D8E0"/>
            </a:solidFill>
            <a:prstDash val="solid"/>
          </a:ln>
        </p:spPr>
        <p:txBody>
          <a:bodyPr/>
          <a:lstStyle/>
          <a:p>
            <a:endParaRPr/>
          </a:p>
        </p:txBody>
      </p:sp>
      <p:sp>
        <p:nvSpPr>
          <p:cNvPr id="20" name="Text 18"/>
          <p:cNvSpPr/>
          <p:nvPr/>
        </p:nvSpPr>
        <p:spPr>
          <a:xfrm>
            <a:off x="1417320" y="3329126"/>
            <a:ext cx="9829800" cy="621792"/>
          </a:xfrm>
          <a:prstGeom prst="rect">
            <a:avLst/>
          </a:prstGeom>
          <a:noFill/>
          <a:ln/>
        </p:spPr>
        <p:txBody>
          <a:bodyPr wrap="square" lIns="0" tIns="0" rIns="0" bIns="0" rtlCol="0" anchor="ctr">
            <a:normAutofit/>
          </a:bodyPr>
          <a:lstStyle/>
          <a:p>
            <a:r>
              <a:rPr lang="en-US" sz="1600" b="1" i="1" dirty="0">
                <a:latin typeface="Inter" panose="020B0502030000000004" pitchFamily="34" charset="0"/>
                <a:ea typeface="Inter" panose="020B0502030000000004" pitchFamily="34" charset="0"/>
              </a:rPr>
              <a:t>Why was abnormal external load applied to the weighing mechanism?</a:t>
            </a:r>
          </a:p>
          <a:p>
            <a:r>
              <a:rPr lang="en-US" sz="1400" b="0" dirty="0">
                <a:solidFill>
                  <a:srgbClr val="182333"/>
                </a:solidFill>
                <a:latin typeface="Aptos" pitchFamily="34" charset="0"/>
                <a:ea typeface="Inter" pitchFamily="34" charset="-122"/>
                <a:cs typeface="Inter" pitchFamily="34" charset="-120"/>
              </a:rPr>
              <a:t>Direct downward force was applied to the weigh pan during cleaning.</a:t>
            </a:r>
            <a:endParaRPr lang="en-US" sz="900" dirty="0"/>
          </a:p>
        </p:txBody>
      </p:sp>
      <p:sp>
        <p:nvSpPr>
          <p:cNvPr id="21" name="Shape 19"/>
          <p:cNvSpPr/>
          <p:nvPr/>
        </p:nvSpPr>
        <p:spPr>
          <a:xfrm>
            <a:off x="932688" y="3877766"/>
            <a:ext cx="0" cy="256032"/>
          </a:xfrm>
          <a:prstGeom prst="line">
            <a:avLst/>
          </a:prstGeom>
          <a:noFill/>
          <a:ln w="15875">
            <a:solidFill>
              <a:srgbClr val="BEC6D0"/>
            </a:solidFill>
            <a:prstDash val="solid"/>
            <a:headEnd type="none"/>
            <a:tailEnd type="triangle"/>
          </a:ln>
        </p:spPr>
        <p:txBody>
          <a:bodyPr/>
          <a:lstStyle/>
          <a:p>
            <a:endParaRPr/>
          </a:p>
        </p:txBody>
      </p:sp>
      <p:sp>
        <p:nvSpPr>
          <p:cNvPr id="22" name="Shape 20"/>
          <p:cNvSpPr/>
          <p:nvPr/>
        </p:nvSpPr>
        <p:spPr>
          <a:xfrm>
            <a:off x="694944" y="4133798"/>
            <a:ext cx="471106" cy="475488"/>
          </a:xfrm>
          <a:prstGeom prst="ellipse">
            <a:avLst/>
          </a:prstGeom>
          <a:solidFill>
            <a:srgbClr val="D64949"/>
          </a:solidFill>
          <a:ln w="15875">
            <a:solidFill>
              <a:srgbClr val="FFFFFF"/>
            </a:solidFill>
            <a:prstDash val="solid"/>
          </a:ln>
        </p:spPr>
        <p:txBody>
          <a:bodyPr/>
          <a:lstStyle/>
          <a:p>
            <a:endParaRPr/>
          </a:p>
        </p:txBody>
      </p:sp>
      <p:sp>
        <p:nvSpPr>
          <p:cNvPr id="23" name="Text 21"/>
          <p:cNvSpPr/>
          <p:nvPr/>
        </p:nvSpPr>
        <p:spPr>
          <a:xfrm>
            <a:off x="694944" y="4133798"/>
            <a:ext cx="471106" cy="475488"/>
          </a:xfrm>
          <a:prstGeom prst="rect">
            <a:avLst/>
          </a:prstGeom>
          <a:noFill/>
          <a:ln/>
        </p:spPr>
        <p:txBody>
          <a:bodyPr wrap="square" lIns="0" tIns="0" rIns="0" bIns="0" rtlCol="0" anchor="ctr"/>
          <a:lstStyle/>
          <a:p>
            <a:pPr algn="ctr"/>
            <a:r>
              <a:rPr sz="1500" b="1">
                <a:solidFill>
                  <a:srgbClr val="FFFFFF"/>
                </a:solidFill>
                <a:latin typeface="Aptos"/>
              </a:rPr>
              <a:t>4</a:t>
            </a:r>
          </a:p>
        </p:txBody>
      </p:sp>
      <p:sp>
        <p:nvSpPr>
          <p:cNvPr id="24" name="Shape 22"/>
          <p:cNvSpPr/>
          <p:nvPr/>
        </p:nvSpPr>
        <p:spPr>
          <a:xfrm>
            <a:off x="1371600" y="4060646"/>
            <a:ext cx="9920397" cy="621792"/>
          </a:xfrm>
          <a:prstGeom prst="roundRect">
            <a:avLst>
              <a:gd name="adj" fmla="val 11765"/>
            </a:avLst>
          </a:prstGeom>
          <a:solidFill>
            <a:srgbClr val="FCFCFD"/>
          </a:solidFill>
          <a:ln w="12700">
            <a:solidFill>
              <a:srgbClr val="D2D8E0"/>
            </a:solidFill>
            <a:prstDash val="solid"/>
          </a:ln>
        </p:spPr>
        <p:txBody>
          <a:bodyPr/>
          <a:lstStyle/>
          <a:p>
            <a:endParaRPr sz="1600"/>
          </a:p>
        </p:txBody>
      </p:sp>
      <p:sp>
        <p:nvSpPr>
          <p:cNvPr id="25" name="Text 23"/>
          <p:cNvSpPr/>
          <p:nvPr/>
        </p:nvSpPr>
        <p:spPr>
          <a:xfrm>
            <a:off x="1417320" y="4060646"/>
            <a:ext cx="9829800" cy="621792"/>
          </a:xfrm>
          <a:prstGeom prst="rect">
            <a:avLst/>
          </a:prstGeom>
          <a:noFill/>
          <a:ln/>
        </p:spPr>
        <p:txBody>
          <a:bodyPr wrap="square" lIns="0" tIns="0" rIns="0" bIns="0" rtlCol="0" anchor="ctr">
            <a:normAutofit/>
          </a:bodyPr>
          <a:lstStyle/>
          <a:p>
            <a:r>
              <a:rPr lang="en-US" sz="1600" b="1" i="1" dirty="0">
                <a:latin typeface="Inter" panose="020B0502030000000004" pitchFamily="34" charset="0"/>
                <a:ea typeface="Inter" panose="020B0502030000000004" pitchFamily="34" charset="0"/>
              </a:rPr>
              <a:t>Why was the weigh pan manually restrained during cleaning?</a:t>
            </a:r>
          </a:p>
          <a:p>
            <a:r>
              <a:rPr lang="en-US" sz="1400" b="0" dirty="0">
                <a:solidFill>
                  <a:srgbClr val="182333"/>
                </a:solidFill>
                <a:latin typeface="Aptos" pitchFamily="34" charset="0"/>
                <a:ea typeface="Inter" pitchFamily="34" charset="-122"/>
                <a:cs typeface="Inter" pitchFamily="34" charset="-120"/>
              </a:rPr>
              <a:t>The pan was manually restrained / held as part of the cleaning behavior.</a:t>
            </a:r>
            <a:endParaRPr lang="en-US" sz="900" dirty="0"/>
          </a:p>
        </p:txBody>
      </p:sp>
      <p:sp>
        <p:nvSpPr>
          <p:cNvPr id="26" name="Shape 24"/>
          <p:cNvSpPr/>
          <p:nvPr/>
        </p:nvSpPr>
        <p:spPr>
          <a:xfrm>
            <a:off x="932688" y="4609286"/>
            <a:ext cx="0" cy="256032"/>
          </a:xfrm>
          <a:prstGeom prst="line">
            <a:avLst/>
          </a:prstGeom>
          <a:noFill/>
          <a:ln w="15875">
            <a:solidFill>
              <a:srgbClr val="BEC6D0"/>
            </a:solidFill>
            <a:prstDash val="solid"/>
            <a:headEnd type="none"/>
            <a:tailEnd type="triangle"/>
          </a:ln>
        </p:spPr>
        <p:txBody>
          <a:bodyPr/>
          <a:lstStyle/>
          <a:p>
            <a:endParaRPr/>
          </a:p>
        </p:txBody>
      </p:sp>
      <p:sp>
        <p:nvSpPr>
          <p:cNvPr id="27" name="Shape 25"/>
          <p:cNvSpPr/>
          <p:nvPr/>
        </p:nvSpPr>
        <p:spPr>
          <a:xfrm>
            <a:off x="694944" y="4865318"/>
            <a:ext cx="471106" cy="475488"/>
          </a:xfrm>
          <a:prstGeom prst="ellipse">
            <a:avLst/>
          </a:prstGeom>
          <a:solidFill>
            <a:srgbClr val="082140"/>
          </a:solidFill>
          <a:ln w="15875">
            <a:solidFill>
              <a:srgbClr val="FFFFFF"/>
            </a:solidFill>
            <a:prstDash val="solid"/>
          </a:ln>
        </p:spPr>
        <p:txBody>
          <a:bodyPr/>
          <a:lstStyle/>
          <a:p>
            <a:endParaRPr/>
          </a:p>
        </p:txBody>
      </p:sp>
      <p:sp>
        <p:nvSpPr>
          <p:cNvPr id="28" name="Text 26"/>
          <p:cNvSpPr/>
          <p:nvPr/>
        </p:nvSpPr>
        <p:spPr>
          <a:xfrm>
            <a:off x="694944" y="4865318"/>
            <a:ext cx="471106" cy="475488"/>
          </a:xfrm>
          <a:prstGeom prst="rect">
            <a:avLst/>
          </a:prstGeom>
          <a:noFill/>
          <a:ln/>
        </p:spPr>
        <p:txBody>
          <a:bodyPr wrap="square" lIns="0" tIns="0" rIns="0" bIns="0" rtlCol="0" anchor="ctr"/>
          <a:lstStyle/>
          <a:p>
            <a:pPr algn="ctr"/>
            <a:r>
              <a:rPr sz="1500" b="1">
                <a:solidFill>
                  <a:srgbClr val="FFFFFF"/>
                </a:solidFill>
                <a:latin typeface="Aptos"/>
              </a:rPr>
              <a:t>5</a:t>
            </a:r>
          </a:p>
        </p:txBody>
      </p:sp>
      <p:sp>
        <p:nvSpPr>
          <p:cNvPr id="29" name="Shape 27"/>
          <p:cNvSpPr/>
          <p:nvPr/>
        </p:nvSpPr>
        <p:spPr>
          <a:xfrm>
            <a:off x="1371600" y="4792165"/>
            <a:ext cx="9920397" cy="797751"/>
          </a:xfrm>
          <a:prstGeom prst="roundRect">
            <a:avLst>
              <a:gd name="adj" fmla="val 11765"/>
            </a:avLst>
          </a:prstGeom>
          <a:solidFill>
            <a:srgbClr val="ECF3FB"/>
          </a:solidFill>
          <a:ln w="12700">
            <a:solidFill>
              <a:srgbClr val="B2C9E3"/>
            </a:solidFill>
            <a:prstDash val="solid"/>
          </a:ln>
        </p:spPr>
        <p:txBody>
          <a:bodyPr/>
          <a:lstStyle/>
          <a:p>
            <a:endParaRPr sz="1600" dirty="0"/>
          </a:p>
        </p:txBody>
      </p:sp>
      <p:sp>
        <p:nvSpPr>
          <p:cNvPr id="30" name="Text 28"/>
          <p:cNvSpPr/>
          <p:nvPr/>
        </p:nvSpPr>
        <p:spPr>
          <a:xfrm>
            <a:off x="1417320" y="4792165"/>
            <a:ext cx="9829800" cy="797751"/>
          </a:xfrm>
          <a:prstGeom prst="rect">
            <a:avLst/>
          </a:prstGeom>
          <a:noFill/>
          <a:ln/>
        </p:spPr>
        <p:txBody>
          <a:bodyPr wrap="square" lIns="0" tIns="0" rIns="0" bIns="0" rtlCol="0" anchor="ctr">
            <a:normAutofit/>
          </a:bodyPr>
          <a:lstStyle/>
          <a:p>
            <a:r>
              <a:rPr lang="en-US" sz="1600" b="1" i="1" dirty="0">
                <a:latin typeface="Inter" panose="020B0502030000000004" pitchFamily="34" charset="0"/>
                <a:ea typeface="Inter" panose="020B0502030000000004" pitchFamily="34" charset="0"/>
              </a:rPr>
              <a:t>Why did the existing documentation and training fail to prevent this?</a:t>
            </a:r>
            <a:endParaRPr lang="en-US" sz="1600" i="1" dirty="0">
              <a:latin typeface="Inter" panose="020B0502030000000004" pitchFamily="34" charset="0"/>
              <a:ea typeface="Inter" panose="020B0502030000000004" pitchFamily="34" charset="0"/>
            </a:endParaRPr>
          </a:p>
          <a:p>
            <a:r>
              <a:rPr lang="en-US" sz="1200" dirty="0">
                <a:solidFill>
                  <a:srgbClr val="182333"/>
                </a:solidFill>
                <a:latin typeface="Aptos" panose="020B0004020202020204" pitchFamily="34" charset="0"/>
              </a:rPr>
              <a:t>Existing handling controls and training did not consistently prevent direct loading of the weigh pan because the cleaning procedure wording was not explicit enough and did not emphasize pan removal as well as training did not fully address the specific handling risk.</a:t>
            </a:r>
            <a:endParaRPr lang="en-US" sz="800" dirty="0">
              <a:solidFill>
                <a:srgbClr val="182333"/>
              </a:solidFill>
              <a:latin typeface="Aptos" panose="020B0004020202020204" pitchFamily="34" charset="0"/>
            </a:endParaRPr>
          </a:p>
        </p:txBody>
      </p:sp>
      <p:sp>
        <p:nvSpPr>
          <p:cNvPr id="31" name="Shape 29"/>
          <p:cNvSpPr/>
          <p:nvPr/>
        </p:nvSpPr>
        <p:spPr>
          <a:xfrm>
            <a:off x="694944" y="5821150"/>
            <a:ext cx="10780776" cy="566928"/>
          </a:xfrm>
          <a:prstGeom prst="roundRect">
            <a:avLst>
              <a:gd name="adj" fmla="val 21053"/>
            </a:avLst>
          </a:prstGeom>
          <a:solidFill>
            <a:srgbClr val="0E2136"/>
          </a:solidFill>
          <a:ln w="10160">
            <a:solidFill>
              <a:srgbClr val="0E2136"/>
            </a:solidFill>
            <a:prstDash val="solid"/>
          </a:ln>
        </p:spPr>
        <p:txBody>
          <a:bodyPr/>
          <a:lstStyle/>
          <a:p>
            <a:endParaRPr/>
          </a:p>
        </p:txBody>
      </p:sp>
      <p:sp>
        <p:nvSpPr>
          <p:cNvPr id="32" name="Text 30"/>
          <p:cNvSpPr/>
          <p:nvPr/>
        </p:nvSpPr>
        <p:spPr>
          <a:xfrm>
            <a:off x="882396" y="5967454"/>
            <a:ext cx="10405872" cy="256032"/>
          </a:xfrm>
          <a:prstGeom prst="rect">
            <a:avLst/>
          </a:prstGeom>
          <a:noFill/>
          <a:ln/>
        </p:spPr>
        <p:txBody>
          <a:bodyPr wrap="square" lIns="0" tIns="0" rIns="0" bIns="0" rtlCol="0" anchor="ctr">
            <a:normAutofit fontScale="85000" lnSpcReduction="10000"/>
          </a:bodyPr>
          <a:lstStyle/>
          <a:p>
            <a:pPr marL="0" indent="0" algn="ctr">
              <a:buNone/>
            </a:pPr>
            <a:r>
              <a:rPr lang="en-US" sz="1400" b="1" dirty="0">
                <a:solidFill>
                  <a:srgbClr val="FFFFFF"/>
                </a:solidFill>
                <a:latin typeface="Aptos" pitchFamily="34" charset="0"/>
                <a:ea typeface="Inter" pitchFamily="34" charset="-122"/>
                <a:cs typeface="Inter" pitchFamily="34" charset="-120"/>
              </a:rPr>
              <a:t>The system-level failure is not “an operator mistake”; it is an ineffective control that allowed the same fragile-component loading behavior to recur.</a:t>
            </a:r>
            <a:endParaRPr lang="en-US" sz="840" dirty="0"/>
          </a:p>
        </p:txBody>
      </p:sp>
      <p:sp>
        <p:nvSpPr>
          <p:cNvPr id="2" name="Slide Number Placeholder 0"/>
          <p:cNvSpPr>
            <a:spLocks noGrp="1"/>
          </p:cNvSpPr>
          <p:nvPr>
            <p:ph type="sldNum" sz="quarter" idx="4294967295"/>
          </p:nvPr>
        </p:nvSpPr>
        <p:spPr>
          <a:xfrm>
            <a:off x="11247120" y="6419088"/>
            <a:ext cx="457200" cy="201168"/>
          </a:xfrm>
          <a:prstGeom prst="rect">
            <a:avLst/>
          </a:prstGeom>
          <a:extLst>
            <a:ext uri="{C572A759-6A51-4108-AA02-DFA0A04FC94B}">
              <ma14:wrappingTextBoxFlag xmlns="" xmlns:ma14="http://schemas.microsoft.com/office/mac/drawingml/2011/main" val="0"/>
            </a:ext>
          </a:extLst>
        </p:spPr>
        <p:txBody>
          <a:bodyPr lIns="0" tIns="0" rIns="0" bIns="0"/>
          <a:lstStyle>
            <a:lvl1pPr>
              <a:defRPr sz="700">
                <a:solidFill>
                  <a:srgbClr val="89929D"/>
                </a:solidFill>
                <a:latin typeface="Inter"/>
                <a:ea typeface="Inter"/>
                <a:cs typeface="Inter"/>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566928" y="850392"/>
            <a:ext cx="10972800" cy="566928"/>
          </a:xfrm>
          <a:prstGeom prst="rect">
            <a:avLst/>
          </a:prstGeom>
          <a:noFill/>
          <a:ln/>
        </p:spPr>
        <p:txBody>
          <a:bodyPr wrap="square" lIns="0" tIns="0" rIns="0" bIns="0" rtlCol="0" anchor="ctr">
            <a:normAutofit/>
          </a:bodyPr>
          <a:lstStyle/>
          <a:p>
            <a:pPr marL="0" indent="0">
              <a:buNone/>
            </a:pPr>
            <a:r>
              <a:rPr lang="en-US" sz="2750" b="1" spc="-150" dirty="0">
                <a:solidFill>
                  <a:srgbClr val="0C1B2A"/>
                </a:solidFill>
                <a:latin typeface="Inter Display" pitchFamily="34" charset="0"/>
                <a:ea typeface="Inter Display" pitchFamily="34" charset="-122"/>
                <a:cs typeface="Inter Display" pitchFamily="34" charset="-120"/>
              </a:rPr>
              <a:t>Ineffective control of weigh-pan handling during cleaning</a:t>
            </a:r>
            <a:endParaRPr lang="en-US" sz="2750" spc="-150" dirty="0"/>
          </a:p>
        </p:txBody>
      </p:sp>
      <p:sp>
        <p:nvSpPr>
          <p:cNvPr id="6" name="Text 4"/>
          <p:cNvSpPr/>
          <p:nvPr/>
        </p:nvSpPr>
        <p:spPr>
          <a:xfrm>
            <a:off x="585216" y="1435608"/>
            <a:ext cx="10789920" cy="329184"/>
          </a:xfrm>
          <a:prstGeom prst="rect">
            <a:avLst/>
          </a:prstGeom>
          <a:noFill/>
          <a:ln/>
        </p:spPr>
        <p:txBody>
          <a:bodyPr wrap="square" lIns="0" tIns="0" rIns="0" bIns="0" rtlCol="0" anchor="ctr">
            <a:normAutofit/>
          </a:bodyPr>
          <a:lstStyle/>
          <a:p>
            <a:pPr marL="0" indent="0">
              <a:buNone/>
            </a:pPr>
            <a:r>
              <a:rPr lang="en-US" sz="1180" dirty="0">
                <a:solidFill>
                  <a:srgbClr val="1554A9"/>
                </a:solidFill>
                <a:latin typeface="Inter" pitchFamily="34" charset="0"/>
                <a:ea typeface="Inter" pitchFamily="34" charset="-122"/>
                <a:cs typeface="Inter" pitchFamily="34" charset="-120"/>
              </a:rPr>
              <a:t>Repeated direct loading of the fragile pan provides the clearest supported path to mechanical deformation / misalignment and corner-load failure.</a:t>
            </a:r>
            <a:endParaRPr lang="en-US" sz="1180" dirty="0"/>
          </a:p>
        </p:txBody>
      </p:sp>
      <p:sp>
        <p:nvSpPr>
          <p:cNvPr id="7" name="Shape 5"/>
          <p:cNvSpPr/>
          <p:nvPr/>
        </p:nvSpPr>
        <p:spPr>
          <a:xfrm>
            <a:off x="566928" y="1847088"/>
            <a:ext cx="11045952" cy="0"/>
          </a:xfrm>
          <a:prstGeom prst="line">
            <a:avLst/>
          </a:prstGeom>
          <a:noFill/>
          <a:ln w="10160">
            <a:solidFill>
              <a:srgbClr val="D7DAD8"/>
            </a:solidFill>
            <a:prstDash val="solid"/>
          </a:ln>
        </p:spPr>
        <p:txBody>
          <a:bodyPr/>
          <a:lstStyle/>
          <a:p>
            <a:endParaRPr/>
          </a:p>
        </p:txBody>
      </p:sp>
      <p:sp>
        <p:nvSpPr>
          <p:cNvPr id="8" name="Shape 6"/>
          <p:cNvSpPr/>
          <p:nvPr/>
        </p:nvSpPr>
        <p:spPr>
          <a:xfrm>
            <a:off x="658368" y="2194560"/>
            <a:ext cx="5440680" cy="3520440"/>
          </a:xfrm>
          <a:prstGeom prst="roundRect">
            <a:avLst>
              <a:gd name="adj" fmla="val 2078"/>
            </a:avLst>
          </a:prstGeom>
          <a:solidFill>
            <a:srgbClr val="0E2136"/>
          </a:solidFill>
          <a:ln w="10160">
            <a:solidFill>
              <a:srgbClr val="0E2136"/>
            </a:solidFill>
            <a:prstDash val="solid"/>
          </a:ln>
          <a:effectLst>
            <a:outerShdw algn="bl" rotWithShape="0">
              <a:srgbClr val="73808C">
                <a:alpha val="0"/>
              </a:srgbClr>
            </a:outerShdw>
          </a:effectLst>
        </p:spPr>
        <p:txBody>
          <a:bodyPr/>
          <a:lstStyle/>
          <a:p>
            <a:endParaRPr/>
          </a:p>
        </p:txBody>
      </p:sp>
      <p:sp>
        <p:nvSpPr>
          <p:cNvPr id="9" name="Shape 7"/>
          <p:cNvSpPr/>
          <p:nvPr/>
        </p:nvSpPr>
        <p:spPr>
          <a:xfrm>
            <a:off x="797857" y="2423160"/>
            <a:ext cx="2535131" cy="493776"/>
          </a:xfrm>
          <a:prstGeom prst="roundRect">
            <a:avLst>
              <a:gd name="adj" fmla="val 25000"/>
            </a:avLst>
          </a:prstGeom>
          <a:solidFill>
            <a:schemeClr val="bg1"/>
          </a:solidFill>
          <a:ln w="12700">
            <a:solidFill>
              <a:srgbClr val="244365">
                <a:alpha val="0"/>
              </a:srgbClr>
            </a:solidFill>
            <a:prstDash val="solid"/>
          </a:ln>
        </p:spPr>
        <p:txBody>
          <a:bodyPr/>
          <a:lstStyle/>
          <a:p>
            <a:endParaRPr/>
          </a:p>
        </p:txBody>
      </p:sp>
      <p:sp>
        <p:nvSpPr>
          <p:cNvPr id="10" name="Text 8"/>
          <p:cNvSpPr/>
          <p:nvPr/>
        </p:nvSpPr>
        <p:spPr>
          <a:xfrm>
            <a:off x="1068726" y="2514600"/>
            <a:ext cx="1993392" cy="292608"/>
          </a:xfrm>
          <a:prstGeom prst="rect">
            <a:avLst/>
          </a:prstGeom>
          <a:noFill/>
          <a:ln/>
        </p:spPr>
        <p:txBody>
          <a:bodyPr wrap="square" lIns="0" tIns="0" rIns="0" bIns="0" rtlCol="0" anchor="ctr">
            <a:normAutofit/>
          </a:bodyPr>
          <a:lstStyle/>
          <a:p>
            <a:pPr marL="0" indent="0" algn="ctr">
              <a:buNone/>
            </a:pPr>
            <a:r>
              <a:rPr lang="en-US" sz="1200" b="1" dirty="0">
                <a:latin typeface="Inter" pitchFamily="34" charset="0"/>
                <a:ea typeface="Inter" pitchFamily="34" charset="-122"/>
                <a:cs typeface="Inter" pitchFamily="34" charset="-120"/>
              </a:rPr>
              <a:t>Most Probable Root Cause</a:t>
            </a:r>
            <a:endParaRPr lang="en-US" sz="1200" b="1" dirty="0"/>
          </a:p>
        </p:txBody>
      </p:sp>
      <p:sp>
        <p:nvSpPr>
          <p:cNvPr id="11" name="Text 9"/>
          <p:cNvSpPr/>
          <p:nvPr/>
        </p:nvSpPr>
        <p:spPr>
          <a:xfrm>
            <a:off x="932688" y="3026664"/>
            <a:ext cx="4800600" cy="1024128"/>
          </a:xfrm>
          <a:prstGeom prst="rect">
            <a:avLst/>
          </a:prstGeom>
          <a:noFill/>
          <a:ln/>
        </p:spPr>
        <p:txBody>
          <a:bodyPr wrap="square" lIns="0" tIns="0" rIns="0" bIns="0" rtlCol="0" anchor="ctr">
            <a:normAutofit fontScale="92500" lnSpcReduction="20000"/>
          </a:bodyPr>
          <a:lstStyle/>
          <a:p>
            <a:r>
              <a:rPr lang="en-US" sz="2000" dirty="0">
                <a:solidFill>
                  <a:schemeClr val="bg1"/>
                </a:solidFill>
              </a:rPr>
              <a:t>Direct manual force was repeatedly applied to the weigh pan during cleaning; The existing handling controls and training did not consistently prevent recurrence.</a:t>
            </a:r>
            <a:endParaRPr lang="en-US" sz="1920" dirty="0">
              <a:solidFill>
                <a:schemeClr val="bg1"/>
              </a:solidFill>
            </a:endParaRPr>
          </a:p>
        </p:txBody>
      </p:sp>
      <p:sp>
        <p:nvSpPr>
          <p:cNvPr id="12" name="Text 10"/>
          <p:cNvSpPr/>
          <p:nvPr/>
        </p:nvSpPr>
        <p:spPr>
          <a:xfrm>
            <a:off x="932688" y="4370832"/>
            <a:ext cx="2039112" cy="137160"/>
          </a:xfrm>
          <a:prstGeom prst="rect">
            <a:avLst/>
          </a:prstGeom>
          <a:noFill/>
          <a:ln/>
        </p:spPr>
        <p:txBody>
          <a:bodyPr wrap="square" lIns="0" tIns="0" rIns="0" bIns="0" rtlCol="0" anchor="ctr"/>
          <a:lstStyle/>
          <a:p>
            <a:pPr marL="0" indent="0">
              <a:buNone/>
            </a:pPr>
            <a:r>
              <a:rPr lang="en-US" sz="1000" b="1" kern="0" spc="50" dirty="0">
                <a:solidFill>
                  <a:srgbClr val="8CC1FF"/>
                </a:solidFill>
                <a:latin typeface="Inter" pitchFamily="34" charset="0"/>
                <a:ea typeface="Inter" pitchFamily="34" charset="-122"/>
                <a:cs typeface="Inter" pitchFamily="34" charset="-120"/>
              </a:rPr>
              <a:t>Mechanical consequence</a:t>
            </a:r>
            <a:endParaRPr lang="en-US" sz="1000" spc="50" dirty="0"/>
          </a:p>
        </p:txBody>
      </p:sp>
      <p:sp>
        <p:nvSpPr>
          <p:cNvPr id="13" name="Text 11"/>
          <p:cNvSpPr/>
          <p:nvPr/>
        </p:nvSpPr>
        <p:spPr>
          <a:xfrm>
            <a:off x="932688" y="4663440"/>
            <a:ext cx="4599432" cy="493776"/>
          </a:xfrm>
          <a:prstGeom prst="rect">
            <a:avLst/>
          </a:prstGeom>
          <a:noFill/>
          <a:ln/>
        </p:spPr>
        <p:txBody>
          <a:bodyPr wrap="square" lIns="0" tIns="0" rIns="0" bIns="0" rtlCol="0" anchor="ctr">
            <a:normAutofit/>
          </a:bodyPr>
          <a:lstStyle/>
          <a:p>
            <a:pPr marL="0" indent="0">
              <a:buNone/>
            </a:pPr>
            <a:r>
              <a:rPr lang="en-US" sz="1140" b="1" dirty="0">
                <a:solidFill>
                  <a:srgbClr val="FFFFFF"/>
                </a:solidFill>
                <a:latin typeface="Inter" pitchFamily="34" charset="0"/>
                <a:ea typeface="Inter" pitchFamily="34" charset="-122"/>
                <a:cs typeface="Inter" pitchFamily="34" charset="-120"/>
              </a:rPr>
              <a:t>External load → deformation / misalignment → corner-load and/or linearity failure</a:t>
            </a:r>
            <a:endParaRPr lang="en-US" sz="1140" dirty="0"/>
          </a:p>
        </p:txBody>
      </p:sp>
      <p:sp>
        <p:nvSpPr>
          <p:cNvPr id="14" name="Shape 12"/>
          <p:cNvSpPr/>
          <p:nvPr/>
        </p:nvSpPr>
        <p:spPr>
          <a:xfrm>
            <a:off x="6364224" y="2194560"/>
            <a:ext cx="5175504" cy="3520440"/>
          </a:xfrm>
          <a:prstGeom prst="roundRect">
            <a:avLst>
              <a:gd name="adj" fmla="val 2078"/>
            </a:avLst>
          </a:prstGeom>
          <a:solidFill>
            <a:srgbClr val="FFFFFF"/>
          </a:solidFill>
          <a:ln w="10160">
            <a:solidFill>
              <a:srgbClr val="E0E3E5"/>
            </a:solidFill>
            <a:prstDash val="solid"/>
          </a:ln>
          <a:effectLst>
            <a:outerShdw algn="bl" rotWithShape="0">
              <a:srgbClr val="73808C">
                <a:alpha val="0"/>
              </a:srgbClr>
            </a:outerShdw>
          </a:effectLst>
        </p:spPr>
        <p:txBody>
          <a:bodyPr/>
          <a:lstStyle/>
          <a:p>
            <a:endParaRPr sz="2400"/>
          </a:p>
        </p:txBody>
      </p:sp>
      <p:sp>
        <p:nvSpPr>
          <p:cNvPr id="15" name="Text 13"/>
          <p:cNvSpPr/>
          <p:nvPr/>
        </p:nvSpPr>
        <p:spPr>
          <a:xfrm>
            <a:off x="6638544" y="2532888"/>
            <a:ext cx="4389120" cy="274320"/>
          </a:xfrm>
          <a:prstGeom prst="rect">
            <a:avLst/>
          </a:prstGeom>
          <a:noFill/>
          <a:ln/>
        </p:spPr>
        <p:txBody>
          <a:bodyPr wrap="square" lIns="0" tIns="0" rIns="0" bIns="0" rtlCol="0" anchor="ctr"/>
          <a:lstStyle/>
          <a:p>
            <a:pPr marL="0" indent="0">
              <a:buNone/>
            </a:pPr>
            <a:r>
              <a:rPr lang="en-US" b="1" dirty="0">
                <a:solidFill>
                  <a:srgbClr val="0C1B2A"/>
                </a:solidFill>
                <a:latin typeface="Inter Display" pitchFamily="34" charset="0"/>
                <a:ea typeface="Inter Display" pitchFamily="34" charset="-122"/>
                <a:cs typeface="Inter Display" pitchFamily="34" charset="-120"/>
              </a:rPr>
              <a:t>Why this outranks the alternatives</a:t>
            </a:r>
            <a:endParaRPr lang="en-US" dirty="0"/>
          </a:p>
        </p:txBody>
      </p:sp>
      <p:sp>
        <p:nvSpPr>
          <p:cNvPr id="16" name="Text 14"/>
          <p:cNvSpPr/>
          <p:nvPr/>
        </p:nvSpPr>
        <p:spPr>
          <a:xfrm>
            <a:off x="6638544" y="3108960"/>
            <a:ext cx="932688" cy="146304"/>
          </a:xfrm>
          <a:prstGeom prst="rect">
            <a:avLst/>
          </a:prstGeom>
          <a:noFill/>
          <a:ln/>
        </p:spPr>
        <p:txBody>
          <a:bodyPr wrap="square" lIns="0" tIns="0" rIns="0" bIns="0" rtlCol="0" anchor="ctr"/>
          <a:lstStyle/>
          <a:p>
            <a:pPr marL="0" indent="0">
              <a:buNone/>
            </a:pPr>
            <a:r>
              <a:rPr lang="en-US" sz="900" b="1" kern="0" spc="60" dirty="0">
                <a:solidFill>
                  <a:srgbClr val="C94848"/>
                </a:solidFill>
                <a:latin typeface="Inter" pitchFamily="34" charset="0"/>
                <a:ea typeface="Inter" pitchFamily="34" charset="-122"/>
                <a:cs typeface="Inter" pitchFamily="34" charset="-120"/>
              </a:rPr>
              <a:t>REPEATED</a:t>
            </a:r>
            <a:endParaRPr lang="en-US" sz="900" dirty="0"/>
          </a:p>
        </p:txBody>
      </p:sp>
      <p:sp>
        <p:nvSpPr>
          <p:cNvPr id="17" name="Text 15"/>
          <p:cNvSpPr/>
          <p:nvPr/>
        </p:nvSpPr>
        <p:spPr>
          <a:xfrm>
            <a:off x="7699248" y="3047885"/>
            <a:ext cx="3438144" cy="292608"/>
          </a:xfrm>
          <a:prstGeom prst="rect">
            <a:avLst/>
          </a:prstGeom>
          <a:noFill/>
          <a:ln/>
        </p:spPr>
        <p:txBody>
          <a:bodyPr wrap="square" lIns="0" tIns="0" rIns="0" bIns="0" rtlCol="0" anchor="ctr">
            <a:normAutofit/>
          </a:bodyPr>
          <a:lstStyle/>
          <a:p>
            <a:pPr marL="0" indent="0">
              <a:buNone/>
            </a:pPr>
            <a:r>
              <a:rPr lang="en-US" sz="1050" b="1" dirty="0">
                <a:solidFill>
                  <a:srgbClr val="0C1B2A"/>
                </a:solidFill>
                <a:latin typeface="Inter" pitchFamily="34" charset="0"/>
                <a:ea typeface="Inter" pitchFamily="34" charset="-122"/>
                <a:cs typeface="Inter" pitchFamily="34" charset="-120"/>
              </a:rPr>
              <a:t>Direct load observed 17-AUG and 20-AUG</a:t>
            </a:r>
            <a:endParaRPr lang="en-US" sz="1050" dirty="0"/>
          </a:p>
        </p:txBody>
      </p:sp>
      <p:sp>
        <p:nvSpPr>
          <p:cNvPr id="18" name="Shape 16"/>
          <p:cNvSpPr/>
          <p:nvPr/>
        </p:nvSpPr>
        <p:spPr>
          <a:xfrm>
            <a:off x="6638544" y="3474720"/>
            <a:ext cx="4407408" cy="0"/>
          </a:xfrm>
          <a:prstGeom prst="line">
            <a:avLst/>
          </a:prstGeom>
          <a:noFill/>
          <a:ln w="8890">
            <a:solidFill>
              <a:srgbClr val="E3E6E8"/>
            </a:solidFill>
            <a:prstDash val="solid"/>
          </a:ln>
        </p:spPr>
        <p:txBody>
          <a:bodyPr/>
          <a:lstStyle/>
          <a:p>
            <a:endParaRPr sz="2400"/>
          </a:p>
        </p:txBody>
      </p:sp>
      <p:sp>
        <p:nvSpPr>
          <p:cNvPr id="19" name="Text 17"/>
          <p:cNvSpPr/>
          <p:nvPr/>
        </p:nvSpPr>
        <p:spPr>
          <a:xfrm>
            <a:off x="6638544" y="3675888"/>
            <a:ext cx="932688" cy="146304"/>
          </a:xfrm>
          <a:prstGeom prst="rect">
            <a:avLst/>
          </a:prstGeom>
          <a:noFill/>
          <a:ln/>
        </p:spPr>
        <p:txBody>
          <a:bodyPr wrap="square" lIns="0" tIns="0" rIns="0" bIns="0" rtlCol="0" anchor="ctr"/>
          <a:lstStyle/>
          <a:p>
            <a:pPr marL="0" indent="0">
              <a:buNone/>
            </a:pPr>
            <a:r>
              <a:rPr lang="en-US" sz="900" b="1" kern="0" spc="60" dirty="0">
                <a:solidFill>
                  <a:srgbClr val="C94848"/>
                </a:solidFill>
                <a:latin typeface="Inter" pitchFamily="34" charset="0"/>
                <a:ea typeface="Inter" pitchFamily="34" charset="-122"/>
                <a:cs typeface="Inter" pitchFamily="34" charset="-120"/>
              </a:rPr>
              <a:t>HISTORICAL</a:t>
            </a:r>
            <a:endParaRPr lang="en-US" sz="900" dirty="0"/>
          </a:p>
        </p:txBody>
      </p:sp>
      <p:sp>
        <p:nvSpPr>
          <p:cNvPr id="20" name="Text 18"/>
          <p:cNvSpPr/>
          <p:nvPr/>
        </p:nvSpPr>
        <p:spPr>
          <a:xfrm>
            <a:off x="7699248" y="3614813"/>
            <a:ext cx="3438144" cy="292608"/>
          </a:xfrm>
          <a:prstGeom prst="rect">
            <a:avLst/>
          </a:prstGeom>
          <a:noFill/>
          <a:ln/>
        </p:spPr>
        <p:txBody>
          <a:bodyPr wrap="square" lIns="0" tIns="0" rIns="0" bIns="0" rtlCol="0" anchor="ctr">
            <a:normAutofit/>
          </a:bodyPr>
          <a:lstStyle/>
          <a:p>
            <a:pPr marL="0" indent="0">
              <a:buNone/>
            </a:pPr>
            <a:r>
              <a:rPr lang="en-US" sz="1050" dirty="0">
                <a:solidFill>
                  <a:srgbClr val="0C1B2A"/>
                </a:solidFill>
                <a:latin typeface="Inter" pitchFamily="34" charset="0"/>
                <a:ea typeface="Inter" pitchFamily="34" charset="-122"/>
                <a:cs typeface="Inter" pitchFamily="34" charset="-120"/>
              </a:rPr>
              <a:t>2023 event links pan pressing with mechanical failure</a:t>
            </a:r>
            <a:endParaRPr lang="en-US" sz="1050" dirty="0"/>
          </a:p>
        </p:txBody>
      </p:sp>
      <p:sp>
        <p:nvSpPr>
          <p:cNvPr id="21" name="Shape 19"/>
          <p:cNvSpPr/>
          <p:nvPr/>
        </p:nvSpPr>
        <p:spPr>
          <a:xfrm>
            <a:off x="6638544" y="4041648"/>
            <a:ext cx="4407408" cy="0"/>
          </a:xfrm>
          <a:prstGeom prst="line">
            <a:avLst/>
          </a:prstGeom>
          <a:noFill/>
          <a:ln w="8890">
            <a:solidFill>
              <a:srgbClr val="E3E6E8"/>
            </a:solidFill>
            <a:prstDash val="solid"/>
          </a:ln>
        </p:spPr>
        <p:txBody>
          <a:bodyPr/>
          <a:lstStyle/>
          <a:p>
            <a:endParaRPr sz="2400"/>
          </a:p>
        </p:txBody>
      </p:sp>
      <p:sp>
        <p:nvSpPr>
          <p:cNvPr id="22" name="Text 20"/>
          <p:cNvSpPr/>
          <p:nvPr/>
        </p:nvSpPr>
        <p:spPr>
          <a:xfrm>
            <a:off x="6638544" y="4242816"/>
            <a:ext cx="932688" cy="146304"/>
          </a:xfrm>
          <a:prstGeom prst="rect">
            <a:avLst/>
          </a:prstGeom>
          <a:noFill/>
          <a:ln/>
        </p:spPr>
        <p:txBody>
          <a:bodyPr wrap="square" lIns="0" tIns="0" rIns="0" bIns="0" rtlCol="0" anchor="ctr"/>
          <a:lstStyle/>
          <a:p>
            <a:pPr marL="0" indent="0">
              <a:buNone/>
            </a:pPr>
            <a:r>
              <a:rPr lang="en-US" sz="900" b="1" kern="0" spc="60" dirty="0">
                <a:solidFill>
                  <a:srgbClr val="0D4C9D"/>
                </a:solidFill>
                <a:latin typeface="Inter" pitchFamily="34" charset="0"/>
                <a:ea typeface="Inter" pitchFamily="34" charset="-122"/>
                <a:cs typeface="Inter" pitchFamily="34" charset="-120"/>
              </a:rPr>
              <a:t>PHYSICAL</a:t>
            </a:r>
            <a:endParaRPr lang="en-US" sz="900" dirty="0"/>
          </a:p>
        </p:txBody>
      </p:sp>
      <p:sp>
        <p:nvSpPr>
          <p:cNvPr id="23" name="Text 21"/>
          <p:cNvSpPr/>
          <p:nvPr/>
        </p:nvSpPr>
        <p:spPr>
          <a:xfrm>
            <a:off x="7699248" y="4181741"/>
            <a:ext cx="3438144" cy="292608"/>
          </a:xfrm>
          <a:prstGeom prst="rect">
            <a:avLst/>
          </a:prstGeom>
          <a:noFill/>
          <a:ln/>
        </p:spPr>
        <p:txBody>
          <a:bodyPr wrap="square" lIns="0" tIns="0" rIns="0" bIns="0" rtlCol="0" anchor="ctr">
            <a:normAutofit/>
          </a:bodyPr>
          <a:lstStyle/>
          <a:p>
            <a:pPr marL="0" indent="0">
              <a:buNone/>
            </a:pPr>
            <a:r>
              <a:rPr lang="en-US" sz="1050" dirty="0">
                <a:solidFill>
                  <a:srgbClr val="0C1B2A"/>
                </a:solidFill>
                <a:latin typeface="Inter" pitchFamily="34" charset="0"/>
                <a:ea typeface="Inter" pitchFamily="34" charset="-122"/>
                <a:cs typeface="Inter" pitchFamily="34" charset="-120"/>
              </a:rPr>
              <a:t>██████ and ██████ show mechanical abnormalities</a:t>
            </a:r>
            <a:endParaRPr lang="en-US" sz="1050" dirty="0"/>
          </a:p>
        </p:txBody>
      </p:sp>
      <p:sp>
        <p:nvSpPr>
          <p:cNvPr id="24" name="Shape 22"/>
          <p:cNvSpPr/>
          <p:nvPr/>
        </p:nvSpPr>
        <p:spPr>
          <a:xfrm>
            <a:off x="6638544" y="4608576"/>
            <a:ext cx="4407408" cy="0"/>
          </a:xfrm>
          <a:prstGeom prst="line">
            <a:avLst/>
          </a:prstGeom>
          <a:noFill/>
          <a:ln w="8890">
            <a:solidFill>
              <a:srgbClr val="E3E6E8"/>
            </a:solidFill>
            <a:prstDash val="solid"/>
          </a:ln>
        </p:spPr>
        <p:txBody>
          <a:bodyPr/>
          <a:lstStyle/>
          <a:p>
            <a:endParaRPr sz="2400"/>
          </a:p>
        </p:txBody>
      </p:sp>
      <p:sp>
        <p:nvSpPr>
          <p:cNvPr id="25" name="Text 23"/>
          <p:cNvSpPr/>
          <p:nvPr/>
        </p:nvSpPr>
        <p:spPr>
          <a:xfrm>
            <a:off x="6638544" y="4809744"/>
            <a:ext cx="932688" cy="146304"/>
          </a:xfrm>
          <a:prstGeom prst="rect">
            <a:avLst/>
          </a:prstGeom>
          <a:noFill/>
          <a:ln/>
        </p:spPr>
        <p:txBody>
          <a:bodyPr wrap="square" lIns="0" tIns="0" rIns="0" bIns="0" rtlCol="0" anchor="ctr"/>
          <a:lstStyle/>
          <a:p>
            <a:pPr marL="0" indent="0">
              <a:buNone/>
            </a:pPr>
            <a:r>
              <a:rPr lang="en-US" sz="900" b="1" kern="0" spc="60" dirty="0">
                <a:solidFill>
                  <a:srgbClr val="0D4C9D"/>
                </a:solidFill>
                <a:latin typeface="Inter" pitchFamily="34" charset="0"/>
                <a:ea typeface="Inter" pitchFamily="34" charset="-122"/>
                <a:cs typeface="Inter" pitchFamily="34" charset="-120"/>
              </a:rPr>
              <a:t>COMPARISON</a:t>
            </a:r>
            <a:endParaRPr lang="en-US" sz="900" dirty="0"/>
          </a:p>
        </p:txBody>
      </p:sp>
      <p:sp>
        <p:nvSpPr>
          <p:cNvPr id="26" name="Text 24"/>
          <p:cNvSpPr/>
          <p:nvPr/>
        </p:nvSpPr>
        <p:spPr>
          <a:xfrm>
            <a:off x="7699248" y="4748669"/>
            <a:ext cx="3438144" cy="292608"/>
          </a:xfrm>
          <a:prstGeom prst="rect">
            <a:avLst/>
          </a:prstGeom>
          <a:noFill/>
          <a:ln/>
        </p:spPr>
        <p:txBody>
          <a:bodyPr wrap="square" lIns="0" tIns="0" rIns="0" bIns="0" rtlCol="0" anchor="ctr">
            <a:normAutofit lnSpcReduction="10000"/>
          </a:bodyPr>
          <a:lstStyle/>
          <a:p>
            <a:pPr marL="0" indent="0">
              <a:buNone/>
            </a:pPr>
            <a:r>
              <a:rPr lang="en-US" sz="1050" dirty="0">
                <a:solidFill>
                  <a:srgbClr val="0C1B2A"/>
                </a:solidFill>
                <a:latin typeface="Inter" pitchFamily="34" charset="0"/>
                <a:ea typeface="Inter" pitchFamily="34" charset="-122"/>
                <a:cs typeface="Inter" pitchFamily="34" charset="-120"/>
              </a:rPr>
              <a:t>3rd shift and PD demonstrate no-contact cleaning is feasible</a:t>
            </a:r>
            <a:endParaRPr lang="en-US" sz="1050" dirty="0"/>
          </a:p>
        </p:txBody>
      </p:sp>
      <p:sp>
        <p:nvSpPr>
          <p:cNvPr id="27" name="Shape 25"/>
          <p:cNvSpPr/>
          <p:nvPr/>
        </p:nvSpPr>
        <p:spPr>
          <a:xfrm>
            <a:off x="658368" y="5943600"/>
            <a:ext cx="10881360" cy="292608"/>
          </a:xfrm>
          <a:prstGeom prst="roundRect">
            <a:avLst>
              <a:gd name="adj" fmla="val 25000"/>
            </a:avLst>
          </a:prstGeom>
          <a:solidFill>
            <a:srgbClr val="F6EBD9"/>
          </a:solidFill>
          <a:ln w="10160">
            <a:solidFill>
              <a:srgbClr val="F6EBD9"/>
            </a:solidFill>
            <a:prstDash val="solid"/>
          </a:ln>
        </p:spPr>
        <p:txBody>
          <a:bodyPr/>
          <a:lstStyle/>
          <a:p>
            <a:endParaRPr/>
          </a:p>
        </p:txBody>
      </p:sp>
      <p:sp>
        <p:nvSpPr>
          <p:cNvPr id="28" name="Text 26"/>
          <p:cNvSpPr/>
          <p:nvPr/>
        </p:nvSpPr>
        <p:spPr>
          <a:xfrm>
            <a:off x="704088" y="5943600"/>
            <a:ext cx="10789920" cy="292608"/>
          </a:xfrm>
          <a:prstGeom prst="rect">
            <a:avLst/>
          </a:prstGeom>
          <a:noFill/>
          <a:ln/>
        </p:spPr>
        <p:txBody>
          <a:bodyPr wrap="square" lIns="0" tIns="0" rIns="0" bIns="0" rtlCol="0" anchor="ctr">
            <a:normAutofit/>
          </a:bodyPr>
          <a:lstStyle/>
          <a:p>
            <a:pPr marL="0" indent="0" algn="ctr">
              <a:buNone/>
            </a:pPr>
            <a:r>
              <a:rPr lang="en-US" sz="790" b="1" dirty="0">
                <a:solidFill>
                  <a:srgbClr val="74511C"/>
                </a:solidFill>
                <a:latin typeface="Inter" pitchFamily="34" charset="0"/>
                <a:ea typeface="Inter" pitchFamily="34" charset="-122"/>
                <a:cs typeface="Inter" pitchFamily="34" charset="-120"/>
              </a:rPr>
              <a:t>Secondary contributors remain relevant: puck/prodger alignment, powder buildup, Size 4 slippage/vibration, and vacuum/static behavior should continue to be controlled.</a:t>
            </a:r>
            <a:endParaRPr lang="en-US" sz="790" dirty="0"/>
          </a:p>
        </p:txBody>
      </p:sp>
      <p:sp>
        <p:nvSpPr>
          <p:cNvPr id="2" name="Slide Number Placeholder 0"/>
          <p:cNvSpPr>
            <a:spLocks noGrp="1"/>
          </p:cNvSpPr>
          <p:nvPr>
            <p:ph type="sldNum" sz="quarter" idx="4294967295"/>
          </p:nvPr>
        </p:nvSpPr>
        <p:spPr>
          <a:xfrm>
            <a:off x="11247120" y="6419088"/>
            <a:ext cx="457200" cy="201168"/>
          </a:xfrm>
          <a:prstGeom prst="rect">
            <a:avLst/>
          </a:prstGeom>
          <a:extLst>
            <a:ext uri="{C572A759-6A51-4108-AA02-DFA0A04FC94B}">
              <ma14:wrappingTextBoxFlag xmlns="" xmlns:ma14="http://schemas.microsoft.com/office/mac/drawingml/2011/main" val="0"/>
            </a:ext>
          </a:extLst>
        </p:spPr>
        <p:txBody>
          <a:bodyPr lIns="0" tIns="0" rIns="0" bIns="0"/>
          <a:lstStyle>
            <a:lvl1pPr>
              <a:defRPr sz="700">
                <a:solidFill>
                  <a:srgbClr val="89929D"/>
                </a:solidFill>
                <a:latin typeface="Inter"/>
                <a:ea typeface="Inter"/>
                <a:cs typeface="Inter"/>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566927" y="850392"/>
            <a:ext cx="12467585" cy="566928"/>
          </a:xfrm>
          <a:prstGeom prst="rect">
            <a:avLst/>
          </a:prstGeom>
          <a:noFill/>
          <a:ln/>
        </p:spPr>
        <p:txBody>
          <a:bodyPr wrap="square" lIns="0" tIns="0" rIns="0" bIns="0" rtlCol="0" anchor="ctr">
            <a:normAutofit/>
          </a:bodyPr>
          <a:lstStyle/>
          <a:p>
            <a:pPr marL="0" indent="0">
              <a:buNone/>
            </a:pPr>
            <a:r>
              <a:rPr lang="en-US" sz="2750" b="1" spc="-90" dirty="0">
                <a:solidFill>
                  <a:srgbClr val="0C1B2A"/>
                </a:solidFill>
                <a:latin typeface="Inter Display" pitchFamily="34" charset="0"/>
                <a:ea typeface="Inter Display" pitchFamily="34" charset="-122"/>
                <a:cs typeface="Inter Display" pitchFamily="34" charset="-120"/>
              </a:rPr>
              <a:t>Observations and Corrective actions</a:t>
            </a:r>
            <a:endParaRPr lang="en-US" sz="2750" spc="-90" dirty="0"/>
          </a:p>
        </p:txBody>
      </p:sp>
      <p:sp>
        <p:nvSpPr>
          <p:cNvPr id="6" name="Shape 4"/>
          <p:cNvSpPr/>
          <p:nvPr/>
        </p:nvSpPr>
        <p:spPr>
          <a:xfrm>
            <a:off x="566928" y="1500651"/>
            <a:ext cx="11045952" cy="0"/>
          </a:xfrm>
          <a:prstGeom prst="line">
            <a:avLst/>
          </a:prstGeom>
          <a:noFill/>
          <a:ln w="10160">
            <a:solidFill>
              <a:srgbClr val="D7DAD8"/>
            </a:solidFill>
            <a:prstDash val="solid"/>
          </a:ln>
        </p:spPr>
        <p:txBody>
          <a:bodyPr/>
          <a:lstStyle/>
          <a:p>
            <a:endParaRPr/>
          </a:p>
        </p:txBody>
      </p:sp>
      <p:sp>
        <p:nvSpPr>
          <p:cNvPr id="7" name="Shape 5"/>
          <p:cNvSpPr/>
          <p:nvPr/>
        </p:nvSpPr>
        <p:spPr>
          <a:xfrm>
            <a:off x="658368" y="1848123"/>
            <a:ext cx="3127248" cy="3703320"/>
          </a:xfrm>
          <a:prstGeom prst="roundRect">
            <a:avLst>
              <a:gd name="adj" fmla="val 2339"/>
            </a:avLst>
          </a:prstGeom>
          <a:solidFill>
            <a:srgbClr val="FFFFFF"/>
          </a:solidFill>
          <a:ln w="10160">
            <a:solidFill>
              <a:srgbClr val="E0E3E5"/>
            </a:solidFill>
            <a:prstDash val="solid"/>
          </a:ln>
          <a:effectLst>
            <a:outerShdw algn="bl" rotWithShape="0">
              <a:srgbClr val="73808C">
                <a:alpha val="0"/>
              </a:srgbClr>
            </a:outerShdw>
          </a:effectLst>
        </p:spPr>
        <p:txBody>
          <a:bodyPr/>
          <a:lstStyle/>
          <a:p>
            <a:endParaRPr sz="2800"/>
          </a:p>
        </p:txBody>
      </p:sp>
      <p:sp>
        <p:nvSpPr>
          <p:cNvPr id="8" name="Shape 6"/>
          <p:cNvSpPr/>
          <p:nvPr/>
        </p:nvSpPr>
        <p:spPr>
          <a:xfrm>
            <a:off x="658368" y="1848123"/>
            <a:ext cx="3127248" cy="566928"/>
          </a:xfrm>
          <a:prstGeom prst="rect">
            <a:avLst/>
          </a:prstGeom>
          <a:solidFill>
            <a:srgbClr val="E4F0EA"/>
          </a:solidFill>
          <a:ln w="12700">
            <a:solidFill>
              <a:srgbClr val="E4F0EA"/>
            </a:solidFill>
            <a:prstDash val="solid"/>
          </a:ln>
        </p:spPr>
        <p:txBody>
          <a:bodyPr/>
          <a:lstStyle/>
          <a:p>
            <a:endParaRPr sz="2800"/>
          </a:p>
        </p:txBody>
      </p:sp>
      <p:sp>
        <p:nvSpPr>
          <p:cNvPr id="9" name="Text 7"/>
          <p:cNvSpPr/>
          <p:nvPr/>
        </p:nvSpPr>
        <p:spPr>
          <a:xfrm>
            <a:off x="704088" y="1848123"/>
            <a:ext cx="3035808" cy="566928"/>
          </a:xfrm>
          <a:prstGeom prst="rect">
            <a:avLst/>
          </a:prstGeom>
          <a:noFill/>
          <a:ln/>
        </p:spPr>
        <p:txBody>
          <a:bodyPr wrap="square" lIns="0" tIns="0" rIns="0" bIns="0" rtlCol="0" anchor="ctr"/>
          <a:lstStyle/>
          <a:p>
            <a:pPr marL="0" indent="0" algn="ctr">
              <a:buNone/>
            </a:pPr>
            <a:r>
              <a:rPr lang="en-US" sz="1000" b="1" kern="0" spc="70" dirty="0">
                <a:solidFill>
                  <a:srgbClr val="287A60"/>
                </a:solidFill>
                <a:latin typeface="Inter" pitchFamily="34" charset="0"/>
                <a:ea typeface="Inter" pitchFamily="34" charset="-122"/>
                <a:cs typeface="Inter" pitchFamily="34" charset="-120"/>
              </a:rPr>
              <a:t>OBSERVED / DOCUMENTED</a:t>
            </a:r>
            <a:endParaRPr lang="en-US" sz="1000" dirty="0"/>
          </a:p>
        </p:txBody>
      </p:sp>
      <p:sp>
        <p:nvSpPr>
          <p:cNvPr id="10" name="Shape 8"/>
          <p:cNvSpPr/>
          <p:nvPr/>
        </p:nvSpPr>
        <p:spPr>
          <a:xfrm>
            <a:off x="886968" y="2707659"/>
            <a:ext cx="73152" cy="73152"/>
          </a:xfrm>
          <a:prstGeom prst="ellipse">
            <a:avLst/>
          </a:prstGeom>
          <a:solidFill>
            <a:srgbClr val="287A60"/>
          </a:solidFill>
          <a:ln w="12700">
            <a:solidFill>
              <a:srgbClr val="287A60">
                <a:alpha val="0"/>
              </a:srgbClr>
            </a:solidFill>
            <a:prstDash val="solid"/>
          </a:ln>
        </p:spPr>
        <p:txBody>
          <a:bodyPr/>
          <a:lstStyle/>
          <a:p>
            <a:endParaRPr sz="2800"/>
          </a:p>
        </p:txBody>
      </p:sp>
      <p:sp>
        <p:nvSpPr>
          <p:cNvPr id="11" name="Text 9"/>
          <p:cNvSpPr/>
          <p:nvPr/>
        </p:nvSpPr>
        <p:spPr>
          <a:xfrm>
            <a:off x="1088136" y="2643651"/>
            <a:ext cx="2423160" cy="256032"/>
          </a:xfrm>
          <a:prstGeom prst="rect">
            <a:avLst/>
          </a:prstGeom>
          <a:noFill/>
          <a:ln/>
        </p:spPr>
        <p:txBody>
          <a:bodyPr wrap="square" lIns="0" tIns="0" rIns="0" bIns="0" rtlCol="0" anchor="ctr">
            <a:normAutofit/>
          </a:bodyPr>
          <a:lstStyle/>
          <a:p>
            <a:pPr marL="0" indent="0">
              <a:buNone/>
            </a:pPr>
            <a:r>
              <a:rPr lang="en-US" sz="1050" dirty="0">
                <a:solidFill>
                  <a:srgbClr val="0C1B2A"/>
                </a:solidFill>
                <a:latin typeface="Inter" pitchFamily="34" charset="0"/>
                <a:ea typeface="Inter" pitchFamily="34" charset="-122"/>
                <a:cs typeface="Inter" pitchFamily="34" charset="-120"/>
              </a:rPr>
              <a:t>Physical condition of failed balances</a:t>
            </a:r>
            <a:endParaRPr lang="en-US" sz="1050" dirty="0"/>
          </a:p>
        </p:txBody>
      </p:sp>
      <p:sp>
        <p:nvSpPr>
          <p:cNvPr id="12" name="Shape 10"/>
          <p:cNvSpPr/>
          <p:nvPr/>
        </p:nvSpPr>
        <p:spPr>
          <a:xfrm>
            <a:off x="886968" y="3146571"/>
            <a:ext cx="73152" cy="73152"/>
          </a:xfrm>
          <a:prstGeom prst="ellipse">
            <a:avLst/>
          </a:prstGeom>
          <a:solidFill>
            <a:srgbClr val="287A60"/>
          </a:solidFill>
          <a:ln w="12700">
            <a:solidFill>
              <a:srgbClr val="287A60">
                <a:alpha val="0"/>
              </a:srgbClr>
            </a:solidFill>
            <a:prstDash val="solid"/>
          </a:ln>
        </p:spPr>
        <p:txBody>
          <a:bodyPr/>
          <a:lstStyle/>
          <a:p>
            <a:endParaRPr sz="2800"/>
          </a:p>
        </p:txBody>
      </p:sp>
      <p:sp>
        <p:nvSpPr>
          <p:cNvPr id="13" name="Text 11"/>
          <p:cNvSpPr/>
          <p:nvPr/>
        </p:nvSpPr>
        <p:spPr>
          <a:xfrm>
            <a:off x="1088136" y="3082563"/>
            <a:ext cx="2423160" cy="256032"/>
          </a:xfrm>
          <a:prstGeom prst="rect">
            <a:avLst/>
          </a:prstGeom>
          <a:noFill/>
          <a:ln/>
        </p:spPr>
        <p:txBody>
          <a:bodyPr wrap="square" lIns="0" tIns="0" rIns="0" bIns="0" rtlCol="0" anchor="ctr">
            <a:normAutofit/>
          </a:bodyPr>
          <a:lstStyle/>
          <a:p>
            <a:pPr marL="0" indent="0">
              <a:buNone/>
            </a:pPr>
            <a:r>
              <a:rPr lang="en-US" sz="1050" dirty="0">
                <a:solidFill>
                  <a:srgbClr val="0C1B2A"/>
                </a:solidFill>
                <a:latin typeface="Inter" pitchFamily="34" charset="0"/>
                <a:ea typeface="Inter" pitchFamily="34" charset="-122"/>
                <a:cs typeface="Inter" pitchFamily="34" charset="-120"/>
              </a:rPr>
              <a:t>17 + 20 AUG direct pan loading</a:t>
            </a:r>
            <a:endParaRPr lang="en-US" sz="1050" dirty="0"/>
          </a:p>
        </p:txBody>
      </p:sp>
      <p:sp>
        <p:nvSpPr>
          <p:cNvPr id="14" name="Shape 12"/>
          <p:cNvSpPr/>
          <p:nvPr/>
        </p:nvSpPr>
        <p:spPr>
          <a:xfrm>
            <a:off x="886968" y="3585483"/>
            <a:ext cx="73152" cy="73152"/>
          </a:xfrm>
          <a:prstGeom prst="ellipse">
            <a:avLst/>
          </a:prstGeom>
          <a:solidFill>
            <a:srgbClr val="287A60"/>
          </a:solidFill>
          <a:ln w="12700">
            <a:solidFill>
              <a:srgbClr val="287A60">
                <a:alpha val="0"/>
              </a:srgbClr>
            </a:solidFill>
            <a:prstDash val="solid"/>
          </a:ln>
        </p:spPr>
        <p:txBody>
          <a:bodyPr/>
          <a:lstStyle/>
          <a:p>
            <a:endParaRPr sz="2800"/>
          </a:p>
        </p:txBody>
      </p:sp>
      <p:sp>
        <p:nvSpPr>
          <p:cNvPr id="15" name="Text 13"/>
          <p:cNvSpPr/>
          <p:nvPr/>
        </p:nvSpPr>
        <p:spPr>
          <a:xfrm>
            <a:off x="1088136" y="3521475"/>
            <a:ext cx="2423160" cy="256032"/>
          </a:xfrm>
          <a:prstGeom prst="rect">
            <a:avLst/>
          </a:prstGeom>
          <a:noFill/>
          <a:ln/>
        </p:spPr>
        <p:txBody>
          <a:bodyPr wrap="square" lIns="0" tIns="0" rIns="0" bIns="0" rtlCol="0" anchor="ctr">
            <a:normAutofit/>
          </a:bodyPr>
          <a:lstStyle/>
          <a:p>
            <a:pPr marL="0" indent="0">
              <a:buNone/>
            </a:pPr>
            <a:r>
              <a:rPr lang="en-US" sz="1050" dirty="0">
                <a:solidFill>
                  <a:srgbClr val="0C1B2A"/>
                </a:solidFill>
                <a:latin typeface="Inter" pitchFamily="34" charset="0"/>
                <a:ea typeface="Inter" pitchFamily="34" charset="-122"/>
                <a:cs typeface="Inter" pitchFamily="34" charset="-120"/>
              </a:rPr>
              <a:t>Powder buildup on pucks</a:t>
            </a:r>
            <a:endParaRPr lang="en-US" sz="1050" dirty="0"/>
          </a:p>
        </p:txBody>
      </p:sp>
      <p:sp>
        <p:nvSpPr>
          <p:cNvPr id="16" name="Shape 14"/>
          <p:cNvSpPr/>
          <p:nvPr/>
        </p:nvSpPr>
        <p:spPr>
          <a:xfrm>
            <a:off x="886968" y="4024395"/>
            <a:ext cx="73152" cy="73152"/>
          </a:xfrm>
          <a:prstGeom prst="ellipse">
            <a:avLst/>
          </a:prstGeom>
          <a:solidFill>
            <a:srgbClr val="287A60"/>
          </a:solidFill>
          <a:ln w="12700">
            <a:solidFill>
              <a:srgbClr val="287A60">
                <a:alpha val="0"/>
              </a:srgbClr>
            </a:solidFill>
            <a:prstDash val="solid"/>
          </a:ln>
        </p:spPr>
        <p:txBody>
          <a:bodyPr/>
          <a:lstStyle/>
          <a:p>
            <a:endParaRPr sz="2800"/>
          </a:p>
        </p:txBody>
      </p:sp>
      <p:sp>
        <p:nvSpPr>
          <p:cNvPr id="17" name="Text 15"/>
          <p:cNvSpPr/>
          <p:nvPr/>
        </p:nvSpPr>
        <p:spPr>
          <a:xfrm>
            <a:off x="1088136" y="3960387"/>
            <a:ext cx="2423160" cy="256032"/>
          </a:xfrm>
          <a:prstGeom prst="rect">
            <a:avLst/>
          </a:prstGeom>
          <a:noFill/>
          <a:ln/>
        </p:spPr>
        <p:txBody>
          <a:bodyPr wrap="square" lIns="0" tIns="0" rIns="0" bIns="0" rtlCol="0" anchor="ctr">
            <a:normAutofit/>
          </a:bodyPr>
          <a:lstStyle/>
          <a:p>
            <a:pPr marL="0" indent="0">
              <a:buNone/>
            </a:pPr>
            <a:r>
              <a:rPr lang="en-US" sz="1050" dirty="0">
                <a:solidFill>
                  <a:srgbClr val="0C1B2A"/>
                </a:solidFill>
                <a:latin typeface="Inter" pitchFamily="34" charset="0"/>
                <a:ea typeface="Inter" pitchFamily="34" charset="-122"/>
                <a:cs typeface="Inter" pitchFamily="34" charset="-120"/>
              </a:rPr>
              <a:t>31 AUG no-contact cleaning</a:t>
            </a:r>
            <a:endParaRPr lang="en-US" sz="1050" dirty="0"/>
          </a:p>
        </p:txBody>
      </p:sp>
      <p:sp>
        <p:nvSpPr>
          <p:cNvPr id="18" name="Shape 16"/>
          <p:cNvSpPr/>
          <p:nvPr/>
        </p:nvSpPr>
        <p:spPr>
          <a:xfrm>
            <a:off x="886968" y="4463307"/>
            <a:ext cx="73152" cy="73152"/>
          </a:xfrm>
          <a:prstGeom prst="ellipse">
            <a:avLst/>
          </a:prstGeom>
          <a:solidFill>
            <a:srgbClr val="287A60"/>
          </a:solidFill>
          <a:ln w="12700">
            <a:solidFill>
              <a:srgbClr val="287A60">
                <a:alpha val="0"/>
              </a:srgbClr>
            </a:solidFill>
            <a:prstDash val="solid"/>
          </a:ln>
        </p:spPr>
        <p:txBody>
          <a:bodyPr/>
          <a:lstStyle/>
          <a:p>
            <a:endParaRPr sz="2800"/>
          </a:p>
        </p:txBody>
      </p:sp>
      <p:sp>
        <p:nvSpPr>
          <p:cNvPr id="19" name="Text 17"/>
          <p:cNvSpPr/>
          <p:nvPr/>
        </p:nvSpPr>
        <p:spPr>
          <a:xfrm>
            <a:off x="1088136" y="4399299"/>
            <a:ext cx="2423160" cy="256032"/>
          </a:xfrm>
          <a:prstGeom prst="rect">
            <a:avLst/>
          </a:prstGeom>
          <a:noFill/>
          <a:ln/>
        </p:spPr>
        <p:txBody>
          <a:bodyPr wrap="square" lIns="0" tIns="0" rIns="0" bIns="0" rtlCol="0" anchor="ctr">
            <a:noAutofit/>
          </a:bodyPr>
          <a:lstStyle/>
          <a:p>
            <a:pPr marL="0" indent="0">
              <a:buNone/>
            </a:pPr>
            <a:r>
              <a:rPr lang="en-US" sz="1050" dirty="0">
                <a:solidFill>
                  <a:srgbClr val="0C1B2A"/>
                </a:solidFill>
                <a:latin typeface="Inter" pitchFamily="34" charset="0"/>
                <a:ea typeface="Inter" pitchFamily="34" charset="-122"/>
                <a:cs typeface="Inter" pitchFamily="34" charset="-120"/>
              </a:rPr>
              <a:t>PD pan-removal practice follows SOP and Weigh Pan removal</a:t>
            </a:r>
            <a:endParaRPr lang="en-US" sz="1050" dirty="0"/>
          </a:p>
        </p:txBody>
      </p:sp>
      <p:sp>
        <p:nvSpPr>
          <p:cNvPr id="20" name="Shape 18"/>
          <p:cNvSpPr/>
          <p:nvPr/>
        </p:nvSpPr>
        <p:spPr>
          <a:xfrm>
            <a:off x="886968" y="4902219"/>
            <a:ext cx="73152" cy="73152"/>
          </a:xfrm>
          <a:prstGeom prst="ellipse">
            <a:avLst/>
          </a:prstGeom>
          <a:solidFill>
            <a:srgbClr val="287A60"/>
          </a:solidFill>
          <a:ln w="12700">
            <a:solidFill>
              <a:srgbClr val="287A60">
                <a:alpha val="0"/>
              </a:srgbClr>
            </a:solidFill>
            <a:prstDash val="solid"/>
          </a:ln>
        </p:spPr>
        <p:txBody>
          <a:bodyPr/>
          <a:lstStyle/>
          <a:p>
            <a:endParaRPr sz="2800"/>
          </a:p>
        </p:txBody>
      </p:sp>
      <p:sp>
        <p:nvSpPr>
          <p:cNvPr id="21" name="Text 19"/>
          <p:cNvSpPr/>
          <p:nvPr/>
        </p:nvSpPr>
        <p:spPr>
          <a:xfrm>
            <a:off x="1088136" y="4838211"/>
            <a:ext cx="2423160" cy="256032"/>
          </a:xfrm>
          <a:prstGeom prst="rect">
            <a:avLst/>
          </a:prstGeom>
          <a:noFill/>
          <a:ln/>
        </p:spPr>
        <p:txBody>
          <a:bodyPr wrap="square" lIns="0" tIns="0" rIns="0" bIns="0" rtlCol="0" anchor="ctr">
            <a:normAutofit/>
          </a:bodyPr>
          <a:lstStyle/>
          <a:p>
            <a:pPr marL="0" indent="0">
              <a:buNone/>
            </a:pPr>
            <a:r>
              <a:rPr lang="en-US" sz="1050" dirty="0">
                <a:solidFill>
                  <a:srgbClr val="0C1B2A"/>
                </a:solidFill>
                <a:latin typeface="Inter" pitchFamily="34" charset="0"/>
                <a:ea typeface="Inter" pitchFamily="34" charset="-122"/>
                <a:cs typeface="Inter" pitchFamily="34" charset="-120"/>
              </a:rPr>
              <a:t>SOP-to-practice differences</a:t>
            </a:r>
            <a:endParaRPr lang="en-US" sz="1050" dirty="0"/>
          </a:p>
        </p:txBody>
      </p:sp>
      <p:sp>
        <p:nvSpPr>
          <p:cNvPr id="22" name="Shape 20"/>
          <p:cNvSpPr/>
          <p:nvPr/>
        </p:nvSpPr>
        <p:spPr>
          <a:xfrm>
            <a:off x="4078224" y="1848123"/>
            <a:ext cx="3127248" cy="3703320"/>
          </a:xfrm>
          <a:prstGeom prst="roundRect">
            <a:avLst>
              <a:gd name="adj" fmla="val 2339"/>
            </a:avLst>
          </a:prstGeom>
          <a:solidFill>
            <a:srgbClr val="FFFFFF"/>
          </a:solidFill>
          <a:ln w="10160">
            <a:solidFill>
              <a:srgbClr val="E0E3E5"/>
            </a:solidFill>
            <a:prstDash val="solid"/>
          </a:ln>
          <a:effectLst>
            <a:outerShdw algn="bl" rotWithShape="0">
              <a:srgbClr val="73808C">
                <a:alpha val="0"/>
              </a:srgbClr>
            </a:outerShdw>
          </a:effectLst>
        </p:spPr>
        <p:txBody>
          <a:bodyPr/>
          <a:lstStyle/>
          <a:p>
            <a:endParaRPr sz="2800"/>
          </a:p>
        </p:txBody>
      </p:sp>
      <p:sp>
        <p:nvSpPr>
          <p:cNvPr id="23" name="Shape 21"/>
          <p:cNvSpPr/>
          <p:nvPr/>
        </p:nvSpPr>
        <p:spPr>
          <a:xfrm>
            <a:off x="4078224" y="1848123"/>
            <a:ext cx="3127248" cy="566928"/>
          </a:xfrm>
          <a:prstGeom prst="rect">
            <a:avLst/>
          </a:prstGeom>
          <a:solidFill>
            <a:srgbClr val="DFEBFA"/>
          </a:solidFill>
          <a:ln w="12700">
            <a:solidFill>
              <a:srgbClr val="DFEBFA"/>
            </a:solidFill>
            <a:prstDash val="solid"/>
          </a:ln>
        </p:spPr>
        <p:txBody>
          <a:bodyPr/>
          <a:lstStyle/>
          <a:p>
            <a:endParaRPr sz="2800"/>
          </a:p>
        </p:txBody>
      </p:sp>
      <p:sp>
        <p:nvSpPr>
          <p:cNvPr id="24" name="Text 22"/>
          <p:cNvSpPr/>
          <p:nvPr/>
        </p:nvSpPr>
        <p:spPr>
          <a:xfrm>
            <a:off x="4123944" y="1848123"/>
            <a:ext cx="3035808" cy="566928"/>
          </a:xfrm>
          <a:prstGeom prst="rect">
            <a:avLst/>
          </a:prstGeom>
          <a:noFill/>
          <a:ln/>
        </p:spPr>
        <p:txBody>
          <a:bodyPr wrap="square" lIns="0" tIns="0" rIns="0" bIns="0" rtlCol="0" anchor="ctr"/>
          <a:lstStyle/>
          <a:p>
            <a:pPr marL="0" indent="0" algn="ctr">
              <a:buNone/>
            </a:pPr>
            <a:r>
              <a:rPr lang="en-US" sz="1000" b="1" kern="0" spc="70" dirty="0">
                <a:solidFill>
                  <a:srgbClr val="0D4C9D"/>
                </a:solidFill>
                <a:latin typeface="Inter" pitchFamily="34" charset="0"/>
                <a:ea typeface="Inter" pitchFamily="34" charset="-122"/>
                <a:cs typeface="Inter" pitchFamily="34" charset="-120"/>
              </a:rPr>
              <a:t>SUPPORTED INFERENCE</a:t>
            </a:r>
            <a:endParaRPr lang="en-US" sz="1000" dirty="0"/>
          </a:p>
        </p:txBody>
      </p:sp>
      <p:sp>
        <p:nvSpPr>
          <p:cNvPr id="25" name="Shape 23"/>
          <p:cNvSpPr/>
          <p:nvPr/>
        </p:nvSpPr>
        <p:spPr>
          <a:xfrm>
            <a:off x="4306824" y="2707659"/>
            <a:ext cx="73152" cy="73152"/>
          </a:xfrm>
          <a:prstGeom prst="ellipse">
            <a:avLst/>
          </a:prstGeom>
          <a:solidFill>
            <a:srgbClr val="0D4C9D"/>
          </a:solidFill>
          <a:ln w="12700">
            <a:solidFill>
              <a:srgbClr val="0D4C9D">
                <a:alpha val="0"/>
              </a:srgbClr>
            </a:solidFill>
            <a:prstDash val="solid"/>
          </a:ln>
        </p:spPr>
        <p:txBody>
          <a:bodyPr/>
          <a:lstStyle/>
          <a:p>
            <a:endParaRPr sz="2800"/>
          </a:p>
        </p:txBody>
      </p:sp>
      <p:sp>
        <p:nvSpPr>
          <p:cNvPr id="26" name="Text 24"/>
          <p:cNvSpPr/>
          <p:nvPr/>
        </p:nvSpPr>
        <p:spPr>
          <a:xfrm>
            <a:off x="4507992" y="2643651"/>
            <a:ext cx="2423160" cy="256032"/>
          </a:xfrm>
          <a:prstGeom prst="rect">
            <a:avLst/>
          </a:prstGeom>
          <a:noFill/>
          <a:ln/>
        </p:spPr>
        <p:txBody>
          <a:bodyPr wrap="square" lIns="0" tIns="0" rIns="0" bIns="0" rtlCol="0" anchor="ctr">
            <a:noAutofit/>
          </a:bodyPr>
          <a:lstStyle/>
          <a:p>
            <a:pPr marL="0" indent="0">
              <a:buNone/>
            </a:pPr>
            <a:r>
              <a:rPr lang="en-US" sz="1050" dirty="0">
                <a:solidFill>
                  <a:srgbClr val="0C1B2A"/>
                </a:solidFill>
                <a:latin typeface="Inter" pitchFamily="34" charset="0"/>
                <a:ea typeface="Inter" pitchFamily="34" charset="-122"/>
                <a:cs typeface="Inter" pitchFamily="34" charset="-120"/>
              </a:rPr>
              <a:t>Direct load transfers into weighing mechanism</a:t>
            </a:r>
            <a:endParaRPr lang="en-US" sz="1050" dirty="0"/>
          </a:p>
        </p:txBody>
      </p:sp>
      <p:sp>
        <p:nvSpPr>
          <p:cNvPr id="27" name="Shape 25"/>
          <p:cNvSpPr/>
          <p:nvPr/>
        </p:nvSpPr>
        <p:spPr>
          <a:xfrm>
            <a:off x="4306824" y="3146571"/>
            <a:ext cx="73152" cy="73152"/>
          </a:xfrm>
          <a:prstGeom prst="ellipse">
            <a:avLst/>
          </a:prstGeom>
          <a:solidFill>
            <a:srgbClr val="0D4C9D"/>
          </a:solidFill>
          <a:ln w="12700">
            <a:solidFill>
              <a:srgbClr val="0D4C9D">
                <a:alpha val="0"/>
              </a:srgbClr>
            </a:solidFill>
            <a:prstDash val="solid"/>
          </a:ln>
        </p:spPr>
        <p:txBody>
          <a:bodyPr/>
          <a:lstStyle/>
          <a:p>
            <a:endParaRPr sz="2800"/>
          </a:p>
        </p:txBody>
      </p:sp>
      <p:sp>
        <p:nvSpPr>
          <p:cNvPr id="28" name="Text 26"/>
          <p:cNvSpPr/>
          <p:nvPr/>
        </p:nvSpPr>
        <p:spPr>
          <a:xfrm>
            <a:off x="4507992" y="3082563"/>
            <a:ext cx="2423160" cy="256032"/>
          </a:xfrm>
          <a:prstGeom prst="rect">
            <a:avLst/>
          </a:prstGeom>
          <a:noFill/>
          <a:ln/>
        </p:spPr>
        <p:txBody>
          <a:bodyPr wrap="square" lIns="0" tIns="0" rIns="0" bIns="0" rtlCol="0" anchor="ctr">
            <a:noAutofit/>
          </a:bodyPr>
          <a:lstStyle/>
          <a:p>
            <a:pPr marL="0" indent="0">
              <a:buNone/>
            </a:pPr>
            <a:r>
              <a:rPr lang="en-US" sz="1050" dirty="0">
                <a:solidFill>
                  <a:srgbClr val="0C1B2A"/>
                </a:solidFill>
                <a:latin typeface="Inter" pitchFamily="34" charset="0"/>
                <a:ea typeface="Inter" pitchFamily="34" charset="-122"/>
                <a:cs typeface="Inter" pitchFamily="34" charset="-120"/>
              </a:rPr>
              <a:t>Powder can interfere with correct seating</a:t>
            </a:r>
            <a:endParaRPr lang="en-US" sz="1050" dirty="0"/>
          </a:p>
        </p:txBody>
      </p:sp>
      <p:sp>
        <p:nvSpPr>
          <p:cNvPr id="29" name="Shape 27"/>
          <p:cNvSpPr/>
          <p:nvPr/>
        </p:nvSpPr>
        <p:spPr>
          <a:xfrm>
            <a:off x="4306824" y="3585483"/>
            <a:ext cx="73152" cy="73152"/>
          </a:xfrm>
          <a:prstGeom prst="ellipse">
            <a:avLst/>
          </a:prstGeom>
          <a:solidFill>
            <a:srgbClr val="0D4C9D"/>
          </a:solidFill>
          <a:ln w="12700">
            <a:solidFill>
              <a:srgbClr val="0D4C9D">
                <a:alpha val="0"/>
              </a:srgbClr>
            </a:solidFill>
            <a:prstDash val="solid"/>
          </a:ln>
        </p:spPr>
        <p:txBody>
          <a:bodyPr/>
          <a:lstStyle/>
          <a:p>
            <a:endParaRPr sz="2800"/>
          </a:p>
        </p:txBody>
      </p:sp>
      <p:sp>
        <p:nvSpPr>
          <p:cNvPr id="30" name="Text 28"/>
          <p:cNvSpPr/>
          <p:nvPr/>
        </p:nvSpPr>
        <p:spPr>
          <a:xfrm>
            <a:off x="4507992" y="3521475"/>
            <a:ext cx="2423160" cy="256032"/>
          </a:xfrm>
          <a:prstGeom prst="rect">
            <a:avLst/>
          </a:prstGeom>
          <a:noFill/>
          <a:ln/>
        </p:spPr>
        <p:txBody>
          <a:bodyPr wrap="square" lIns="0" tIns="0" rIns="0" bIns="0" rtlCol="0" anchor="ctr">
            <a:noAutofit/>
          </a:bodyPr>
          <a:lstStyle/>
          <a:p>
            <a:pPr marL="0" indent="0">
              <a:buNone/>
            </a:pPr>
            <a:r>
              <a:rPr lang="en-US" sz="1050" dirty="0">
                <a:solidFill>
                  <a:srgbClr val="0C1B2A"/>
                </a:solidFill>
                <a:latin typeface="Inter" pitchFamily="34" charset="0"/>
                <a:ea typeface="Inter" pitchFamily="34" charset="-122"/>
                <a:cs typeface="Inter" pitchFamily="34" charset="-120"/>
              </a:rPr>
              <a:t>Misalignment can increase contact / vibration</a:t>
            </a:r>
            <a:endParaRPr lang="en-US" sz="1050" dirty="0"/>
          </a:p>
        </p:txBody>
      </p:sp>
      <p:sp>
        <p:nvSpPr>
          <p:cNvPr id="31" name="Shape 29"/>
          <p:cNvSpPr/>
          <p:nvPr/>
        </p:nvSpPr>
        <p:spPr>
          <a:xfrm>
            <a:off x="4306824" y="4024395"/>
            <a:ext cx="73152" cy="73152"/>
          </a:xfrm>
          <a:prstGeom prst="ellipse">
            <a:avLst/>
          </a:prstGeom>
          <a:solidFill>
            <a:srgbClr val="0D4C9D"/>
          </a:solidFill>
          <a:ln w="12700">
            <a:solidFill>
              <a:srgbClr val="0D4C9D">
                <a:alpha val="0"/>
              </a:srgbClr>
            </a:solidFill>
            <a:prstDash val="solid"/>
          </a:ln>
        </p:spPr>
        <p:txBody>
          <a:bodyPr/>
          <a:lstStyle/>
          <a:p>
            <a:endParaRPr sz="2800"/>
          </a:p>
        </p:txBody>
      </p:sp>
      <p:sp>
        <p:nvSpPr>
          <p:cNvPr id="32" name="Text 30"/>
          <p:cNvSpPr/>
          <p:nvPr/>
        </p:nvSpPr>
        <p:spPr>
          <a:xfrm>
            <a:off x="4507992" y="3960387"/>
            <a:ext cx="2423160" cy="256032"/>
          </a:xfrm>
          <a:prstGeom prst="rect">
            <a:avLst/>
          </a:prstGeom>
          <a:noFill/>
          <a:ln/>
        </p:spPr>
        <p:txBody>
          <a:bodyPr wrap="square" lIns="0" tIns="0" rIns="0" bIns="0" rtlCol="0" anchor="ctr">
            <a:noAutofit/>
          </a:bodyPr>
          <a:lstStyle/>
          <a:p>
            <a:pPr marL="0" indent="0">
              <a:buNone/>
            </a:pPr>
            <a:r>
              <a:rPr lang="en-US" sz="1050" dirty="0">
                <a:solidFill>
                  <a:srgbClr val="0C1B2A"/>
                </a:solidFill>
                <a:latin typeface="Inter" pitchFamily="34" charset="0"/>
                <a:ea typeface="Inter" pitchFamily="34" charset="-122"/>
                <a:cs typeface="Inter" pitchFamily="34" charset="-120"/>
              </a:rPr>
              <a:t>No-contact cleaning lowers loading opportunity</a:t>
            </a:r>
            <a:endParaRPr lang="en-US" sz="1050" dirty="0"/>
          </a:p>
        </p:txBody>
      </p:sp>
      <p:sp>
        <p:nvSpPr>
          <p:cNvPr id="33" name="Shape 31"/>
          <p:cNvSpPr/>
          <p:nvPr/>
        </p:nvSpPr>
        <p:spPr>
          <a:xfrm>
            <a:off x="7498080" y="1898416"/>
            <a:ext cx="3440214" cy="3703316"/>
          </a:xfrm>
          <a:prstGeom prst="roundRect">
            <a:avLst>
              <a:gd name="adj" fmla="val 2339"/>
            </a:avLst>
          </a:prstGeom>
          <a:solidFill>
            <a:srgbClr val="FFFFFF"/>
          </a:solidFill>
          <a:ln w="10160">
            <a:solidFill>
              <a:srgbClr val="E0E3E5"/>
            </a:solidFill>
            <a:prstDash val="solid"/>
          </a:ln>
          <a:effectLst>
            <a:outerShdw algn="bl" rotWithShape="0">
              <a:srgbClr val="73808C">
                <a:alpha val="0"/>
              </a:srgbClr>
            </a:outerShdw>
          </a:effectLst>
        </p:spPr>
        <p:txBody>
          <a:bodyPr/>
          <a:lstStyle/>
          <a:p>
            <a:endParaRPr sz="2800" dirty="0"/>
          </a:p>
        </p:txBody>
      </p:sp>
      <p:sp>
        <p:nvSpPr>
          <p:cNvPr id="34" name="Shape 32"/>
          <p:cNvSpPr/>
          <p:nvPr/>
        </p:nvSpPr>
        <p:spPr>
          <a:xfrm>
            <a:off x="7498080" y="1848123"/>
            <a:ext cx="3440214" cy="566928"/>
          </a:xfrm>
          <a:prstGeom prst="rect">
            <a:avLst/>
          </a:prstGeom>
          <a:solidFill>
            <a:srgbClr val="F7E7E5"/>
          </a:solidFill>
          <a:ln w="12700">
            <a:solidFill>
              <a:srgbClr val="F7E7E5"/>
            </a:solidFill>
            <a:prstDash val="solid"/>
          </a:ln>
        </p:spPr>
        <p:txBody>
          <a:bodyPr/>
          <a:lstStyle/>
          <a:p>
            <a:endParaRPr sz="2800"/>
          </a:p>
        </p:txBody>
      </p:sp>
      <p:sp>
        <p:nvSpPr>
          <p:cNvPr id="35" name="Text 33"/>
          <p:cNvSpPr/>
          <p:nvPr/>
        </p:nvSpPr>
        <p:spPr>
          <a:xfrm>
            <a:off x="7543800" y="1848123"/>
            <a:ext cx="3035808" cy="566928"/>
          </a:xfrm>
          <a:prstGeom prst="rect">
            <a:avLst/>
          </a:prstGeom>
          <a:noFill/>
          <a:ln/>
        </p:spPr>
        <p:txBody>
          <a:bodyPr wrap="square" lIns="0" tIns="0" rIns="0" bIns="0" rtlCol="0" anchor="ctr"/>
          <a:lstStyle/>
          <a:p>
            <a:pPr marL="0" indent="0" algn="ctr">
              <a:buNone/>
            </a:pPr>
            <a:r>
              <a:rPr lang="en-US" sz="1000" b="1" kern="0" spc="70" dirty="0">
                <a:solidFill>
                  <a:srgbClr val="C94848"/>
                </a:solidFill>
                <a:latin typeface="Inter" pitchFamily="34" charset="0"/>
                <a:ea typeface="Inter" pitchFamily="34" charset="-122"/>
                <a:cs typeface="Inter" pitchFamily="34" charset="-120"/>
              </a:rPr>
              <a:t>CONCLUSION / CORRECTIVE ACTION</a:t>
            </a:r>
            <a:endParaRPr lang="en-US" sz="1000" dirty="0"/>
          </a:p>
        </p:txBody>
      </p:sp>
      <p:sp>
        <p:nvSpPr>
          <p:cNvPr id="36" name="Shape 34"/>
          <p:cNvSpPr/>
          <p:nvPr/>
        </p:nvSpPr>
        <p:spPr>
          <a:xfrm>
            <a:off x="7726680" y="2707659"/>
            <a:ext cx="73152" cy="73152"/>
          </a:xfrm>
          <a:prstGeom prst="ellipse">
            <a:avLst/>
          </a:prstGeom>
          <a:solidFill>
            <a:srgbClr val="C94848"/>
          </a:solidFill>
          <a:ln w="12700">
            <a:solidFill>
              <a:srgbClr val="C94848">
                <a:alpha val="0"/>
              </a:srgbClr>
            </a:solidFill>
            <a:prstDash val="solid"/>
          </a:ln>
        </p:spPr>
        <p:txBody>
          <a:bodyPr/>
          <a:lstStyle/>
          <a:p>
            <a:endParaRPr sz="2800"/>
          </a:p>
        </p:txBody>
      </p:sp>
      <p:sp>
        <p:nvSpPr>
          <p:cNvPr id="37" name="Text 35"/>
          <p:cNvSpPr/>
          <p:nvPr/>
        </p:nvSpPr>
        <p:spPr>
          <a:xfrm>
            <a:off x="7927848" y="2643651"/>
            <a:ext cx="2423160" cy="256032"/>
          </a:xfrm>
          <a:prstGeom prst="rect">
            <a:avLst/>
          </a:prstGeom>
          <a:noFill/>
          <a:ln/>
        </p:spPr>
        <p:txBody>
          <a:bodyPr wrap="square" lIns="0" tIns="0" rIns="0" bIns="0" rtlCol="0" anchor="ctr">
            <a:noAutofit/>
          </a:bodyPr>
          <a:lstStyle/>
          <a:p>
            <a:pPr marL="0" indent="0">
              <a:buNone/>
            </a:pPr>
            <a:r>
              <a:rPr lang="en-US" sz="1050" dirty="0">
                <a:solidFill>
                  <a:srgbClr val="0C1B2A"/>
                </a:solidFill>
                <a:latin typeface="Inter" pitchFamily="34" charset="0"/>
                <a:ea typeface="Inter" pitchFamily="34" charset="-122"/>
                <a:cs typeface="Inter" pitchFamily="34" charset="-120"/>
              </a:rPr>
              <a:t>Most probable root cause: Training outdated and control gap leading to direct pan force</a:t>
            </a:r>
            <a:endParaRPr lang="en-US" sz="1050" dirty="0"/>
          </a:p>
        </p:txBody>
      </p:sp>
      <p:sp>
        <p:nvSpPr>
          <p:cNvPr id="38" name="Shape 36"/>
          <p:cNvSpPr/>
          <p:nvPr/>
        </p:nvSpPr>
        <p:spPr>
          <a:xfrm>
            <a:off x="7726680" y="3146571"/>
            <a:ext cx="73152" cy="73152"/>
          </a:xfrm>
          <a:prstGeom prst="ellipse">
            <a:avLst/>
          </a:prstGeom>
          <a:solidFill>
            <a:srgbClr val="C94848"/>
          </a:solidFill>
          <a:ln w="12700">
            <a:solidFill>
              <a:srgbClr val="C94848">
                <a:alpha val="0"/>
              </a:srgbClr>
            </a:solidFill>
            <a:prstDash val="solid"/>
          </a:ln>
        </p:spPr>
        <p:txBody>
          <a:bodyPr/>
          <a:lstStyle/>
          <a:p>
            <a:endParaRPr sz="2800"/>
          </a:p>
        </p:txBody>
      </p:sp>
      <p:sp>
        <p:nvSpPr>
          <p:cNvPr id="40" name="Shape 38"/>
          <p:cNvSpPr/>
          <p:nvPr/>
        </p:nvSpPr>
        <p:spPr>
          <a:xfrm>
            <a:off x="7726680" y="3585483"/>
            <a:ext cx="73152" cy="73152"/>
          </a:xfrm>
          <a:prstGeom prst="ellipse">
            <a:avLst/>
          </a:prstGeom>
          <a:solidFill>
            <a:srgbClr val="C94848"/>
          </a:solidFill>
          <a:ln w="12700">
            <a:solidFill>
              <a:srgbClr val="C94848">
                <a:alpha val="0"/>
              </a:srgbClr>
            </a:solidFill>
            <a:prstDash val="solid"/>
          </a:ln>
        </p:spPr>
        <p:txBody>
          <a:bodyPr/>
          <a:lstStyle/>
          <a:p>
            <a:endParaRPr sz="2800"/>
          </a:p>
        </p:txBody>
      </p:sp>
      <p:sp>
        <p:nvSpPr>
          <p:cNvPr id="42" name="Shape 40"/>
          <p:cNvSpPr/>
          <p:nvPr/>
        </p:nvSpPr>
        <p:spPr>
          <a:xfrm>
            <a:off x="7726680" y="4093450"/>
            <a:ext cx="73152" cy="73152"/>
          </a:xfrm>
          <a:prstGeom prst="ellipse">
            <a:avLst/>
          </a:prstGeom>
          <a:solidFill>
            <a:srgbClr val="C94848"/>
          </a:solidFill>
          <a:ln w="12700">
            <a:solidFill>
              <a:srgbClr val="C94848">
                <a:alpha val="0"/>
              </a:srgbClr>
            </a:solidFill>
            <a:prstDash val="solid"/>
          </a:ln>
        </p:spPr>
        <p:txBody>
          <a:bodyPr/>
          <a:lstStyle/>
          <a:p>
            <a:endParaRPr sz="2800"/>
          </a:p>
        </p:txBody>
      </p:sp>
      <p:sp>
        <p:nvSpPr>
          <p:cNvPr id="48" name="Shape 46"/>
          <p:cNvSpPr/>
          <p:nvPr/>
        </p:nvSpPr>
        <p:spPr>
          <a:xfrm>
            <a:off x="658368" y="6007608"/>
            <a:ext cx="9966960" cy="480060"/>
          </a:xfrm>
          <a:prstGeom prst="roundRect">
            <a:avLst>
              <a:gd name="adj" fmla="val 40000"/>
            </a:avLst>
          </a:prstGeom>
          <a:solidFill>
            <a:srgbClr val="F0F1F0"/>
          </a:solidFill>
          <a:ln w="10160">
            <a:solidFill>
              <a:srgbClr val="F0F1F0"/>
            </a:solidFill>
            <a:prstDash val="solid"/>
          </a:ln>
        </p:spPr>
        <p:txBody>
          <a:bodyPr/>
          <a:lstStyle/>
          <a:p>
            <a:endParaRPr sz="4800"/>
          </a:p>
        </p:txBody>
      </p:sp>
      <p:sp>
        <p:nvSpPr>
          <p:cNvPr id="49" name="Text 47"/>
          <p:cNvSpPr/>
          <p:nvPr/>
        </p:nvSpPr>
        <p:spPr>
          <a:xfrm>
            <a:off x="886968" y="6007608"/>
            <a:ext cx="9525115" cy="480060"/>
          </a:xfrm>
          <a:prstGeom prst="rect">
            <a:avLst/>
          </a:prstGeom>
          <a:noFill/>
          <a:ln/>
        </p:spPr>
        <p:txBody>
          <a:bodyPr wrap="square" lIns="0" tIns="0" rIns="0" bIns="0" rtlCol="0" anchor="ctr">
            <a:normAutofit/>
          </a:bodyPr>
          <a:lstStyle/>
          <a:p>
            <a:pPr marL="0" indent="0">
              <a:buNone/>
            </a:pPr>
            <a:r>
              <a:rPr lang="en-US" sz="1050" dirty="0">
                <a:solidFill>
                  <a:srgbClr val="1554A9"/>
                </a:solidFill>
                <a:latin typeface="Inter" pitchFamily="34" charset="0"/>
                <a:ea typeface="Inter" pitchFamily="34" charset="-122"/>
                <a:cs typeface="Inter" pitchFamily="34" charset="-120"/>
              </a:rPr>
              <a:t>Primary internal sources: </a:t>
            </a:r>
            <a:r>
              <a:rPr lang="en-US" sz="1050" dirty="0" err="1">
                <a:solidFill>
                  <a:srgbClr val="1554A9"/>
                </a:solidFill>
                <a:latin typeface="Inter" pitchFamily="34" charset="0"/>
                <a:ea typeface="Inter" pitchFamily="34" charset="-122"/>
                <a:cs typeface="Inter" pitchFamily="34" charset="-120"/>
              </a:rPr>
              <a:t>Xcelodose</a:t>
            </a:r>
            <a:r>
              <a:rPr lang="en-US" sz="1050" dirty="0">
                <a:solidFill>
                  <a:srgbClr val="1554A9"/>
                </a:solidFill>
                <a:latin typeface="Inter" pitchFamily="34" charset="0"/>
                <a:ea typeface="Inter" pitchFamily="34" charset="-122"/>
                <a:cs typeface="Inter" pitchFamily="34" charset="-120"/>
              </a:rPr>
              <a:t> investigation, current RCA • Historical findings • 14–31 AUG Manufacturing observations </a:t>
            </a:r>
          </a:p>
          <a:p>
            <a:pPr marL="0" indent="0">
              <a:buNone/>
            </a:pPr>
            <a:r>
              <a:rPr lang="en-US" sz="1050" dirty="0">
                <a:solidFill>
                  <a:srgbClr val="1554A9"/>
                </a:solidFill>
                <a:latin typeface="Inter" pitchFamily="34" charset="0"/>
                <a:ea typeface="Inter" pitchFamily="34" charset="-122"/>
                <a:cs typeface="Inter" pitchFamily="34" charset="-120"/>
              </a:rPr>
              <a:t>• Product Development comparison • SOP review vs Observations</a:t>
            </a:r>
            <a:endParaRPr lang="en-US" sz="1050" dirty="0"/>
          </a:p>
        </p:txBody>
      </p:sp>
      <p:sp>
        <p:nvSpPr>
          <p:cNvPr id="2" name="Slide Number Placeholder 0"/>
          <p:cNvSpPr>
            <a:spLocks noGrp="1"/>
          </p:cNvSpPr>
          <p:nvPr>
            <p:ph type="sldNum" sz="quarter" idx="4294967295"/>
          </p:nvPr>
        </p:nvSpPr>
        <p:spPr>
          <a:xfrm>
            <a:off x="11247120" y="6419088"/>
            <a:ext cx="457200" cy="201168"/>
          </a:xfrm>
          <a:prstGeom prst="rect">
            <a:avLst/>
          </a:prstGeom>
          <a:extLst>
            <a:ext uri="{C572A759-6A51-4108-AA02-DFA0A04FC94B}">
              <ma14:wrappingTextBoxFlag xmlns="" xmlns:ma14="http://schemas.microsoft.com/office/mac/drawingml/2011/main" val="0"/>
            </a:ext>
          </a:extLst>
        </p:spPr>
        <p:txBody>
          <a:bodyPr lIns="0" tIns="0" rIns="0" bIns="0"/>
          <a:lstStyle>
            <a:lvl1pPr>
              <a:defRPr sz="700">
                <a:solidFill>
                  <a:srgbClr val="89929D"/>
                </a:solidFill>
                <a:latin typeface="Inter"/>
                <a:ea typeface="Inter"/>
                <a:cs typeface="Inter"/>
              </a:defRPr>
            </a:lvl1pPr>
          </a:lstStyle>
          <a:p>
            <a:pPr algn="r"/>
            <a:fld id="{F7021451-1387-4CA6-816F-3879F97B5CBC}" type="slidenum">
              <a:rPr lang="en-US" b="0"/>
              <a:t>15</a:t>
            </a:fld>
            <a:endParaRPr lang="en-US"/>
          </a:p>
        </p:txBody>
      </p:sp>
      <p:sp>
        <p:nvSpPr>
          <p:cNvPr id="4" name="Text 35">
            <a:extLst>
              <a:ext uri="{FF2B5EF4-FFF2-40B4-BE49-F238E27FC236}">
                <a16:creationId xmlns:a16="http://schemas.microsoft.com/office/drawing/2014/main" id="{F7686DB8-30FD-C2C6-4C04-226E27FF1CBF}"/>
              </a:ext>
            </a:extLst>
          </p:cNvPr>
          <p:cNvSpPr/>
          <p:nvPr/>
        </p:nvSpPr>
        <p:spPr>
          <a:xfrm>
            <a:off x="7927848" y="3137428"/>
            <a:ext cx="2423160" cy="256032"/>
          </a:xfrm>
          <a:prstGeom prst="rect">
            <a:avLst/>
          </a:prstGeom>
          <a:noFill/>
          <a:ln/>
        </p:spPr>
        <p:txBody>
          <a:bodyPr wrap="square" lIns="0" tIns="0" rIns="0" bIns="0" rtlCol="0" anchor="ctr">
            <a:noAutofit/>
          </a:bodyPr>
          <a:lstStyle/>
          <a:p>
            <a:pPr marL="0" indent="0">
              <a:buNone/>
            </a:pPr>
            <a:r>
              <a:rPr lang="en-US" sz="1050" dirty="0">
                <a:solidFill>
                  <a:srgbClr val="0C1B2A"/>
                </a:solidFill>
                <a:latin typeface="Inter" pitchFamily="34" charset="0"/>
                <a:ea typeface="Inter" pitchFamily="34" charset="-122"/>
                <a:cs typeface="Inter" pitchFamily="34" charset="-120"/>
              </a:rPr>
              <a:t>Leads only should remove and install the microbalance</a:t>
            </a:r>
            <a:endParaRPr lang="en-US" sz="1050" dirty="0"/>
          </a:p>
        </p:txBody>
      </p:sp>
      <p:sp>
        <p:nvSpPr>
          <p:cNvPr id="51" name="Text 35">
            <a:extLst>
              <a:ext uri="{FF2B5EF4-FFF2-40B4-BE49-F238E27FC236}">
                <a16:creationId xmlns:a16="http://schemas.microsoft.com/office/drawing/2014/main" id="{24F29BA8-F64E-7D7C-663B-E62ECB3D86C8}"/>
              </a:ext>
            </a:extLst>
          </p:cNvPr>
          <p:cNvSpPr/>
          <p:nvPr/>
        </p:nvSpPr>
        <p:spPr>
          <a:xfrm>
            <a:off x="7927848" y="3571767"/>
            <a:ext cx="2423160" cy="256032"/>
          </a:xfrm>
          <a:prstGeom prst="rect">
            <a:avLst/>
          </a:prstGeom>
          <a:noFill/>
          <a:ln/>
        </p:spPr>
        <p:txBody>
          <a:bodyPr wrap="square" lIns="0" tIns="0" rIns="0" bIns="0" rtlCol="0" anchor="ctr">
            <a:noAutofit/>
          </a:bodyPr>
          <a:lstStyle/>
          <a:p>
            <a:pPr marL="0" indent="0">
              <a:buNone/>
            </a:pPr>
            <a:r>
              <a:rPr lang="en-US" sz="1050" dirty="0">
                <a:solidFill>
                  <a:srgbClr val="0C1B2A"/>
                </a:solidFill>
                <a:latin typeface="Inter" pitchFamily="34" charset="0"/>
                <a:ea typeface="Inter" pitchFamily="34" charset="-122"/>
                <a:cs typeface="Inter" pitchFamily="34" charset="-120"/>
              </a:rPr>
              <a:t>Reinforcement and Retraining Initiative </a:t>
            </a:r>
            <a:endParaRPr lang="en-US" sz="1050" dirty="0"/>
          </a:p>
        </p:txBody>
      </p:sp>
      <p:sp>
        <p:nvSpPr>
          <p:cNvPr id="53" name="Text 35">
            <a:extLst>
              <a:ext uri="{FF2B5EF4-FFF2-40B4-BE49-F238E27FC236}">
                <a16:creationId xmlns:a16="http://schemas.microsoft.com/office/drawing/2014/main" id="{081671E5-2EC2-D7FF-37BB-0D3F94893C88}"/>
              </a:ext>
            </a:extLst>
          </p:cNvPr>
          <p:cNvSpPr/>
          <p:nvPr/>
        </p:nvSpPr>
        <p:spPr>
          <a:xfrm>
            <a:off x="7923276" y="3969446"/>
            <a:ext cx="2656332" cy="739930"/>
          </a:xfrm>
          <a:prstGeom prst="rect">
            <a:avLst/>
          </a:prstGeom>
          <a:noFill/>
          <a:ln/>
        </p:spPr>
        <p:txBody>
          <a:bodyPr wrap="square" lIns="0" tIns="0" rIns="0" bIns="0" rtlCol="0" anchor="ctr">
            <a:noAutofit/>
          </a:bodyPr>
          <a:lstStyle/>
          <a:p>
            <a:pPr marL="0" indent="0">
              <a:buNone/>
            </a:pPr>
            <a:r>
              <a:rPr lang="en-US" sz="1050" dirty="0">
                <a:solidFill>
                  <a:srgbClr val="0C1B2A"/>
                </a:solidFill>
                <a:latin typeface="Inter" pitchFamily="34" charset="0"/>
                <a:ea typeface="Inter" pitchFamily="34" charset="-122"/>
                <a:cs typeface="Inter" pitchFamily="34" charset="-120"/>
              </a:rPr>
              <a:t>Pan removal reinforced in SOP, update language. Bold section 6.3.2.11.2 “Remove Weighing pan and spill tray…”; Add Pan removal to section 6.13.2 Minor Cleaning. All for USTP-608</a:t>
            </a:r>
            <a:endParaRPr lang="en-US" sz="1050" dirty="0"/>
          </a:p>
        </p:txBody>
      </p:sp>
      <p:sp>
        <p:nvSpPr>
          <p:cNvPr id="55" name="Text 35">
            <a:extLst>
              <a:ext uri="{FF2B5EF4-FFF2-40B4-BE49-F238E27FC236}">
                <a16:creationId xmlns:a16="http://schemas.microsoft.com/office/drawing/2014/main" id="{3980F3C9-491A-6457-DC24-05D63F2E5A1F}"/>
              </a:ext>
            </a:extLst>
          </p:cNvPr>
          <p:cNvSpPr/>
          <p:nvPr/>
        </p:nvSpPr>
        <p:spPr>
          <a:xfrm>
            <a:off x="7927848" y="4828507"/>
            <a:ext cx="2697480" cy="573960"/>
          </a:xfrm>
          <a:prstGeom prst="rect">
            <a:avLst/>
          </a:prstGeom>
          <a:noFill/>
          <a:ln/>
        </p:spPr>
        <p:txBody>
          <a:bodyPr wrap="square" lIns="0" tIns="0" rIns="0" bIns="0" rtlCol="0" anchor="ctr">
            <a:noAutofit/>
          </a:bodyPr>
          <a:lstStyle/>
          <a:p>
            <a:pPr marL="0" indent="0">
              <a:buNone/>
            </a:pPr>
            <a:r>
              <a:rPr lang="en-US" sz="1050" dirty="0">
                <a:solidFill>
                  <a:srgbClr val="0C1B2A"/>
                </a:solidFill>
                <a:latin typeface="Inter" pitchFamily="34" charset="0"/>
                <a:ea typeface="Inter" pitchFamily="34" charset="-122"/>
                <a:cs typeface="Inter" pitchFamily="34" charset="-120"/>
              </a:rPr>
              <a:t>MSAT Engineers get Method Development/ </a:t>
            </a:r>
          </a:p>
          <a:p>
            <a:pPr marL="0" indent="0">
              <a:buNone/>
            </a:pPr>
            <a:r>
              <a:rPr lang="en-US" sz="1050" dirty="0">
                <a:solidFill>
                  <a:srgbClr val="0C1B2A"/>
                </a:solidFill>
                <a:latin typeface="Inter" pitchFamily="34" charset="0"/>
                <a:ea typeface="Inter" pitchFamily="34" charset="-122"/>
                <a:cs typeface="Inter" pitchFamily="34" charset="-120"/>
              </a:rPr>
              <a:t>Super-User role and Trained Leads given Operator/Super-User </a:t>
            </a:r>
            <a:endParaRPr lang="en-US" sz="1050" dirty="0"/>
          </a:p>
        </p:txBody>
      </p:sp>
      <p:sp>
        <p:nvSpPr>
          <p:cNvPr id="57" name="Shape 40">
            <a:extLst>
              <a:ext uri="{FF2B5EF4-FFF2-40B4-BE49-F238E27FC236}">
                <a16:creationId xmlns:a16="http://schemas.microsoft.com/office/drawing/2014/main" id="{3EB43CC1-CC88-F606-5EFE-F2AC90D2AABF}"/>
              </a:ext>
            </a:extLst>
          </p:cNvPr>
          <p:cNvSpPr/>
          <p:nvPr/>
        </p:nvSpPr>
        <p:spPr>
          <a:xfrm>
            <a:off x="7727198" y="4838211"/>
            <a:ext cx="73152" cy="73152"/>
          </a:xfrm>
          <a:prstGeom prst="ellipse">
            <a:avLst/>
          </a:prstGeom>
          <a:solidFill>
            <a:srgbClr val="C94848"/>
          </a:solidFill>
          <a:ln w="12700">
            <a:solidFill>
              <a:srgbClr val="C94848">
                <a:alpha val="0"/>
              </a:srgbClr>
            </a:solidFill>
            <a:prstDash val="solid"/>
          </a:ln>
        </p:spPr>
        <p:txBody>
          <a:bodyPr/>
          <a:lstStyle/>
          <a:p>
            <a:endParaRPr sz="28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566927" y="850392"/>
            <a:ext cx="12010386" cy="566928"/>
          </a:xfrm>
          <a:prstGeom prst="rect">
            <a:avLst/>
          </a:prstGeom>
          <a:noFill/>
          <a:ln/>
        </p:spPr>
        <p:txBody>
          <a:bodyPr wrap="square" lIns="0" tIns="0" rIns="0" bIns="0" rtlCol="0" anchor="ctr">
            <a:normAutofit/>
          </a:bodyPr>
          <a:lstStyle/>
          <a:p>
            <a:pPr marL="0" indent="0">
              <a:buNone/>
            </a:pPr>
            <a:r>
              <a:rPr lang="en-US" sz="2750" b="1" spc="-150" dirty="0">
                <a:solidFill>
                  <a:srgbClr val="0C1B2A"/>
                </a:solidFill>
                <a:latin typeface="Inter Display" pitchFamily="34" charset="0"/>
                <a:ea typeface="Inter Display" pitchFamily="34" charset="-122"/>
                <a:cs typeface="Inter Display" pitchFamily="34" charset="-120"/>
              </a:rPr>
              <a:t>Control the load path first, then standardize alignment and corrective action</a:t>
            </a:r>
            <a:endParaRPr lang="en-US" sz="2750" spc="-150" dirty="0"/>
          </a:p>
        </p:txBody>
      </p:sp>
      <p:sp>
        <p:nvSpPr>
          <p:cNvPr id="6" name="Shape 4"/>
          <p:cNvSpPr/>
          <p:nvPr/>
        </p:nvSpPr>
        <p:spPr>
          <a:xfrm>
            <a:off x="566928" y="1847088"/>
            <a:ext cx="11045952" cy="0"/>
          </a:xfrm>
          <a:prstGeom prst="line">
            <a:avLst/>
          </a:prstGeom>
          <a:noFill/>
          <a:ln w="10160">
            <a:solidFill>
              <a:srgbClr val="D7DAD8"/>
            </a:solidFill>
            <a:prstDash val="solid"/>
          </a:ln>
        </p:spPr>
        <p:txBody>
          <a:bodyPr/>
          <a:lstStyle/>
          <a:p>
            <a:endParaRPr/>
          </a:p>
        </p:txBody>
      </p:sp>
      <p:sp>
        <p:nvSpPr>
          <p:cNvPr id="7" name="Shape 5"/>
          <p:cNvSpPr/>
          <p:nvPr/>
        </p:nvSpPr>
        <p:spPr>
          <a:xfrm>
            <a:off x="658368" y="2217851"/>
            <a:ext cx="2523744" cy="3611880"/>
          </a:xfrm>
          <a:prstGeom prst="roundRect">
            <a:avLst>
              <a:gd name="adj" fmla="val 2899"/>
            </a:avLst>
          </a:prstGeom>
          <a:solidFill>
            <a:srgbClr val="FFFFFF"/>
          </a:solidFill>
          <a:ln w="10160">
            <a:solidFill>
              <a:srgbClr val="E0E3E5"/>
            </a:solidFill>
            <a:prstDash val="solid"/>
          </a:ln>
          <a:effectLst>
            <a:outerShdw algn="bl" rotWithShape="0">
              <a:srgbClr val="73808C">
                <a:alpha val="0"/>
              </a:srgbClr>
            </a:outerShdw>
          </a:effectLst>
        </p:spPr>
        <p:txBody>
          <a:bodyPr/>
          <a:lstStyle/>
          <a:p>
            <a:endParaRPr/>
          </a:p>
        </p:txBody>
      </p:sp>
      <p:sp>
        <p:nvSpPr>
          <p:cNvPr id="8" name="Shape 6"/>
          <p:cNvSpPr/>
          <p:nvPr/>
        </p:nvSpPr>
        <p:spPr>
          <a:xfrm>
            <a:off x="658368" y="2194560"/>
            <a:ext cx="2523744" cy="576072"/>
          </a:xfrm>
          <a:prstGeom prst="rect">
            <a:avLst/>
          </a:prstGeom>
          <a:solidFill>
            <a:srgbClr val="F7E7E5"/>
          </a:solidFill>
          <a:ln w="12700">
            <a:solidFill>
              <a:srgbClr val="F7E7E5"/>
            </a:solidFill>
            <a:prstDash val="solid"/>
          </a:ln>
          <a:scene3d>
            <a:camera prst="orthographicFront"/>
            <a:lightRig rig="threePt" dir="t"/>
          </a:scene3d>
          <a:sp3d>
            <a:bevelT prst="angle"/>
          </a:sp3d>
        </p:spPr>
        <p:txBody>
          <a:bodyPr/>
          <a:lstStyle/>
          <a:p>
            <a:endParaRPr sz="4000" b="1"/>
          </a:p>
        </p:txBody>
      </p:sp>
      <p:sp>
        <p:nvSpPr>
          <p:cNvPr id="9" name="Text 7"/>
          <p:cNvSpPr/>
          <p:nvPr/>
        </p:nvSpPr>
        <p:spPr>
          <a:xfrm>
            <a:off x="704088" y="2194560"/>
            <a:ext cx="2432304" cy="576072"/>
          </a:xfrm>
          <a:prstGeom prst="rect">
            <a:avLst/>
          </a:prstGeom>
          <a:noFill/>
          <a:ln/>
        </p:spPr>
        <p:txBody>
          <a:bodyPr wrap="square" lIns="0" tIns="0" rIns="0" bIns="0" rtlCol="0" anchor="ctr"/>
          <a:lstStyle/>
          <a:p>
            <a:pPr marL="0" indent="0" algn="ctr">
              <a:buNone/>
            </a:pPr>
            <a:r>
              <a:rPr lang="en-US" sz="1400" b="1" kern="0" spc="80" dirty="0">
                <a:solidFill>
                  <a:srgbClr val="C94848"/>
                </a:solidFill>
                <a:latin typeface="Inter" pitchFamily="34" charset="0"/>
                <a:ea typeface="Inter" pitchFamily="34" charset="-122"/>
                <a:cs typeface="Inter" pitchFamily="34" charset="-120"/>
              </a:rPr>
              <a:t>CONTAIN NOW</a:t>
            </a:r>
            <a:endParaRPr lang="en-US" sz="1400" b="1" dirty="0"/>
          </a:p>
        </p:txBody>
      </p:sp>
      <p:sp>
        <p:nvSpPr>
          <p:cNvPr id="10" name="Text 8"/>
          <p:cNvSpPr/>
          <p:nvPr/>
        </p:nvSpPr>
        <p:spPr>
          <a:xfrm>
            <a:off x="841248" y="2971800"/>
            <a:ext cx="2157984" cy="365760"/>
          </a:xfrm>
          <a:prstGeom prst="rect">
            <a:avLst/>
          </a:prstGeom>
          <a:noFill/>
          <a:ln/>
        </p:spPr>
        <p:txBody>
          <a:bodyPr wrap="square" lIns="0" tIns="0" rIns="0" bIns="0" rtlCol="0" anchor="ctr">
            <a:normAutofit fontScale="92500"/>
          </a:bodyPr>
          <a:lstStyle/>
          <a:p>
            <a:pPr marL="0" indent="0" algn="ctr">
              <a:buNone/>
            </a:pPr>
            <a:r>
              <a:rPr lang="en-US" sz="1350" b="1" dirty="0">
                <a:solidFill>
                  <a:srgbClr val="0C1B2A"/>
                </a:solidFill>
                <a:latin typeface="Inter Display" pitchFamily="34" charset="0"/>
                <a:ea typeface="Inter Display" pitchFamily="34" charset="-122"/>
                <a:cs typeface="Inter Display" pitchFamily="34" charset="-120"/>
              </a:rPr>
              <a:t>Reduce immediate exposure</a:t>
            </a:r>
            <a:endParaRPr lang="en-US" sz="1350" dirty="0"/>
          </a:p>
        </p:txBody>
      </p:sp>
      <p:sp>
        <p:nvSpPr>
          <p:cNvPr id="11" name="Shape 9"/>
          <p:cNvSpPr/>
          <p:nvPr/>
        </p:nvSpPr>
        <p:spPr>
          <a:xfrm>
            <a:off x="877824" y="3758184"/>
            <a:ext cx="109728" cy="109728"/>
          </a:xfrm>
          <a:prstGeom prst="ellipse">
            <a:avLst/>
          </a:prstGeom>
          <a:solidFill>
            <a:srgbClr val="C94848"/>
          </a:solidFill>
          <a:ln w="12700">
            <a:solidFill>
              <a:srgbClr val="C94848"/>
            </a:solidFill>
            <a:prstDash val="solid"/>
          </a:ln>
        </p:spPr>
        <p:txBody>
          <a:bodyPr/>
          <a:lstStyle/>
          <a:p>
            <a:endParaRPr sz="2000"/>
          </a:p>
        </p:txBody>
      </p:sp>
      <p:sp>
        <p:nvSpPr>
          <p:cNvPr id="12" name="Text 10"/>
          <p:cNvSpPr/>
          <p:nvPr/>
        </p:nvSpPr>
        <p:spPr>
          <a:xfrm>
            <a:off x="1097280" y="3648655"/>
            <a:ext cx="1865376" cy="365760"/>
          </a:xfrm>
          <a:prstGeom prst="rect">
            <a:avLst/>
          </a:prstGeom>
          <a:noFill/>
          <a:ln/>
        </p:spPr>
        <p:txBody>
          <a:bodyPr wrap="square" lIns="0" tIns="0" rIns="0" bIns="0" rtlCol="0" anchor="ctr">
            <a:normAutofit/>
          </a:bodyPr>
          <a:lstStyle/>
          <a:p>
            <a:pPr marL="0" indent="0">
              <a:buNone/>
            </a:pPr>
            <a:r>
              <a:rPr lang="en-US" sz="1000" dirty="0">
                <a:latin typeface="Inter" pitchFamily="34" charset="0"/>
                <a:ea typeface="Inter" pitchFamily="34" charset="-122"/>
                <a:cs typeface="Inter" pitchFamily="34" charset="-120"/>
              </a:rPr>
              <a:t>No direct force on weigh pan</a:t>
            </a:r>
            <a:endParaRPr lang="en-US" sz="1000" dirty="0"/>
          </a:p>
        </p:txBody>
      </p:sp>
      <p:sp>
        <p:nvSpPr>
          <p:cNvPr id="13" name="Shape 11"/>
          <p:cNvSpPr/>
          <p:nvPr/>
        </p:nvSpPr>
        <p:spPr>
          <a:xfrm>
            <a:off x="877824" y="4352544"/>
            <a:ext cx="109728" cy="109728"/>
          </a:xfrm>
          <a:prstGeom prst="ellipse">
            <a:avLst/>
          </a:prstGeom>
          <a:solidFill>
            <a:srgbClr val="C94848"/>
          </a:solidFill>
          <a:ln w="12700">
            <a:solidFill>
              <a:srgbClr val="C94848"/>
            </a:solidFill>
            <a:prstDash val="solid"/>
          </a:ln>
        </p:spPr>
        <p:txBody>
          <a:bodyPr/>
          <a:lstStyle/>
          <a:p>
            <a:endParaRPr sz="2000"/>
          </a:p>
        </p:txBody>
      </p:sp>
      <p:sp>
        <p:nvSpPr>
          <p:cNvPr id="14" name="Text 12"/>
          <p:cNvSpPr/>
          <p:nvPr/>
        </p:nvSpPr>
        <p:spPr>
          <a:xfrm>
            <a:off x="1097280" y="4297679"/>
            <a:ext cx="1901952" cy="462203"/>
          </a:xfrm>
          <a:prstGeom prst="rect">
            <a:avLst/>
          </a:prstGeom>
          <a:noFill/>
          <a:ln/>
        </p:spPr>
        <p:txBody>
          <a:bodyPr wrap="square" lIns="0" tIns="0" rIns="0" bIns="0" rtlCol="0" anchor="ctr">
            <a:normAutofit/>
          </a:bodyPr>
          <a:lstStyle/>
          <a:p>
            <a:pPr marL="0" indent="0">
              <a:buNone/>
            </a:pPr>
            <a:r>
              <a:rPr lang="en-US" sz="950" dirty="0">
                <a:latin typeface="Inter" pitchFamily="34" charset="0"/>
                <a:ea typeface="Inter" pitchFamily="34" charset="-122"/>
                <a:cs typeface="Inter" pitchFamily="34" charset="-120"/>
              </a:rPr>
              <a:t>Adjust SOP and required equipment state to include pan removal during cleaning</a:t>
            </a:r>
            <a:endParaRPr lang="en-US" sz="950" dirty="0"/>
          </a:p>
        </p:txBody>
      </p:sp>
      <p:sp>
        <p:nvSpPr>
          <p:cNvPr id="15" name="Shape 13"/>
          <p:cNvSpPr/>
          <p:nvPr/>
        </p:nvSpPr>
        <p:spPr>
          <a:xfrm>
            <a:off x="877824" y="4946904"/>
            <a:ext cx="109728" cy="109728"/>
          </a:xfrm>
          <a:prstGeom prst="ellipse">
            <a:avLst/>
          </a:prstGeom>
          <a:solidFill>
            <a:srgbClr val="C94848"/>
          </a:solidFill>
          <a:ln w="12700">
            <a:solidFill>
              <a:srgbClr val="C94848"/>
            </a:solidFill>
            <a:prstDash val="solid"/>
          </a:ln>
        </p:spPr>
        <p:txBody>
          <a:bodyPr/>
          <a:lstStyle/>
          <a:p>
            <a:endParaRPr sz="2000"/>
          </a:p>
        </p:txBody>
      </p:sp>
      <p:sp>
        <p:nvSpPr>
          <p:cNvPr id="16" name="Text 14"/>
          <p:cNvSpPr/>
          <p:nvPr/>
        </p:nvSpPr>
        <p:spPr>
          <a:xfrm>
            <a:off x="1097280" y="4892040"/>
            <a:ext cx="1865376" cy="365760"/>
          </a:xfrm>
          <a:prstGeom prst="rect">
            <a:avLst/>
          </a:prstGeom>
          <a:noFill/>
          <a:ln/>
        </p:spPr>
        <p:txBody>
          <a:bodyPr wrap="square" lIns="0" tIns="0" rIns="0" bIns="0" rtlCol="0" anchor="ctr">
            <a:normAutofit/>
          </a:bodyPr>
          <a:lstStyle/>
          <a:p>
            <a:pPr marL="0" indent="0">
              <a:buNone/>
            </a:pPr>
            <a:r>
              <a:rPr lang="en-US" sz="1000" dirty="0">
                <a:latin typeface="Inter" pitchFamily="34" charset="0"/>
                <a:ea typeface="Inter" pitchFamily="34" charset="-122"/>
                <a:cs typeface="Inter" pitchFamily="34" charset="-120"/>
              </a:rPr>
              <a:t>Keep pan isolated from vacuum / direct force</a:t>
            </a:r>
            <a:endParaRPr lang="en-US" sz="1000" dirty="0"/>
          </a:p>
        </p:txBody>
      </p:sp>
      <p:sp>
        <p:nvSpPr>
          <p:cNvPr id="17" name="Shape 15"/>
          <p:cNvSpPr/>
          <p:nvPr/>
        </p:nvSpPr>
        <p:spPr>
          <a:xfrm>
            <a:off x="3429000" y="2194560"/>
            <a:ext cx="2523744" cy="3611880"/>
          </a:xfrm>
          <a:prstGeom prst="roundRect">
            <a:avLst>
              <a:gd name="adj" fmla="val 2899"/>
            </a:avLst>
          </a:prstGeom>
          <a:solidFill>
            <a:srgbClr val="FFFFFF"/>
          </a:solidFill>
          <a:ln w="10160">
            <a:solidFill>
              <a:srgbClr val="E0E3E5"/>
            </a:solidFill>
            <a:prstDash val="solid"/>
          </a:ln>
          <a:effectLst>
            <a:outerShdw algn="bl" rotWithShape="0">
              <a:srgbClr val="73808C">
                <a:alpha val="0"/>
              </a:srgbClr>
            </a:outerShdw>
          </a:effectLst>
        </p:spPr>
        <p:txBody>
          <a:bodyPr/>
          <a:lstStyle/>
          <a:p>
            <a:endParaRPr/>
          </a:p>
        </p:txBody>
      </p:sp>
      <p:sp>
        <p:nvSpPr>
          <p:cNvPr id="18" name="Shape 16"/>
          <p:cNvSpPr/>
          <p:nvPr/>
        </p:nvSpPr>
        <p:spPr>
          <a:xfrm>
            <a:off x="3429000" y="2194560"/>
            <a:ext cx="2523744" cy="576072"/>
          </a:xfrm>
          <a:prstGeom prst="rect">
            <a:avLst/>
          </a:prstGeom>
          <a:solidFill>
            <a:srgbClr val="DFEBFA"/>
          </a:solidFill>
          <a:ln w="12700">
            <a:solidFill>
              <a:srgbClr val="DFEBFA"/>
            </a:solidFill>
            <a:prstDash val="solid"/>
          </a:ln>
          <a:scene3d>
            <a:camera prst="orthographicFront"/>
            <a:lightRig rig="threePt" dir="t"/>
          </a:scene3d>
          <a:sp3d>
            <a:bevelT prst="angle"/>
          </a:sp3d>
        </p:spPr>
        <p:txBody>
          <a:bodyPr/>
          <a:lstStyle/>
          <a:p>
            <a:endParaRPr sz="4000" b="1"/>
          </a:p>
        </p:txBody>
      </p:sp>
      <p:sp>
        <p:nvSpPr>
          <p:cNvPr id="19" name="Text 17"/>
          <p:cNvSpPr/>
          <p:nvPr/>
        </p:nvSpPr>
        <p:spPr>
          <a:xfrm>
            <a:off x="3474720" y="2194560"/>
            <a:ext cx="2432304" cy="576072"/>
          </a:xfrm>
          <a:prstGeom prst="rect">
            <a:avLst/>
          </a:prstGeom>
          <a:noFill/>
          <a:ln/>
          <a:scene3d>
            <a:camera prst="orthographicFront"/>
            <a:lightRig rig="threePt" dir="t"/>
          </a:scene3d>
          <a:sp3d>
            <a:bevelT prst="angle"/>
          </a:sp3d>
        </p:spPr>
        <p:txBody>
          <a:bodyPr wrap="square" lIns="0" tIns="0" rIns="0" bIns="0" rtlCol="0" anchor="ctr"/>
          <a:lstStyle/>
          <a:p>
            <a:pPr marL="0" indent="0" algn="ctr">
              <a:buNone/>
            </a:pPr>
            <a:r>
              <a:rPr lang="en-US" sz="1400" b="1" kern="0" spc="80" dirty="0">
                <a:solidFill>
                  <a:srgbClr val="0D4C9D"/>
                </a:solidFill>
                <a:latin typeface="Inter" pitchFamily="34" charset="0"/>
                <a:ea typeface="Inter" pitchFamily="34" charset="-122"/>
                <a:cs typeface="Inter" pitchFamily="34" charset="-120"/>
              </a:rPr>
              <a:t>STANDARDIZE</a:t>
            </a:r>
            <a:endParaRPr lang="en-US" sz="1400" b="1" dirty="0"/>
          </a:p>
        </p:txBody>
      </p:sp>
      <p:sp>
        <p:nvSpPr>
          <p:cNvPr id="20" name="Text 18"/>
          <p:cNvSpPr/>
          <p:nvPr/>
        </p:nvSpPr>
        <p:spPr>
          <a:xfrm>
            <a:off x="3611880" y="2971800"/>
            <a:ext cx="2157984" cy="365760"/>
          </a:xfrm>
          <a:prstGeom prst="rect">
            <a:avLst/>
          </a:prstGeom>
          <a:noFill/>
          <a:ln/>
        </p:spPr>
        <p:txBody>
          <a:bodyPr wrap="square" lIns="0" tIns="0" rIns="0" bIns="0" rtlCol="0" anchor="ctr">
            <a:normAutofit/>
          </a:bodyPr>
          <a:lstStyle/>
          <a:p>
            <a:pPr marL="0" indent="0" algn="ctr">
              <a:buNone/>
            </a:pPr>
            <a:r>
              <a:rPr lang="en-US" sz="1350" b="1" dirty="0">
                <a:solidFill>
                  <a:srgbClr val="0C1B2A"/>
                </a:solidFill>
                <a:latin typeface="Inter Display" pitchFamily="34" charset="0"/>
                <a:ea typeface="Inter Display" pitchFamily="34" charset="-122"/>
                <a:cs typeface="Inter Display" pitchFamily="34" charset="-120"/>
              </a:rPr>
              <a:t>Remove method variation</a:t>
            </a:r>
            <a:endParaRPr lang="en-US" sz="1350" dirty="0"/>
          </a:p>
        </p:txBody>
      </p:sp>
      <p:sp>
        <p:nvSpPr>
          <p:cNvPr id="21" name="Shape 19"/>
          <p:cNvSpPr/>
          <p:nvPr/>
        </p:nvSpPr>
        <p:spPr>
          <a:xfrm>
            <a:off x="3648456" y="3758184"/>
            <a:ext cx="109728" cy="109728"/>
          </a:xfrm>
          <a:prstGeom prst="ellipse">
            <a:avLst/>
          </a:prstGeom>
          <a:solidFill>
            <a:srgbClr val="0D4C9D"/>
          </a:solidFill>
          <a:ln w="12700">
            <a:solidFill>
              <a:srgbClr val="0D4C9D"/>
            </a:solidFill>
            <a:prstDash val="solid"/>
          </a:ln>
        </p:spPr>
        <p:txBody>
          <a:bodyPr/>
          <a:lstStyle/>
          <a:p>
            <a:endParaRPr sz="2000"/>
          </a:p>
        </p:txBody>
      </p:sp>
      <p:sp>
        <p:nvSpPr>
          <p:cNvPr id="22" name="Text 20"/>
          <p:cNvSpPr/>
          <p:nvPr/>
        </p:nvSpPr>
        <p:spPr>
          <a:xfrm>
            <a:off x="3867912" y="3703320"/>
            <a:ext cx="1865376" cy="365760"/>
          </a:xfrm>
          <a:prstGeom prst="rect">
            <a:avLst/>
          </a:prstGeom>
          <a:noFill/>
          <a:ln/>
        </p:spPr>
        <p:txBody>
          <a:bodyPr wrap="square" lIns="0" tIns="0" rIns="0" bIns="0" rtlCol="0" anchor="ctr">
            <a:normAutofit/>
          </a:bodyPr>
          <a:lstStyle/>
          <a:p>
            <a:pPr marL="0" indent="0">
              <a:buNone/>
            </a:pPr>
            <a:r>
              <a:rPr lang="en-US" sz="1000" dirty="0">
                <a:latin typeface="Inter" pitchFamily="34" charset="0"/>
                <a:ea typeface="Inter" pitchFamily="34" charset="-122"/>
                <a:cs typeface="Inter" pitchFamily="34" charset="-120"/>
              </a:rPr>
              <a:t>Define cleaning procedure and removable-part cleaning</a:t>
            </a:r>
            <a:endParaRPr lang="en-US" sz="1000" dirty="0"/>
          </a:p>
        </p:txBody>
      </p:sp>
      <p:sp>
        <p:nvSpPr>
          <p:cNvPr id="23" name="Shape 21"/>
          <p:cNvSpPr/>
          <p:nvPr/>
        </p:nvSpPr>
        <p:spPr>
          <a:xfrm>
            <a:off x="3648456" y="4352544"/>
            <a:ext cx="109728" cy="109728"/>
          </a:xfrm>
          <a:prstGeom prst="ellipse">
            <a:avLst/>
          </a:prstGeom>
          <a:solidFill>
            <a:srgbClr val="0D4C9D"/>
          </a:solidFill>
          <a:ln w="12700">
            <a:solidFill>
              <a:srgbClr val="0D4C9D"/>
            </a:solidFill>
            <a:prstDash val="solid"/>
          </a:ln>
        </p:spPr>
        <p:txBody>
          <a:bodyPr/>
          <a:lstStyle/>
          <a:p>
            <a:endParaRPr sz="2000"/>
          </a:p>
        </p:txBody>
      </p:sp>
      <p:sp>
        <p:nvSpPr>
          <p:cNvPr id="24" name="Text 22"/>
          <p:cNvSpPr/>
          <p:nvPr/>
        </p:nvSpPr>
        <p:spPr>
          <a:xfrm>
            <a:off x="3867912" y="4297680"/>
            <a:ext cx="1865376" cy="365760"/>
          </a:xfrm>
          <a:prstGeom prst="rect">
            <a:avLst/>
          </a:prstGeom>
          <a:noFill/>
          <a:ln/>
        </p:spPr>
        <p:txBody>
          <a:bodyPr wrap="square" lIns="0" tIns="0" rIns="0" bIns="0" rtlCol="0" anchor="ctr">
            <a:normAutofit/>
          </a:bodyPr>
          <a:lstStyle/>
          <a:p>
            <a:pPr marL="0" indent="0">
              <a:buNone/>
            </a:pPr>
            <a:r>
              <a:rPr lang="en-US" sz="1000" dirty="0">
                <a:latin typeface="Inter" pitchFamily="34" charset="0"/>
                <a:ea typeface="Inter" pitchFamily="34" charset="-122"/>
                <a:cs typeface="Inter" pitchFamily="34" charset="-120"/>
              </a:rPr>
              <a:t>Clarify pre-alignment ownership</a:t>
            </a:r>
            <a:endParaRPr lang="en-US" sz="1000" dirty="0"/>
          </a:p>
        </p:txBody>
      </p:sp>
      <p:sp>
        <p:nvSpPr>
          <p:cNvPr id="25" name="Shape 23"/>
          <p:cNvSpPr/>
          <p:nvPr/>
        </p:nvSpPr>
        <p:spPr>
          <a:xfrm>
            <a:off x="3648456" y="4946904"/>
            <a:ext cx="109728" cy="109728"/>
          </a:xfrm>
          <a:prstGeom prst="ellipse">
            <a:avLst/>
          </a:prstGeom>
          <a:solidFill>
            <a:srgbClr val="0D4C9D"/>
          </a:solidFill>
          <a:ln w="12700">
            <a:solidFill>
              <a:srgbClr val="0D4C9D"/>
            </a:solidFill>
            <a:prstDash val="solid"/>
          </a:ln>
        </p:spPr>
        <p:txBody>
          <a:bodyPr/>
          <a:lstStyle/>
          <a:p>
            <a:endParaRPr sz="2000"/>
          </a:p>
        </p:txBody>
      </p:sp>
      <p:sp>
        <p:nvSpPr>
          <p:cNvPr id="26" name="Text 24"/>
          <p:cNvSpPr/>
          <p:nvPr/>
        </p:nvSpPr>
        <p:spPr>
          <a:xfrm>
            <a:off x="3867912" y="4892040"/>
            <a:ext cx="1901952" cy="533974"/>
          </a:xfrm>
          <a:prstGeom prst="rect">
            <a:avLst/>
          </a:prstGeom>
          <a:noFill/>
          <a:ln/>
        </p:spPr>
        <p:txBody>
          <a:bodyPr wrap="square" lIns="0" tIns="0" rIns="0" bIns="0" rtlCol="0" anchor="ctr">
            <a:normAutofit fontScale="92500" lnSpcReduction="10000"/>
          </a:bodyPr>
          <a:lstStyle/>
          <a:p>
            <a:pPr marL="0" indent="0">
              <a:buNone/>
            </a:pPr>
            <a:r>
              <a:rPr lang="en-US" sz="1000" dirty="0">
                <a:latin typeface="Inter" panose="020B0502030000000004" pitchFamily="34" charset="0"/>
                <a:ea typeface="Inter" panose="020B0502030000000004" pitchFamily="34" charset="0"/>
              </a:rPr>
              <a:t>Assign MSAT to Method Dev/Super user and remove any Operator from roles with parameter adjustment</a:t>
            </a:r>
          </a:p>
        </p:txBody>
      </p:sp>
      <p:sp>
        <p:nvSpPr>
          <p:cNvPr id="27" name="Shape 25"/>
          <p:cNvSpPr/>
          <p:nvPr/>
        </p:nvSpPr>
        <p:spPr>
          <a:xfrm>
            <a:off x="6199632" y="2194560"/>
            <a:ext cx="2523744" cy="3611880"/>
          </a:xfrm>
          <a:prstGeom prst="roundRect">
            <a:avLst>
              <a:gd name="adj" fmla="val 2899"/>
            </a:avLst>
          </a:prstGeom>
          <a:solidFill>
            <a:srgbClr val="FFFFFF"/>
          </a:solidFill>
          <a:ln w="10160">
            <a:solidFill>
              <a:srgbClr val="E0E3E5"/>
            </a:solidFill>
            <a:prstDash val="solid"/>
          </a:ln>
          <a:effectLst>
            <a:outerShdw algn="bl" rotWithShape="0">
              <a:srgbClr val="73808C">
                <a:alpha val="0"/>
              </a:srgbClr>
            </a:outerShdw>
          </a:effectLst>
        </p:spPr>
        <p:txBody>
          <a:bodyPr/>
          <a:lstStyle/>
          <a:p>
            <a:endParaRPr/>
          </a:p>
        </p:txBody>
      </p:sp>
      <p:sp>
        <p:nvSpPr>
          <p:cNvPr id="28" name="Shape 26"/>
          <p:cNvSpPr/>
          <p:nvPr/>
        </p:nvSpPr>
        <p:spPr>
          <a:xfrm>
            <a:off x="6199632" y="2194560"/>
            <a:ext cx="2523744" cy="576072"/>
          </a:xfrm>
          <a:prstGeom prst="rect">
            <a:avLst/>
          </a:prstGeom>
          <a:solidFill>
            <a:srgbClr val="E4F0EA"/>
          </a:solidFill>
          <a:ln w="12700">
            <a:solidFill>
              <a:srgbClr val="E4F0EA"/>
            </a:solidFill>
            <a:prstDash val="solid"/>
          </a:ln>
          <a:scene3d>
            <a:camera prst="orthographicFront"/>
            <a:lightRig rig="threePt" dir="t"/>
          </a:scene3d>
          <a:sp3d>
            <a:bevelT prst="angle"/>
          </a:sp3d>
        </p:spPr>
        <p:txBody>
          <a:bodyPr/>
          <a:lstStyle/>
          <a:p>
            <a:endParaRPr sz="4000" b="1"/>
          </a:p>
        </p:txBody>
      </p:sp>
      <p:sp>
        <p:nvSpPr>
          <p:cNvPr id="29" name="Text 27"/>
          <p:cNvSpPr/>
          <p:nvPr/>
        </p:nvSpPr>
        <p:spPr>
          <a:xfrm>
            <a:off x="6245352" y="2194560"/>
            <a:ext cx="2432304" cy="576072"/>
          </a:xfrm>
          <a:prstGeom prst="rect">
            <a:avLst/>
          </a:prstGeom>
          <a:noFill/>
          <a:ln/>
          <a:scene3d>
            <a:camera prst="orthographicFront"/>
            <a:lightRig rig="threePt" dir="t"/>
          </a:scene3d>
          <a:sp3d>
            <a:bevelT prst="angle"/>
          </a:sp3d>
        </p:spPr>
        <p:txBody>
          <a:bodyPr wrap="square" lIns="0" tIns="0" rIns="0" bIns="0" rtlCol="0" anchor="ctr"/>
          <a:lstStyle/>
          <a:p>
            <a:pPr marL="0" indent="0" algn="ctr">
              <a:buNone/>
            </a:pPr>
            <a:r>
              <a:rPr lang="en-US" sz="1400" b="1" kern="0" spc="80" dirty="0">
                <a:solidFill>
                  <a:srgbClr val="287A60"/>
                </a:solidFill>
                <a:latin typeface="Inter" pitchFamily="34" charset="0"/>
                <a:ea typeface="Inter" pitchFamily="34" charset="-122"/>
                <a:cs typeface="Inter" pitchFamily="34" charset="-120"/>
              </a:rPr>
              <a:t>TRAIN</a:t>
            </a:r>
            <a:endParaRPr lang="en-US" sz="1400" b="1" dirty="0"/>
          </a:p>
        </p:txBody>
      </p:sp>
      <p:sp>
        <p:nvSpPr>
          <p:cNvPr id="30" name="Text 28"/>
          <p:cNvSpPr/>
          <p:nvPr/>
        </p:nvSpPr>
        <p:spPr>
          <a:xfrm>
            <a:off x="6089904" y="2971800"/>
            <a:ext cx="2807208" cy="365760"/>
          </a:xfrm>
          <a:prstGeom prst="rect">
            <a:avLst/>
          </a:prstGeom>
          <a:noFill/>
          <a:ln/>
        </p:spPr>
        <p:txBody>
          <a:bodyPr wrap="square" lIns="0" tIns="0" rIns="0" bIns="0" rtlCol="0" anchor="ctr">
            <a:normAutofit/>
          </a:bodyPr>
          <a:lstStyle/>
          <a:p>
            <a:pPr marL="0" indent="0" algn="ctr">
              <a:buNone/>
            </a:pPr>
            <a:r>
              <a:rPr lang="en-US" sz="1200" b="1" dirty="0">
                <a:solidFill>
                  <a:srgbClr val="0C1B2A"/>
                </a:solidFill>
                <a:latin typeface="Inter Display" pitchFamily="34" charset="0"/>
                <a:ea typeface="Inter Display" pitchFamily="34" charset="-122"/>
                <a:cs typeface="Inter Display" pitchFamily="34" charset="-120"/>
              </a:rPr>
              <a:t>Make correct handling repeatable</a:t>
            </a:r>
            <a:endParaRPr lang="en-US" sz="1200" dirty="0"/>
          </a:p>
        </p:txBody>
      </p:sp>
      <p:sp>
        <p:nvSpPr>
          <p:cNvPr id="31" name="Shape 29"/>
          <p:cNvSpPr/>
          <p:nvPr/>
        </p:nvSpPr>
        <p:spPr>
          <a:xfrm>
            <a:off x="6419088" y="3758184"/>
            <a:ext cx="109728" cy="109728"/>
          </a:xfrm>
          <a:prstGeom prst="ellipse">
            <a:avLst/>
          </a:prstGeom>
          <a:solidFill>
            <a:srgbClr val="287A60"/>
          </a:solidFill>
          <a:ln w="12700">
            <a:solidFill>
              <a:srgbClr val="287A60"/>
            </a:solidFill>
            <a:prstDash val="solid"/>
          </a:ln>
        </p:spPr>
        <p:txBody>
          <a:bodyPr/>
          <a:lstStyle/>
          <a:p>
            <a:endParaRPr sz="2000"/>
          </a:p>
        </p:txBody>
      </p:sp>
      <p:sp>
        <p:nvSpPr>
          <p:cNvPr id="32" name="Text 30"/>
          <p:cNvSpPr/>
          <p:nvPr/>
        </p:nvSpPr>
        <p:spPr>
          <a:xfrm>
            <a:off x="6638544" y="3703320"/>
            <a:ext cx="1865376" cy="365760"/>
          </a:xfrm>
          <a:prstGeom prst="rect">
            <a:avLst/>
          </a:prstGeom>
          <a:noFill/>
          <a:ln/>
        </p:spPr>
        <p:txBody>
          <a:bodyPr wrap="square" lIns="0" tIns="0" rIns="0" bIns="0" rtlCol="0" anchor="ctr">
            <a:normAutofit/>
          </a:bodyPr>
          <a:lstStyle/>
          <a:p>
            <a:pPr marL="0" indent="0">
              <a:buNone/>
            </a:pPr>
            <a:r>
              <a:rPr lang="en-US" sz="1000" dirty="0">
                <a:latin typeface="Inter" pitchFamily="34" charset="0"/>
                <a:ea typeface="Inter" pitchFamily="34" charset="-122"/>
                <a:cs typeface="Inter" pitchFamily="34" charset="-120"/>
              </a:rPr>
              <a:t>Demonstrate proper cleaning and correct pan removal</a:t>
            </a:r>
          </a:p>
        </p:txBody>
      </p:sp>
      <p:sp>
        <p:nvSpPr>
          <p:cNvPr id="33" name="Shape 31"/>
          <p:cNvSpPr/>
          <p:nvPr/>
        </p:nvSpPr>
        <p:spPr>
          <a:xfrm>
            <a:off x="6419088" y="4352544"/>
            <a:ext cx="109728" cy="109728"/>
          </a:xfrm>
          <a:prstGeom prst="ellipse">
            <a:avLst/>
          </a:prstGeom>
          <a:solidFill>
            <a:srgbClr val="287A60"/>
          </a:solidFill>
          <a:ln w="12700">
            <a:solidFill>
              <a:srgbClr val="287A60"/>
            </a:solidFill>
            <a:prstDash val="solid"/>
          </a:ln>
        </p:spPr>
        <p:txBody>
          <a:bodyPr/>
          <a:lstStyle/>
          <a:p>
            <a:endParaRPr sz="2000"/>
          </a:p>
        </p:txBody>
      </p:sp>
      <p:sp>
        <p:nvSpPr>
          <p:cNvPr id="34" name="Text 32"/>
          <p:cNvSpPr/>
          <p:nvPr/>
        </p:nvSpPr>
        <p:spPr>
          <a:xfrm>
            <a:off x="6638544" y="4297680"/>
            <a:ext cx="1865376" cy="365760"/>
          </a:xfrm>
          <a:prstGeom prst="rect">
            <a:avLst/>
          </a:prstGeom>
          <a:noFill/>
          <a:ln/>
        </p:spPr>
        <p:txBody>
          <a:bodyPr wrap="square" lIns="0" tIns="0" rIns="0" bIns="0" rtlCol="0" anchor="ctr">
            <a:normAutofit/>
          </a:bodyPr>
          <a:lstStyle/>
          <a:p>
            <a:pPr marL="0" indent="0">
              <a:buNone/>
            </a:pPr>
            <a:r>
              <a:rPr lang="en-US" sz="1000" dirty="0">
                <a:latin typeface="Inter" pitchFamily="34" charset="0"/>
                <a:ea typeface="Inter" pitchFamily="34" charset="-122"/>
                <a:cs typeface="Inter" pitchFamily="34" charset="-120"/>
              </a:rPr>
              <a:t>Qualify operator / super-user alignment role</a:t>
            </a:r>
            <a:endParaRPr lang="en-US" sz="1000" dirty="0"/>
          </a:p>
        </p:txBody>
      </p:sp>
      <p:sp>
        <p:nvSpPr>
          <p:cNvPr id="35" name="Shape 33"/>
          <p:cNvSpPr/>
          <p:nvPr/>
        </p:nvSpPr>
        <p:spPr>
          <a:xfrm>
            <a:off x="6419088" y="4946904"/>
            <a:ext cx="109728" cy="109728"/>
          </a:xfrm>
          <a:prstGeom prst="ellipse">
            <a:avLst/>
          </a:prstGeom>
          <a:solidFill>
            <a:srgbClr val="287A60"/>
          </a:solidFill>
          <a:ln w="12700">
            <a:solidFill>
              <a:srgbClr val="287A60"/>
            </a:solidFill>
            <a:prstDash val="solid"/>
          </a:ln>
        </p:spPr>
        <p:txBody>
          <a:bodyPr/>
          <a:lstStyle/>
          <a:p>
            <a:endParaRPr sz="2000"/>
          </a:p>
        </p:txBody>
      </p:sp>
      <p:sp>
        <p:nvSpPr>
          <p:cNvPr id="36" name="Text 34"/>
          <p:cNvSpPr/>
          <p:nvPr/>
        </p:nvSpPr>
        <p:spPr>
          <a:xfrm>
            <a:off x="6638544" y="4892039"/>
            <a:ext cx="1865376" cy="533975"/>
          </a:xfrm>
          <a:prstGeom prst="rect">
            <a:avLst/>
          </a:prstGeom>
          <a:noFill/>
          <a:ln/>
        </p:spPr>
        <p:txBody>
          <a:bodyPr wrap="square" lIns="0" tIns="0" rIns="0" bIns="0" rtlCol="0" anchor="ctr">
            <a:normAutofit/>
          </a:bodyPr>
          <a:lstStyle/>
          <a:p>
            <a:pPr marL="0" indent="0">
              <a:buNone/>
            </a:pPr>
            <a:r>
              <a:rPr lang="en-US" sz="1000" dirty="0">
                <a:latin typeface="Inter" pitchFamily="34" charset="0"/>
                <a:ea typeface="Inter" pitchFamily="34" charset="-122"/>
              </a:rPr>
              <a:t>Training and SOP updates for Pan removal and no contact cleaning</a:t>
            </a:r>
            <a:endParaRPr lang="en-US" sz="1000" dirty="0"/>
          </a:p>
        </p:txBody>
      </p:sp>
      <p:sp>
        <p:nvSpPr>
          <p:cNvPr id="37" name="Shape 35"/>
          <p:cNvSpPr/>
          <p:nvPr/>
        </p:nvSpPr>
        <p:spPr>
          <a:xfrm>
            <a:off x="8970264" y="2194560"/>
            <a:ext cx="2523744" cy="3611880"/>
          </a:xfrm>
          <a:prstGeom prst="roundRect">
            <a:avLst>
              <a:gd name="adj" fmla="val 2899"/>
            </a:avLst>
          </a:prstGeom>
          <a:solidFill>
            <a:srgbClr val="FFFFFF"/>
          </a:solidFill>
          <a:ln w="10160">
            <a:solidFill>
              <a:srgbClr val="E0E3E5"/>
            </a:solidFill>
            <a:prstDash val="solid"/>
          </a:ln>
          <a:effectLst>
            <a:outerShdw algn="bl" rotWithShape="0">
              <a:srgbClr val="73808C">
                <a:alpha val="0"/>
              </a:srgbClr>
            </a:outerShdw>
          </a:effectLst>
        </p:spPr>
        <p:txBody>
          <a:bodyPr/>
          <a:lstStyle/>
          <a:p>
            <a:endParaRPr dirty="0"/>
          </a:p>
        </p:txBody>
      </p:sp>
      <p:sp>
        <p:nvSpPr>
          <p:cNvPr id="38" name="Shape 36"/>
          <p:cNvSpPr/>
          <p:nvPr/>
        </p:nvSpPr>
        <p:spPr>
          <a:xfrm>
            <a:off x="8970264" y="2194560"/>
            <a:ext cx="2523744" cy="576072"/>
          </a:xfrm>
          <a:prstGeom prst="rect">
            <a:avLst/>
          </a:prstGeom>
          <a:solidFill>
            <a:srgbClr val="F6EBD9"/>
          </a:solidFill>
          <a:ln w="12700">
            <a:solidFill>
              <a:srgbClr val="F6EBD9"/>
            </a:solidFill>
            <a:prstDash val="solid"/>
          </a:ln>
          <a:scene3d>
            <a:camera prst="orthographicFront"/>
            <a:lightRig rig="threePt" dir="t"/>
          </a:scene3d>
          <a:sp3d>
            <a:bevelT prst="angle"/>
          </a:sp3d>
        </p:spPr>
        <p:txBody>
          <a:bodyPr/>
          <a:lstStyle/>
          <a:p>
            <a:endParaRPr sz="4000" b="1"/>
          </a:p>
        </p:txBody>
      </p:sp>
      <p:sp>
        <p:nvSpPr>
          <p:cNvPr id="39" name="Text 37"/>
          <p:cNvSpPr/>
          <p:nvPr/>
        </p:nvSpPr>
        <p:spPr>
          <a:xfrm>
            <a:off x="9015984" y="2194560"/>
            <a:ext cx="2432304" cy="576072"/>
          </a:xfrm>
          <a:prstGeom prst="rect">
            <a:avLst/>
          </a:prstGeom>
          <a:noFill/>
          <a:ln/>
          <a:scene3d>
            <a:camera prst="orthographicFront"/>
            <a:lightRig rig="threePt" dir="t"/>
          </a:scene3d>
          <a:sp3d>
            <a:bevelT prst="angle"/>
          </a:sp3d>
        </p:spPr>
        <p:txBody>
          <a:bodyPr wrap="square" lIns="0" tIns="0" rIns="0" bIns="0" rtlCol="0" anchor="ctr"/>
          <a:lstStyle/>
          <a:p>
            <a:pPr marL="0" indent="0" algn="ctr">
              <a:buNone/>
            </a:pPr>
            <a:r>
              <a:rPr lang="en-US" sz="1400" b="1" kern="0" spc="80" dirty="0">
                <a:solidFill>
                  <a:srgbClr val="B67724"/>
                </a:solidFill>
                <a:latin typeface="Inter" pitchFamily="34" charset="0"/>
                <a:ea typeface="Inter" pitchFamily="34" charset="-122"/>
                <a:cs typeface="Inter" pitchFamily="34" charset="-120"/>
              </a:rPr>
              <a:t>ACT</a:t>
            </a:r>
            <a:endParaRPr lang="en-US" sz="1400" b="1" dirty="0"/>
          </a:p>
        </p:txBody>
      </p:sp>
      <p:sp>
        <p:nvSpPr>
          <p:cNvPr id="40" name="Text 38"/>
          <p:cNvSpPr/>
          <p:nvPr/>
        </p:nvSpPr>
        <p:spPr>
          <a:xfrm>
            <a:off x="8878047" y="2962656"/>
            <a:ext cx="2708177" cy="365760"/>
          </a:xfrm>
          <a:prstGeom prst="rect">
            <a:avLst/>
          </a:prstGeom>
          <a:noFill/>
          <a:ln/>
        </p:spPr>
        <p:txBody>
          <a:bodyPr wrap="square" lIns="0" tIns="0" rIns="0" bIns="0" rtlCol="0" anchor="ctr">
            <a:normAutofit/>
          </a:bodyPr>
          <a:lstStyle/>
          <a:p>
            <a:pPr marL="0" indent="0" algn="ctr">
              <a:buNone/>
            </a:pPr>
            <a:r>
              <a:rPr lang="en-US" sz="1200" b="1" dirty="0">
                <a:solidFill>
                  <a:srgbClr val="0C1B2A"/>
                </a:solidFill>
                <a:latin typeface="Inter Display" pitchFamily="34" charset="0"/>
                <a:ea typeface="Inter Display" pitchFamily="34" charset="-122"/>
                <a:cs typeface="Inter Display" pitchFamily="34" charset="-120"/>
              </a:rPr>
              <a:t>Close remaining technical gaps</a:t>
            </a:r>
            <a:endParaRPr lang="en-US" sz="1200" dirty="0"/>
          </a:p>
        </p:txBody>
      </p:sp>
      <p:sp>
        <p:nvSpPr>
          <p:cNvPr id="41" name="Shape 39"/>
          <p:cNvSpPr/>
          <p:nvPr/>
        </p:nvSpPr>
        <p:spPr>
          <a:xfrm>
            <a:off x="9189720" y="3758184"/>
            <a:ext cx="109728" cy="109728"/>
          </a:xfrm>
          <a:prstGeom prst="ellipse">
            <a:avLst/>
          </a:prstGeom>
          <a:solidFill>
            <a:srgbClr val="B67724"/>
          </a:solidFill>
          <a:ln w="12700">
            <a:solidFill>
              <a:srgbClr val="B67724"/>
            </a:solidFill>
            <a:prstDash val="solid"/>
          </a:ln>
        </p:spPr>
        <p:txBody>
          <a:bodyPr/>
          <a:lstStyle/>
          <a:p>
            <a:endParaRPr sz="2000"/>
          </a:p>
        </p:txBody>
      </p:sp>
      <p:sp>
        <p:nvSpPr>
          <p:cNvPr id="42" name="Text 40"/>
          <p:cNvSpPr/>
          <p:nvPr/>
        </p:nvSpPr>
        <p:spPr>
          <a:xfrm>
            <a:off x="9409176" y="3648655"/>
            <a:ext cx="1865376" cy="365760"/>
          </a:xfrm>
          <a:prstGeom prst="rect">
            <a:avLst/>
          </a:prstGeom>
          <a:noFill/>
          <a:ln/>
        </p:spPr>
        <p:txBody>
          <a:bodyPr wrap="square" lIns="0" tIns="0" rIns="0" bIns="0" rtlCol="0" anchor="ctr">
            <a:normAutofit/>
          </a:bodyPr>
          <a:lstStyle/>
          <a:p>
            <a:pPr marL="0" indent="0">
              <a:buNone/>
            </a:pPr>
            <a:r>
              <a:rPr lang="en-US" sz="1000" dirty="0">
                <a:latin typeface="Inter" pitchFamily="34" charset="0"/>
                <a:ea typeface="Inter" pitchFamily="34" charset="-122"/>
                <a:cs typeface="Inter" pitchFamily="34" charset="-120"/>
              </a:rPr>
              <a:t>Update SOP Terminology and Cleaning sections</a:t>
            </a:r>
            <a:endParaRPr lang="en-US" sz="1000" dirty="0"/>
          </a:p>
        </p:txBody>
      </p:sp>
      <p:sp>
        <p:nvSpPr>
          <p:cNvPr id="43" name="Shape 41"/>
          <p:cNvSpPr/>
          <p:nvPr/>
        </p:nvSpPr>
        <p:spPr>
          <a:xfrm>
            <a:off x="9189720" y="4352544"/>
            <a:ext cx="109728" cy="109728"/>
          </a:xfrm>
          <a:prstGeom prst="ellipse">
            <a:avLst/>
          </a:prstGeom>
          <a:solidFill>
            <a:srgbClr val="B67724"/>
          </a:solidFill>
          <a:ln w="12700">
            <a:solidFill>
              <a:srgbClr val="B67724"/>
            </a:solidFill>
            <a:prstDash val="solid"/>
          </a:ln>
        </p:spPr>
        <p:txBody>
          <a:bodyPr/>
          <a:lstStyle/>
          <a:p>
            <a:endParaRPr sz="2000"/>
          </a:p>
        </p:txBody>
      </p:sp>
      <p:sp>
        <p:nvSpPr>
          <p:cNvPr id="44" name="Text 42"/>
          <p:cNvSpPr/>
          <p:nvPr/>
        </p:nvSpPr>
        <p:spPr>
          <a:xfrm>
            <a:off x="9409176" y="4297680"/>
            <a:ext cx="1865376" cy="365760"/>
          </a:xfrm>
          <a:prstGeom prst="rect">
            <a:avLst/>
          </a:prstGeom>
          <a:noFill/>
          <a:ln/>
        </p:spPr>
        <p:txBody>
          <a:bodyPr wrap="square" lIns="0" tIns="0" rIns="0" bIns="0" rtlCol="0" anchor="ctr">
            <a:normAutofit/>
          </a:bodyPr>
          <a:lstStyle/>
          <a:p>
            <a:pPr marL="0" indent="0">
              <a:buNone/>
            </a:pPr>
            <a:r>
              <a:rPr lang="en-US" sz="1000" dirty="0">
                <a:latin typeface="Inter" pitchFamily="34" charset="0"/>
                <a:ea typeface="Inter" pitchFamily="34" charset="-122"/>
                <a:cs typeface="Inter" pitchFamily="34" charset="-120"/>
              </a:rPr>
              <a:t>Inspect Operations after training</a:t>
            </a:r>
            <a:endParaRPr lang="en-US" sz="1000" dirty="0"/>
          </a:p>
        </p:txBody>
      </p:sp>
      <p:sp>
        <p:nvSpPr>
          <p:cNvPr id="45" name="Shape 43"/>
          <p:cNvSpPr/>
          <p:nvPr/>
        </p:nvSpPr>
        <p:spPr>
          <a:xfrm>
            <a:off x="9189720" y="4946904"/>
            <a:ext cx="109728" cy="109728"/>
          </a:xfrm>
          <a:prstGeom prst="ellipse">
            <a:avLst/>
          </a:prstGeom>
          <a:solidFill>
            <a:srgbClr val="B67724"/>
          </a:solidFill>
          <a:ln w="12700">
            <a:solidFill>
              <a:srgbClr val="B67724"/>
            </a:solidFill>
            <a:prstDash val="solid"/>
          </a:ln>
        </p:spPr>
        <p:txBody>
          <a:bodyPr/>
          <a:lstStyle/>
          <a:p>
            <a:endParaRPr sz="2000"/>
          </a:p>
        </p:txBody>
      </p:sp>
      <p:sp>
        <p:nvSpPr>
          <p:cNvPr id="46" name="Text 44"/>
          <p:cNvSpPr/>
          <p:nvPr/>
        </p:nvSpPr>
        <p:spPr>
          <a:xfrm>
            <a:off x="9409176" y="4892040"/>
            <a:ext cx="1865376" cy="365760"/>
          </a:xfrm>
          <a:prstGeom prst="rect">
            <a:avLst/>
          </a:prstGeom>
          <a:noFill/>
          <a:ln/>
        </p:spPr>
        <p:txBody>
          <a:bodyPr wrap="square" lIns="0" tIns="0" rIns="0" bIns="0" rtlCol="0" anchor="ctr">
            <a:normAutofit/>
          </a:bodyPr>
          <a:lstStyle/>
          <a:p>
            <a:pPr marL="0" indent="0">
              <a:buNone/>
            </a:pPr>
            <a:r>
              <a:rPr lang="en-US" sz="1000" dirty="0">
                <a:latin typeface="Inter" pitchFamily="34" charset="0"/>
                <a:ea typeface="Inter" pitchFamily="34" charset="-122"/>
                <a:cs typeface="Inter" pitchFamily="34" charset="-120"/>
              </a:rPr>
              <a:t>Installation and Removal of balance by leads only.</a:t>
            </a:r>
            <a:endParaRPr lang="en-US" sz="1000" dirty="0"/>
          </a:p>
        </p:txBody>
      </p:sp>
      <p:sp>
        <p:nvSpPr>
          <p:cNvPr id="47" name="Shape 45"/>
          <p:cNvSpPr/>
          <p:nvPr/>
        </p:nvSpPr>
        <p:spPr>
          <a:xfrm>
            <a:off x="658368" y="5961888"/>
            <a:ext cx="10835640" cy="274320"/>
          </a:xfrm>
          <a:prstGeom prst="roundRect">
            <a:avLst>
              <a:gd name="adj" fmla="val 26667"/>
            </a:avLst>
          </a:prstGeom>
          <a:solidFill>
            <a:srgbClr val="0E2136"/>
          </a:solidFill>
          <a:ln w="10160">
            <a:solidFill>
              <a:srgbClr val="0E2136"/>
            </a:solidFill>
            <a:prstDash val="solid"/>
          </a:ln>
        </p:spPr>
        <p:txBody>
          <a:bodyPr/>
          <a:lstStyle/>
          <a:p>
            <a:endParaRPr/>
          </a:p>
        </p:txBody>
      </p:sp>
      <p:sp>
        <p:nvSpPr>
          <p:cNvPr id="48" name="Text 46"/>
          <p:cNvSpPr/>
          <p:nvPr/>
        </p:nvSpPr>
        <p:spPr>
          <a:xfrm>
            <a:off x="704088" y="5961888"/>
            <a:ext cx="10744200" cy="274320"/>
          </a:xfrm>
          <a:prstGeom prst="rect">
            <a:avLst/>
          </a:prstGeom>
          <a:noFill/>
          <a:ln/>
        </p:spPr>
        <p:txBody>
          <a:bodyPr wrap="square" lIns="0" tIns="0" rIns="0" bIns="0" rtlCol="0" anchor="ctr"/>
          <a:lstStyle/>
          <a:p>
            <a:pPr marL="0" indent="0" algn="ctr">
              <a:buNone/>
            </a:pPr>
            <a:r>
              <a:rPr lang="en-US" sz="820" b="1" dirty="0">
                <a:solidFill>
                  <a:srgbClr val="FFFFFF"/>
                </a:solidFill>
                <a:latin typeface="Inter" pitchFamily="34" charset="0"/>
                <a:ea typeface="Inter" pitchFamily="34" charset="-122"/>
                <a:cs typeface="Inter" pitchFamily="34" charset="-120"/>
              </a:rPr>
              <a:t>Implementation principle  →  engineer out the contact opportunity where practical; do not rely on memory alone.</a:t>
            </a:r>
            <a:endParaRPr lang="en-US" sz="820" dirty="0"/>
          </a:p>
        </p:txBody>
      </p:sp>
      <p:sp>
        <p:nvSpPr>
          <p:cNvPr id="2" name="Slide Number Placeholder 0"/>
          <p:cNvSpPr>
            <a:spLocks noGrp="1"/>
          </p:cNvSpPr>
          <p:nvPr>
            <p:ph type="sldNum" sz="quarter" idx="4294967295"/>
          </p:nvPr>
        </p:nvSpPr>
        <p:spPr>
          <a:xfrm>
            <a:off x="11247120" y="6419088"/>
            <a:ext cx="457200" cy="201168"/>
          </a:xfrm>
          <a:prstGeom prst="rect">
            <a:avLst/>
          </a:prstGeom>
          <a:extLst>
            <a:ext uri="{C572A759-6A51-4108-AA02-DFA0A04FC94B}">
              <ma14:wrappingTextBoxFlag xmlns="" xmlns:ma14="http://schemas.microsoft.com/office/mac/drawingml/2011/main" val="0"/>
            </a:ext>
          </a:extLst>
        </p:spPr>
        <p:txBody>
          <a:bodyPr lIns="0" tIns="0" rIns="0" bIns="0"/>
          <a:lstStyle>
            <a:lvl1pPr>
              <a:defRPr sz="700">
                <a:solidFill>
                  <a:srgbClr val="89929D"/>
                </a:solidFill>
                <a:latin typeface="Inter"/>
                <a:ea typeface="Inter"/>
                <a:cs typeface="Inter"/>
              </a:defRPr>
            </a:lvl1pPr>
          </a:lstStyle>
          <a:p>
            <a:pPr algn="r"/>
            <a:fld id="{F7021451-1387-4CA6-816F-3879F97B5CBC}" type="slidenum">
              <a:rPr lang="en-US" b="0"/>
              <a:t>16</a:t>
            </a:fld>
            <a:endParaRPr lang="en-US"/>
          </a:p>
        </p:txBody>
      </p:sp>
      <p:pic>
        <p:nvPicPr>
          <p:cNvPr id="4" name="Picture 3" descr="control_sequence.gif">
            <a:extLst>
              <a:ext uri="{FF2B5EF4-FFF2-40B4-BE49-F238E27FC236}">
                <a16:creationId xmlns:a16="http://schemas.microsoft.com/office/drawing/2014/main" id="{ABDDEF2B-5E2E-E2D0-E12A-D7C40C90C455}"/>
              </a:ext>
            </a:extLst>
          </p:cNvPr>
          <p:cNvPicPr>
            <a:picLocks noChangeAspect="1"/>
          </p:cNvPicPr>
          <p:nvPr/>
        </p:nvPicPr>
        <p:blipFill>
          <a:blip r:embed="rId3"/>
          <a:stretch>
            <a:fillRect/>
          </a:stretch>
        </p:blipFill>
        <p:spPr>
          <a:xfrm>
            <a:off x="9098280" y="1719072"/>
            <a:ext cx="1508760" cy="2286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566928" y="850392"/>
            <a:ext cx="10972800" cy="566928"/>
          </a:xfrm>
          <a:prstGeom prst="rect">
            <a:avLst/>
          </a:prstGeom>
          <a:noFill/>
          <a:ln/>
        </p:spPr>
        <p:txBody>
          <a:bodyPr wrap="square" lIns="0" tIns="0" rIns="0" bIns="0" rtlCol="0" anchor="ctr">
            <a:normAutofit/>
          </a:bodyPr>
          <a:lstStyle/>
          <a:p>
            <a:pPr marL="0" indent="0">
              <a:buNone/>
            </a:pPr>
            <a:r>
              <a:rPr lang="en-US" sz="2750" b="1" dirty="0">
                <a:solidFill>
                  <a:srgbClr val="0C1B2A"/>
                </a:solidFill>
                <a:latin typeface="Inter Display" pitchFamily="34" charset="0"/>
                <a:ea typeface="Inter Display" pitchFamily="34" charset="-122"/>
                <a:cs typeface="Inter Display" pitchFamily="34" charset="-120"/>
              </a:rPr>
              <a:t>The mechanical pathway is actionable now</a:t>
            </a:r>
            <a:endParaRPr lang="en-US" sz="2750" dirty="0"/>
          </a:p>
        </p:txBody>
      </p:sp>
      <p:sp>
        <p:nvSpPr>
          <p:cNvPr id="6" name="Text 4"/>
          <p:cNvSpPr/>
          <p:nvPr/>
        </p:nvSpPr>
        <p:spPr>
          <a:xfrm>
            <a:off x="585216" y="1435608"/>
            <a:ext cx="10789920" cy="329184"/>
          </a:xfrm>
          <a:prstGeom prst="rect">
            <a:avLst/>
          </a:prstGeom>
          <a:noFill/>
          <a:ln/>
        </p:spPr>
        <p:txBody>
          <a:bodyPr wrap="square" lIns="0" tIns="0" rIns="0" bIns="0" rtlCol="0" anchor="ctr">
            <a:normAutofit/>
          </a:bodyPr>
          <a:lstStyle/>
          <a:p>
            <a:r>
              <a:rPr lang="en-US" sz="1200" dirty="0">
                <a:solidFill>
                  <a:srgbClr val="1769E0"/>
                </a:solidFill>
                <a:latin typeface="Inter" panose="020B0502030000000004" pitchFamily="34" charset="0"/>
                <a:ea typeface="Inter" panose="020B0502030000000004" pitchFamily="34" charset="0"/>
              </a:rPr>
              <a:t>Formalize Controls, assign ownership and verify effectiveness</a:t>
            </a:r>
            <a:endParaRPr lang="en-US" sz="1180" dirty="0">
              <a:solidFill>
                <a:srgbClr val="1769E0"/>
              </a:solidFill>
              <a:latin typeface="Inter" panose="020B0502030000000004" pitchFamily="34" charset="0"/>
              <a:ea typeface="Inter" panose="020B0502030000000004" pitchFamily="34" charset="0"/>
            </a:endParaRPr>
          </a:p>
        </p:txBody>
      </p:sp>
      <p:sp>
        <p:nvSpPr>
          <p:cNvPr id="7" name="Shape 5"/>
          <p:cNvSpPr/>
          <p:nvPr/>
        </p:nvSpPr>
        <p:spPr>
          <a:xfrm>
            <a:off x="4843042" y="5608205"/>
            <a:ext cx="11045952" cy="0"/>
          </a:xfrm>
          <a:prstGeom prst="line">
            <a:avLst/>
          </a:prstGeom>
          <a:noFill/>
          <a:ln w="10160">
            <a:solidFill>
              <a:srgbClr val="D7DAD8"/>
            </a:solidFill>
            <a:prstDash val="solid"/>
          </a:ln>
        </p:spPr>
        <p:txBody>
          <a:bodyPr/>
          <a:lstStyle/>
          <a:p>
            <a:endParaRPr/>
          </a:p>
        </p:txBody>
      </p:sp>
      <p:sp>
        <p:nvSpPr>
          <p:cNvPr id="8" name="Shape 6"/>
          <p:cNvSpPr/>
          <p:nvPr/>
        </p:nvSpPr>
        <p:spPr>
          <a:xfrm>
            <a:off x="585216" y="2112609"/>
            <a:ext cx="475488" cy="475488"/>
          </a:xfrm>
          <a:prstGeom prst="ellipse">
            <a:avLst/>
          </a:prstGeom>
          <a:solidFill>
            <a:srgbClr val="1769E0"/>
          </a:solidFill>
          <a:ln w="12700">
            <a:solidFill>
              <a:srgbClr val="1769E0"/>
            </a:solidFill>
            <a:prstDash val="solid"/>
          </a:ln>
        </p:spPr>
        <p:txBody>
          <a:bodyPr/>
          <a:lstStyle/>
          <a:p>
            <a:endParaRPr sz="4400"/>
          </a:p>
        </p:txBody>
      </p:sp>
      <p:sp>
        <p:nvSpPr>
          <p:cNvPr id="9" name="Text 7"/>
          <p:cNvSpPr/>
          <p:nvPr/>
        </p:nvSpPr>
        <p:spPr>
          <a:xfrm>
            <a:off x="585216" y="2112609"/>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Inter" pitchFamily="34" charset="0"/>
                <a:ea typeface="Inter" pitchFamily="34" charset="-122"/>
                <a:cs typeface="Inter" pitchFamily="34" charset="-120"/>
              </a:rPr>
              <a:t>1</a:t>
            </a:r>
            <a:endParaRPr lang="en-US" sz="1400" dirty="0"/>
          </a:p>
        </p:txBody>
      </p:sp>
      <p:sp>
        <p:nvSpPr>
          <p:cNvPr id="10" name="Text 8"/>
          <p:cNvSpPr/>
          <p:nvPr/>
        </p:nvSpPr>
        <p:spPr>
          <a:xfrm>
            <a:off x="1389888" y="2249424"/>
            <a:ext cx="3840480" cy="256032"/>
          </a:xfrm>
          <a:prstGeom prst="rect">
            <a:avLst/>
          </a:prstGeom>
          <a:noFill/>
          <a:ln/>
        </p:spPr>
        <p:txBody>
          <a:bodyPr wrap="square" lIns="0" tIns="0" rIns="0" bIns="0" rtlCol="0" anchor="ctr">
            <a:normAutofit/>
          </a:bodyPr>
          <a:lstStyle/>
          <a:p>
            <a:pPr marL="0" indent="0">
              <a:buNone/>
            </a:pPr>
            <a:r>
              <a:rPr lang="en-US" sz="1200" b="1" dirty="0">
                <a:solidFill>
                  <a:schemeClr val="accent2"/>
                </a:solidFill>
                <a:latin typeface="Inter" panose="020B0502030000000004" pitchFamily="34" charset="0"/>
                <a:ea typeface="Inter" panose="020B0502030000000004" pitchFamily="34" charset="0"/>
                <a:cs typeface="Inter Display" pitchFamily="34" charset="-120"/>
              </a:rPr>
              <a:t>Approve the cleaning / handling control direction</a:t>
            </a:r>
            <a:endParaRPr lang="en-US" sz="1200" b="1" dirty="0">
              <a:solidFill>
                <a:schemeClr val="accent2"/>
              </a:solidFill>
              <a:latin typeface="Inter" panose="020B0502030000000004" pitchFamily="34" charset="0"/>
              <a:ea typeface="Inter" panose="020B0502030000000004" pitchFamily="34" charset="0"/>
            </a:endParaRPr>
          </a:p>
        </p:txBody>
      </p:sp>
      <p:sp>
        <p:nvSpPr>
          <p:cNvPr id="11" name="Text 9"/>
          <p:cNvSpPr/>
          <p:nvPr/>
        </p:nvSpPr>
        <p:spPr>
          <a:xfrm>
            <a:off x="5440680" y="2231136"/>
            <a:ext cx="5532120" cy="384048"/>
          </a:xfrm>
          <a:prstGeom prst="rect">
            <a:avLst/>
          </a:prstGeom>
          <a:noFill/>
          <a:ln/>
        </p:spPr>
        <p:txBody>
          <a:bodyPr wrap="square" lIns="0" tIns="0" rIns="0" bIns="0" rtlCol="0" anchor="ctr">
            <a:normAutofit/>
          </a:bodyPr>
          <a:lstStyle/>
          <a:p>
            <a:pPr marL="0" indent="0">
              <a:buNone/>
            </a:pPr>
            <a:r>
              <a:rPr lang="en-US" sz="1100" dirty="0">
                <a:latin typeface="Inter" pitchFamily="34" charset="0"/>
                <a:ea typeface="Inter" pitchFamily="34" charset="-122"/>
                <a:cs typeface="Inter" pitchFamily="34" charset="-120"/>
              </a:rPr>
              <a:t>No direct weigh-pan force; define removal / isolation and equipment-state requirements.</a:t>
            </a:r>
            <a:endParaRPr lang="en-US" sz="1100" dirty="0"/>
          </a:p>
        </p:txBody>
      </p:sp>
      <p:sp>
        <p:nvSpPr>
          <p:cNvPr id="12" name="Shape 10"/>
          <p:cNvSpPr/>
          <p:nvPr/>
        </p:nvSpPr>
        <p:spPr>
          <a:xfrm>
            <a:off x="1389888" y="2843784"/>
            <a:ext cx="9601200" cy="0"/>
          </a:xfrm>
          <a:prstGeom prst="line">
            <a:avLst/>
          </a:prstGeom>
          <a:noFill/>
          <a:ln w="8890">
            <a:solidFill>
              <a:srgbClr val="DFE3E5"/>
            </a:solidFill>
            <a:prstDash val="solid"/>
          </a:ln>
        </p:spPr>
        <p:txBody>
          <a:bodyPr/>
          <a:lstStyle/>
          <a:p>
            <a:endParaRPr sz="1100"/>
          </a:p>
        </p:txBody>
      </p:sp>
      <p:sp>
        <p:nvSpPr>
          <p:cNvPr id="13" name="Shape 11"/>
          <p:cNvSpPr/>
          <p:nvPr/>
        </p:nvSpPr>
        <p:spPr>
          <a:xfrm>
            <a:off x="585216" y="2963001"/>
            <a:ext cx="475488" cy="475488"/>
          </a:xfrm>
          <a:prstGeom prst="ellipse">
            <a:avLst/>
          </a:prstGeom>
          <a:solidFill>
            <a:srgbClr val="1769E0"/>
          </a:solidFill>
          <a:ln w="12700">
            <a:solidFill>
              <a:srgbClr val="1769E0"/>
            </a:solidFill>
            <a:prstDash val="solid"/>
          </a:ln>
        </p:spPr>
        <p:txBody>
          <a:bodyPr/>
          <a:lstStyle/>
          <a:p>
            <a:endParaRPr sz="4400"/>
          </a:p>
        </p:txBody>
      </p:sp>
      <p:sp>
        <p:nvSpPr>
          <p:cNvPr id="14" name="Text 12"/>
          <p:cNvSpPr/>
          <p:nvPr/>
        </p:nvSpPr>
        <p:spPr>
          <a:xfrm>
            <a:off x="585216" y="2963001"/>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Inter" pitchFamily="34" charset="0"/>
                <a:ea typeface="Inter" pitchFamily="34" charset="-122"/>
                <a:cs typeface="Inter" pitchFamily="34" charset="-120"/>
              </a:rPr>
              <a:t>2</a:t>
            </a:r>
            <a:endParaRPr lang="en-US" sz="1400" dirty="0"/>
          </a:p>
        </p:txBody>
      </p:sp>
      <p:sp>
        <p:nvSpPr>
          <p:cNvPr id="15" name="Text 13"/>
          <p:cNvSpPr/>
          <p:nvPr/>
        </p:nvSpPr>
        <p:spPr>
          <a:xfrm>
            <a:off x="1389888" y="3099816"/>
            <a:ext cx="3840480" cy="256032"/>
          </a:xfrm>
          <a:prstGeom prst="rect">
            <a:avLst/>
          </a:prstGeom>
          <a:noFill/>
          <a:ln/>
        </p:spPr>
        <p:txBody>
          <a:bodyPr wrap="square" lIns="0" tIns="0" rIns="0" bIns="0" rtlCol="0" anchor="ctr">
            <a:normAutofit/>
          </a:bodyPr>
          <a:lstStyle/>
          <a:p>
            <a:pPr marL="0" indent="0">
              <a:buNone/>
            </a:pPr>
            <a:r>
              <a:rPr lang="en-US" sz="1200" b="1" dirty="0">
                <a:solidFill>
                  <a:schemeClr val="accent2"/>
                </a:solidFill>
                <a:latin typeface="Inter" panose="020B0502030000000004" pitchFamily="34" charset="0"/>
                <a:ea typeface="Inter" panose="020B0502030000000004" pitchFamily="34" charset="0"/>
                <a:cs typeface="Inter Display" pitchFamily="34" charset="-120"/>
              </a:rPr>
              <a:t>Assign alignment ownership + training</a:t>
            </a:r>
            <a:endParaRPr lang="en-US" sz="1200" b="1" dirty="0">
              <a:solidFill>
                <a:schemeClr val="accent2"/>
              </a:solidFill>
              <a:latin typeface="Inter" panose="020B0502030000000004" pitchFamily="34" charset="0"/>
              <a:ea typeface="Inter" panose="020B0502030000000004" pitchFamily="34" charset="0"/>
            </a:endParaRPr>
          </a:p>
        </p:txBody>
      </p:sp>
      <p:sp>
        <p:nvSpPr>
          <p:cNvPr id="16" name="Text 14"/>
          <p:cNvSpPr/>
          <p:nvPr/>
        </p:nvSpPr>
        <p:spPr>
          <a:xfrm>
            <a:off x="5440680" y="3081528"/>
            <a:ext cx="5532120" cy="384048"/>
          </a:xfrm>
          <a:prstGeom prst="rect">
            <a:avLst/>
          </a:prstGeom>
          <a:noFill/>
          <a:ln/>
        </p:spPr>
        <p:txBody>
          <a:bodyPr wrap="square" lIns="0" tIns="0" rIns="0" bIns="0" rtlCol="0" anchor="ctr">
            <a:normAutofit/>
          </a:bodyPr>
          <a:lstStyle/>
          <a:p>
            <a:pPr marL="0" indent="0">
              <a:buNone/>
            </a:pPr>
            <a:r>
              <a:rPr lang="en-US" sz="1100" dirty="0">
                <a:latin typeface="Inter" pitchFamily="34" charset="0"/>
                <a:ea typeface="Inter" pitchFamily="34" charset="-122"/>
                <a:cs typeface="Inter" pitchFamily="34" charset="-120"/>
              </a:rPr>
              <a:t>Decide who can perform pre-alignment, removal and installation; </a:t>
            </a:r>
          </a:p>
          <a:p>
            <a:pPr marL="0" indent="0">
              <a:buNone/>
            </a:pPr>
            <a:r>
              <a:rPr lang="en-US" sz="1100" dirty="0">
                <a:latin typeface="Inter" pitchFamily="34" charset="0"/>
                <a:ea typeface="Inter" pitchFamily="34" charset="-122"/>
                <a:cs typeface="Inter" pitchFamily="34" charset="-120"/>
              </a:rPr>
              <a:t>As well as how competency is documented.</a:t>
            </a:r>
            <a:endParaRPr lang="en-US" sz="1100" dirty="0"/>
          </a:p>
        </p:txBody>
      </p:sp>
      <p:sp>
        <p:nvSpPr>
          <p:cNvPr id="17" name="Shape 15"/>
          <p:cNvSpPr/>
          <p:nvPr/>
        </p:nvSpPr>
        <p:spPr>
          <a:xfrm>
            <a:off x="1389888" y="3694176"/>
            <a:ext cx="9601200" cy="0"/>
          </a:xfrm>
          <a:prstGeom prst="line">
            <a:avLst/>
          </a:prstGeom>
          <a:noFill/>
          <a:ln w="8890">
            <a:solidFill>
              <a:srgbClr val="DFE3E5"/>
            </a:solidFill>
            <a:prstDash val="solid"/>
          </a:ln>
        </p:spPr>
        <p:txBody>
          <a:bodyPr/>
          <a:lstStyle/>
          <a:p>
            <a:endParaRPr sz="1100"/>
          </a:p>
        </p:txBody>
      </p:sp>
      <p:sp>
        <p:nvSpPr>
          <p:cNvPr id="18" name="Shape 16"/>
          <p:cNvSpPr/>
          <p:nvPr/>
        </p:nvSpPr>
        <p:spPr>
          <a:xfrm>
            <a:off x="585216" y="3813393"/>
            <a:ext cx="475488" cy="475488"/>
          </a:xfrm>
          <a:prstGeom prst="ellipse">
            <a:avLst/>
          </a:prstGeom>
          <a:solidFill>
            <a:srgbClr val="1769E0"/>
          </a:solidFill>
          <a:ln w="12700">
            <a:solidFill>
              <a:srgbClr val="1769E0"/>
            </a:solidFill>
            <a:prstDash val="solid"/>
          </a:ln>
        </p:spPr>
        <p:txBody>
          <a:bodyPr/>
          <a:lstStyle/>
          <a:p>
            <a:endParaRPr sz="4400"/>
          </a:p>
        </p:txBody>
      </p:sp>
      <p:sp>
        <p:nvSpPr>
          <p:cNvPr id="19" name="Text 17"/>
          <p:cNvSpPr/>
          <p:nvPr/>
        </p:nvSpPr>
        <p:spPr>
          <a:xfrm>
            <a:off x="585216" y="3813393"/>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Inter" pitchFamily="34" charset="0"/>
                <a:ea typeface="Inter" pitchFamily="34" charset="-122"/>
                <a:cs typeface="Inter" pitchFamily="34" charset="-120"/>
              </a:rPr>
              <a:t>3</a:t>
            </a:r>
            <a:endParaRPr lang="en-US" sz="1400" dirty="0"/>
          </a:p>
        </p:txBody>
      </p:sp>
      <p:sp>
        <p:nvSpPr>
          <p:cNvPr id="20" name="Text 18"/>
          <p:cNvSpPr/>
          <p:nvPr/>
        </p:nvSpPr>
        <p:spPr>
          <a:xfrm>
            <a:off x="1389888" y="3950208"/>
            <a:ext cx="3840480" cy="256032"/>
          </a:xfrm>
          <a:prstGeom prst="rect">
            <a:avLst/>
          </a:prstGeom>
          <a:noFill/>
          <a:ln/>
        </p:spPr>
        <p:txBody>
          <a:bodyPr wrap="square" lIns="0" tIns="0" rIns="0" bIns="0" rtlCol="0" anchor="ctr">
            <a:normAutofit/>
          </a:bodyPr>
          <a:lstStyle/>
          <a:p>
            <a:r>
              <a:rPr lang="en-US" sz="1200" b="1" dirty="0">
                <a:solidFill>
                  <a:schemeClr val="accent2"/>
                </a:solidFill>
              </a:rPr>
              <a:t>Implement physical damage-prevention controls</a:t>
            </a:r>
            <a:endParaRPr lang="en-US" sz="1200" b="1" dirty="0">
              <a:solidFill>
                <a:schemeClr val="accent2"/>
              </a:solidFill>
              <a:latin typeface="Inter" panose="020B0502030000000004" pitchFamily="34" charset="0"/>
              <a:ea typeface="Inter" panose="020B0502030000000004" pitchFamily="34" charset="0"/>
            </a:endParaRPr>
          </a:p>
        </p:txBody>
      </p:sp>
      <p:sp>
        <p:nvSpPr>
          <p:cNvPr id="21" name="Text 19"/>
          <p:cNvSpPr/>
          <p:nvPr/>
        </p:nvSpPr>
        <p:spPr>
          <a:xfrm>
            <a:off x="5440680" y="3931920"/>
            <a:ext cx="5532120" cy="384048"/>
          </a:xfrm>
          <a:prstGeom prst="rect">
            <a:avLst/>
          </a:prstGeom>
          <a:noFill/>
          <a:ln/>
        </p:spPr>
        <p:txBody>
          <a:bodyPr wrap="square" lIns="0" tIns="0" rIns="0" bIns="0" rtlCol="0" anchor="ctr">
            <a:normAutofit/>
          </a:bodyPr>
          <a:lstStyle/>
          <a:p>
            <a:r>
              <a:rPr lang="en-US" sz="1100" dirty="0"/>
              <a:t>Lead operator routine inspections. Leads verify retraining effectiveness and document repeat pan contact, misalignment, or damage.</a:t>
            </a:r>
          </a:p>
        </p:txBody>
      </p:sp>
      <p:sp>
        <p:nvSpPr>
          <p:cNvPr id="22" name="Shape 20"/>
          <p:cNvSpPr/>
          <p:nvPr/>
        </p:nvSpPr>
        <p:spPr>
          <a:xfrm>
            <a:off x="1389888" y="4544568"/>
            <a:ext cx="9601200" cy="0"/>
          </a:xfrm>
          <a:prstGeom prst="line">
            <a:avLst/>
          </a:prstGeom>
          <a:noFill/>
          <a:ln w="8890">
            <a:solidFill>
              <a:srgbClr val="DFE3E5"/>
            </a:solidFill>
            <a:prstDash val="solid"/>
          </a:ln>
        </p:spPr>
        <p:txBody>
          <a:bodyPr/>
          <a:lstStyle/>
          <a:p>
            <a:endParaRPr sz="1100"/>
          </a:p>
        </p:txBody>
      </p:sp>
      <p:sp>
        <p:nvSpPr>
          <p:cNvPr id="23" name="Shape 21"/>
          <p:cNvSpPr/>
          <p:nvPr/>
        </p:nvSpPr>
        <p:spPr>
          <a:xfrm>
            <a:off x="585216" y="4663785"/>
            <a:ext cx="475488" cy="475488"/>
          </a:xfrm>
          <a:prstGeom prst="ellipse">
            <a:avLst/>
          </a:prstGeom>
          <a:solidFill>
            <a:srgbClr val="1769E0"/>
          </a:solidFill>
          <a:ln w="12700">
            <a:solidFill>
              <a:srgbClr val="1769E0"/>
            </a:solidFill>
            <a:prstDash val="solid"/>
          </a:ln>
        </p:spPr>
        <p:txBody>
          <a:bodyPr/>
          <a:lstStyle/>
          <a:p>
            <a:endParaRPr sz="4400"/>
          </a:p>
        </p:txBody>
      </p:sp>
      <p:sp>
        <p:nvSpPr>
          <p:cNvPr id="24" name="Text 22"/>
          <p:cNvSpPr/>
          <p:nvPr/>
        </p:nvSpPr>
        <p:spPr>
          <a:xfrm>
            <a:off x="585216" y="4663785"/>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Inter" pitchFamily="34" charset="0"/>
                <a:ea typeface="Inter" pitchFamily="34" charset="-122"/>
                <a:cs typeface="Inter" pitchFamily="34" charset="-120"/>
              </a:rPr>
              <a:t>4</a:t>
            </a:r>
            <a:endParaRPr lang="en-US" sz="1400" dirty="0"/>
          </a:p>
        </p:txBody>
      </p:sp>
      <p:sp>
        <p:nvSpPr>
          <p:cNvPr id="25" name="Text 23"/>
          <p:cNvSpPr/>
          <p:nvPr/>
        </p:nvSpPr>
        <p:spPr>
          <a:xfrm>
            <a:off x="1389888" y="4800600"/>
            <a:ext cx="3840480" cy="256032"/>
          </a:xfrm>
          <a:prstGeom prst="rect">
            <a:avLst/>
          </a:prstGeom>
          <a:noFill/>
          <a:ln/>
        </p:spPr>
        <p:txBody>
          <a:bodyPr wrap="square" lIns="0" tIns="0" rIns="0" bIns="0" rtlCol="0" anchor="ctr">
            <a:normAutofit/>
          </a:bodyPr>
          <a:lstStyle/>
          <a:p>
            <a:r>
              <a:rPr lang="en-US" sz="1200" b="1" dirty="0">
                <a:solidFill>
                  <a:schemeClr val="accent2"/>
                </a:solidFill>
              </a:rPr>
              <a:t>Track recurrence and reliability performance</a:t>
            </a:r>
            <a:endParaRPr lang="en-US" sz="1200" b="1" dirty="0">
              <a:solidFill>
                <a:schemeClr val="accent2"/>
              </a:solidFill>
              <a:latin typeface="Inter" panose="020B0502030000000004" pitchFamily="34" charset="0"/>
              <a:ea typeface="Inter" panose="020B0502030000000004" pitchFamily="34" charset="0"/>
            </a:endParaRPr>
          </a:p>
        </p:txBody>
      </p:sp>
      <p:sp>
        <p:nvSpPr>
          <p:cNvPr id="26" name="Text 24"/>
          <p:cNvSpPr/>
          <p:nvPr/>
        </p:nvSpPr>
        <p:spPr>
          <a:xfrm>
            <a:off x="5440680" y="4782312"/>
            <a:ext cx="5700796" cy="475488"/>
          </a:xfrm>
          <a:prstGeom prst="rect">
            <a:avLst/>
          </a:prstGeom>
          <a:noFill/>
          <a:ln/>
        </p:spPr>
        <p:txBody>
          <a:bodyPr wrap="square" lIns="0" tIns="0" rIns="0" bIns="0" rtlCol="0" anchor="ctr">
            <a:normAutofit/>
          </a:bodyPr>
          <a:lstStyle/>
          <a:p>
            <a:r>
              <a:rPr lang="en-US" sz="1100" dirty="0"/>
              <a:t>Document scale failures, alignment issues, damage events, and repeat maintenance calls and confirm whether the new controls are reducing failures over time.</a:t>
            </a:r>
          </a:p>
        </p:txBody>
      </p:sp>
      <p:sp>
        <p:nvSpPr>
          <p:cNvPr id="27" name="Shape 25"/>
          <p:cNvSpPr/>
          <p:nvPr/>
        </p:nvSpPr>
        <p:spPr>
          <a:xfrm>
            <a:off x="694944" y="5733288"/>
            <a:ext cx="10561320" cy="603504"/>
          </a:xfrm>
          <a:prstGeom prst="roundRect">
            <a:avLst>
              <a:gd name="adj" fmla="val 12121"/>
            </a:avLst>
          </a:prstGeom>
          <a:solidFill>
            <a:srgbClr val="0E2136"/>
          </a:solidFill>
          <a:ln w="10160">
            <a:solidFill>
              <a:srgbClr val="0E2136"/>
            </a:solidFill>
            <a:prstDash val="solid"/>
          </a:ln>
        </p:spPr>
        <p:txBody>
          <a:bodyPr/>
          <a:lstStyle/>
          <a:p>
            <a:endParaRPr/>
          </a:p>
        </p:txBody>
      </p:sp>
      <p:sp>
        <p:nvSpPr>
          <p:cNvPr id="28" name="Text 26"/>
          <p:cNvSpPr/>
          <p:nvPr/>
        </p:nvSpPr>
        <p:spPr>
          <a:xfrm>
            <a:off x="987551" y="5733288"/>
            <a:ext cx="2954134" cy="329184"/>
          </a:xfrm>
          <a:prstGeom prst="rect">
            <a:avLst/>
          </a:prstGeom>
          <a:noFill/>
          <a:ln/>
        </p:spPr>
        <p:txBody>
          <a:bodyPr wrap="square" lIns="0" tIns="0" rIns="0" bIns="0" rtlCol="0" anchor="ctr"/>
          <a:lstStyle/>
          <a:p>
            <a:pPr marL="0" indent="0">
              <a:buNone/>
            </a:pPr>
            <a:r>
              <a:rPr lang="en-US" sz="1200" b="1" kern="0" spc="-80" dirty="0">
                <a:solidFill>
                  <a:srgbClr val="8CC1FF"/>
                </a:solidFill>
                <a:latin typeface="Inter" panose="020B0502030000000004" pitchFamily="34" charset="0"/>
                <a:ea typeface="Inter" panose="020B0502030000000004" pitchFamily="34" charset="0"/>
                <a:cs typeface="Inter" pitchFamily="34" charset="-120"/>
              </a:rPr>
              <a:t>CURRENT CONCLUSION</a:t>
            </a:r>
            <a:endParaRPr lang="en-US" sz="1200" spc="-80" dirty="0">
              <a:latin typeface="Inter" panose="020B0502030000000004" pitchFamily="34" charset="0"/>
              <a:ea typeface="Inter" panose="020B0502030000000004" pitchFamily="34" charset="0"/>
            </a:endParaRPr>
          </a:p>
        </p:txBody>
      </p:sp>
      <p:sp>
        <p:nvSpPr>
          <p:cNvPr id="29" name="Text 27"/>
          <p:cNvSpPr/>
          <p:nvPr/>
        </p:nvSpPr>
        <p:spPr>
          <a:xfrm>
            <a:off x="987551" y="6009117"/>
            <a:ext cx="8138160" cy="228600"/>
          </a:xfrm>
          <a:prstGeom prst="rect">
            <a:avLst/>
          </a:prstGeom>
          <a:noFill/>
          <a:ln/>
        </p:spPr>
        <p:txBody>
          <a:bodyPr wrap="square" lIns="0" tIns="0" rIns="0" bIns="0" rtlCol="0" anchor="ctr">
            <a:normAutofit/>
          </a:bodyPr>
          <a:lstStyle/>
          <a:p>
            <a:pPr marL="0" indent="0">
              <a:buNone/>
            </a:pPr>
            <a:r>
              <a:rPr lang="en-US" sz="1200" b="1" dirty="0">
                <a:solidFill>
                  <a:srgbClr val="FFFFFF"/>
                </a:solidFill>
                <a:ea typeface="Inter Display" pitchFamily="34" charset="-122"/>
                <a:cs typeface="Inter Display" pitchFamily="34" charset="-120"/>
              </a:rPr>
              <a:t>Most probable root cause: ineffective control of direct weigh-pan handling during cleaning.</a:t>
            </a:r>
            <a:endParaRPr lang="en-US" sz="1200" dirty="0"/>
          </a:p>
        </p:txBody>
      </p:sp>
      <p:sp>
        <p:nvSpPr>
          <p:cNvPr id="30" name="Text 28"/>
          <p:cNvSpPr/>
          <p:nvPr/>
        </p:nvSpPr>
        <p:spPr>
          <a:xfrm>
            <a:off x="6400800" y="6473952"/>
            <a:ext cx="4526280" cy="128016"/>
          </a:xfrm>
          <a:prstGeom prst="rect">
            <a:avLst/>
          </a:prstGeom>
          <a:noFill/>
          <a:ln/>
        </p:spPr>
        <p:txBody>
          <a:bodyPr wrap="square" lIns="0" tIns="0" rIns="0" bIns="0" rtlCol="0" anchor="ctr">
            <a:normAutofit/>
          </a:bodyPr>
          <a:lstStyle/>
          <a:p>
            <a:pPr marL="0" indent="0" algn="r">
              <a:buNone/>
            </a:pPr>
            <a:endParaRPr lang="en-US" sz="610" dirty="0"/>
          </a:p>
        </p:txBody>
      </p:sp>
      <p:sp>
        <p:nvSpPr>
          <p:cNvPr id="2" name="Slide Number Placeholder 0"/>
          <p:cNvSpPr>
            <a:spLocks noGrp="1"/>
          </p:cNvSpPr>
          <p:nvPr>
            <p:ph type="sldNum" sz="quarter" idx="4294967295"/>
          </p:nvPr>
        </p:nvSpPr>
        <p:spPr>
          <a:xfrm>
            <a:off x="11247120" y="6419088"/>
            <a:ext cx="457200" cy="201168"/>
          </a:xfrm>
          <a:prstGeom prst="rect">
            <a:avLst/>
          </a:prstGeom>
          <a:extLst>
            <a:ext uri="{C572A759-6A51-4108-AA02-DFA0A04FC94B}">
              <ma14:wrappingTextBoxFlag xmlns="" xmlns:ma14="http://schemas.microsoft.com/office/mac/drawingml/2011/main" val="0"/>
            </a:ext>
          </a:extLst>
        </p:spPr>
        <p:txBody>
          <a:bodyPr lIns="0" tIns="0" rIns="0" bIns="0"/>
          <a:lstStyle>
            <a:lvl1pPr>
              <a:defRPr sz="700">
                <a:solidFill>
                  <a:srgbClr val="89929D"/>
                </a:solidFill>
                <a:latin typeface="Inter"/>
                <a:ea typeface="Inter"/>
                <a:cs typeface="Inter"/>
              </a:defRPr>
            </a:lvl1pPr>
          </a:lstStyle>
          <a:p>
            <a:pPr algn="r"/>
            <a:fld id="{F7021451-1387-4CA6-816F-3879F97B5CBC}" type="slidenum">
              <a:rPr lang="en-US" b="0"/>
              <a:t>17</a:t>
            </a:fld>
            <a:endParaRPr lang="en-US"/>
          </a:p>
        </p:txBody>
      </p:sp>
      <p:pic>
        <p:nvPicPr>
          <p:cNvPr id="4" name="Picture 3" descr="end_sweep.gif">
            <a:extLst>
              <a:ext uri="{FF2B5EF4-FFF2-40B4-BE49-F238E27FC236}">
                <a16:creationId xmlns:a16="http://schemas.microsoft.com/office/drawing/2014/main" id="{3E24DE94-9669-B40F-098E-79FB7097AC69}"/>
              </a:ext>
            </a:extLst>
          </p:cNvPr>
          <p:cNvPicPr>
            <a:picLocks noChangeAspect="1"/>
          </p:cNvPicPr>
          <p:nvPr/>
        </p:nvPicPr>
        <p:blipFill>
          <a:blip r:embed="rId3"/>
          <a:stretch>
            <a:fillRect/>
          </a:stretch>
        </p:blipFill>
        <p:spPr>
          <a:xfrm>
            <a:off x="7263051" y="964692"/>
            <a:ext cx="1234440" cy="329184"/>
          </a:xfrm>
          <a:prstGeom prst="rect">
            <a:avLst/>
          </a:prstGeom>
        </p:spPr>
      </p:pic>
    </p:spTree>
  </p:cSld>
  <p:clrMapOvr>
    <a:masterClrMapping/>
  </p:clrMapOvr>
</p:sld>
</file>

<file path=ppt/theme/theme1.xml><?xml version="1.0" encoding="utf-8"?>
<a:theme xmlns:a="http://schemas.openxmlformats.org/drawingml/2006/main" name="Office 2013 - 2022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5784</TotalTime>
  <Words>1954</Words>
  <Application>Microsoft Office PowerPoint</Application>
  <PresentationFormat>Widescreen</PresentationFormat>
  <Paragraphs>333</Paragraphs>
  <Slides>17</Slides>
  <Notes>16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72</vt:lpstr>
      <vt:lpstr>Aptos</vt:lpstr>
      <vt:lpstr>Aptos Display</vt:lpstr>
      <vt:lpstr>Arial</vt:lpstr>
      <vt:lpstr>Calibri</vt:lpstr>
      <vt:lpstr>Calibri Light</vt:lpstr>
      <vt:lpstr>Inter</vt:lpstr>
      <vt:lpstr>Inter Display</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Lonza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Xcelodose Microbalance Failure Investigation</dc:title>
  <dc:subject>Xcelodose investigation deck</dc:subject>
  <dc:creator>Gustavorodriguezpc</dc:creator>
  <dc:description/>
  <cp:lastModifiedBy>Gustavorodriguezpc</cp:lastModifiedBy>
  <cp:revision>6</cp:revision>
  <dcterms:created xsi:type="dcterms:W3CDTF">2026-09-11T15:29:14Z</dcterms:created>
  <dcterms:modified xsi:type="dcterms:W3CDTF">2026-09-18T15:51:44Z</dcterms:modified>
</cp:coreProperties>
</file>